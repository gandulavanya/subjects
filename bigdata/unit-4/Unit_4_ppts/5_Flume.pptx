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9" r:id="rId1"/>
  </p:sldMasterIdLst>
  <p:sldIdLst>
    <p:sldId id="273" r:id="rId2"/>
    <p:sldId id="265" r:id="rId3"/>
    <p:sldId id="272" r:id="rId4"/>
    <p:sldId id="267" r:id="rId5"/>
    <p:sldId id="257" r:id="rId6"/>
    <p:sldId id="258" r:id="rId7"/>
    <p:sldId id="259" r:id="rId8"/>
    <p:sldId id="260" r:id="rId9"/>
    <p:sldId id="261" r:id="rId10"/>
    <p:sldId id="262" r:id="rId11"/>
    <p:sldId id="264" r:id="rId12"/>
    <p:sldId id="269" r:id="rId13"/>
    <p:sldId id="263"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8" d="100"/>
          <a:sy n="68" d="100"/>
        </p:scale>
        <p:origin x="-174"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6EC3A6EF-2B3E-4DA0-8312-4E97789D0157}"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C3A6EF-2B3E-4DA0-8312-4E97789D0157}"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69600" y="6356351"/>
            <a:ext cx="812800" cy="365125"/>
          </a:xfrm>
        </p:spPr>
        <p:txBody>
          <a:bodyPr/>
          <a:lstStyle/>
          <a:p>
            <a:fld id="{6EC3A6EF-2B3E-4DA0-8312-4E97789D0157}" type="slidenum">
              <a:rPr lang="en-IN" smtClean="0"/>
              <a:pPr/>
              <a:t>‹#›</a:t>
            </a:fld>
            <a:endParaRPr lang="en-IN"/>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ECC8CEC-A9FF-4C01-9FDD-4DA002384349}" type="datetimeFigureOut">
              <a:rPr lang="en-IN" smtClean="0"/>
              <a:pPr/>
              <a:t>08-11-2023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EC3A6EF-2B3E-4DA0-8312-4E97789D0157}"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ECC8CEC-A9FF-4C01-9FDD-4DA002384349}" type="datetimeFigureOut">
              <a:rPr lang="en-IN" smtClean="0"/>
              <a:pPr/>
              <a:t>08-11-2023</a:t>
            </a:fld>
            <a:endParaRPr lang="en-IN"/>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6EC3A6EF-2B3E-4DA0-8312-4E97789D0157}" type="slidenum">
              <a:rPr lang="en-IN" smtClean="0"/>
              <a:pPr/>
              <a:t>‹#›</a:t>
            </a:fld>
            <a:endParaRPr lang="en-IN"/>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932" y="486742"/>
            <a:ext cx="10406341" cy="793418"/>
          </a:xfrm>
        </p:spPr>
        <p:txBody>
          <a:bodyPr/>
          <a:lstStyle/>
          <a:p>
            <a:pPr algn="ctr"/>
            <a:r>
              <a:rPr smtClean="0">
                <a:latin typeface="Times New Roman" pitchFamily="18" charset="0"/>
                <a:cs typeface="Times New Roman" pitchFamily="18" charset="0"/>
              </a:rPr>
              <a:t>Unit - V</a:t>
            </a:r>
            <a:endParaRPr lang="en-US" dirty="0">
              <a:latin typeface="Times New Roman" pitchFamily="18" charset="0"/>
              <a:cs typeface="Times New Roman" pitchFamily="18" charset="0"/>
            </a:endParaRPr>
          </a:p>
        </p:txBody>
      </p:sp>
      <p:sp>
        <p:nvSpPr>
          <p:cNvPr id="3" name="Text Placeholder 2"/>
          <p:cNvSpPr>
            <a:spLocks noGrp="1"/>
          </p:cNvSpPr>
          <p:nvPr>
            <p:ph type="body" idx="1"/>
          </p:nvPr>
        </p:nvSpPr>
        <p:spPr>
          <a:xfrm>
            <a:off x="707136" y="1354166"/>
            <a:ext cx="10363200" cy="1509712"/>
          </a:xfrm>
        </p:spPr>
        <p:txBody>
          <a:bodyPr>
            <a:normAutofit/>
          </a:bodyPr>
          <a:lstStyle/>
          <a:p>
            <a:pPr algn="ctr"/>
            <a:r>
              <a:rPr lang="en-US" sz="3600" b="1" dirty="0" smtClean="0">
                <a:latin typeface="Times New Roman" pitchFamily="18" charset="0"/>
                <a:cs typeface="Times New Roman" pitchFamily="18" charset="0"/>
              </a:rPr>
              <a:t>Flume</a:t>
            </a:r>
          </a:p>
          <a:p>
            <a:pPr algn="ctr"/>
            <a:r>
              <a:rPr lang="en-US" sz="3600" b="1" dirty="0" smtClean="0">
                <a:solidFill>
                  <a:srgbClr val="C00000"/>
                </a:solidFill>
                <a:latin typeface="Times New Roman" pitchFamily="18" charset="0"/>
                <a:cs typeface="Times New Roman" pitchFamily="18" charset="0"/>
              </a:rPr>
              <a:t>Data Ingestion Tool </a:t>
            </a:r>
          </a:p>
          <a:p>
            <a:pPr algn="ctr"/>
            <a:endParaRPr lang="en-US" sz="3600" b="1" dirty="0">
              <a:solidFill>
                <a:srgbClr val="FF0000"/>
              </a:solidFill>
              <a:latin typeface="Times New Roman" pitchFamily="18" charset="0"/>
              <a:cs typeface="Times New Roman" pitchFamily="18" charset="0"/>
            </a:endParaRPr>
          </a:p>
        </p:txBody>
      </p:sp>
      <p:pic>
        <p:nvPicPr>
          <p:cNvPr id="4" name="Picture 3" descr="flume_logo.PNG"/>
          <p:cNvPicPr>
            <a:picLocks noChangeAspect="1"/>
          </p:cNvPicPr>
          <p:nvPr/>
        </p:nvPicPr>
        <p:blipFill>
          <a:blip r:embed="rId2"/>
          <a:stretch>
            <a:fillRect/>
          </a:stretch>
        </p:blipFill>
        <p:spPr>
          <a:xfrm>
            <a:off x="3623041" y="2933058"/>
            <a:ext cx="4845710" cy="36222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0531"/>
            <a:ext cx="10972800" cy="1143000"/>
          </a:xfrm>
        </p:spPr>
        <p:txBody>
          <a:bodyPr>
            <a:normAutofit/>
          </a:bodyPr>
          <a:lstStyle/>
          <a:p>
            <a:pPr algn="ctr"/>
            <a:r>
              <a:rPr lang="en-US" sz="3600" b="1" dirty="0" smtClean="0">
                <a:solidFill>
                  <a:srgbClr val="FF0000"/>
                </a:solidFill>
                <a:latin typeface="Times New Roman" pitchFamily="18" charset="0"/>
                <a:cs typeface="Times New Roman" pitchFamily="18" charset="0"/>
              </a:rPr>
              <a:t>Flume – Data Ingestion Tool - HDFS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Flume is a popular data ingestion tool for Hadoop. </a:t>
            </a:r>
          </a:p>
          <a:p>
            <a:pPr>
              <a:buNone/>
            </a:pPr>
            <a:r>
              <a:rPr lang="en-US" sz="2000" dirty="0" smtClean="0">
                <a:latin typeface="Times New Roman" pitchFamily="18" charset="0"/>
                <a:cs typeface="Times New Roman" pitchFamily="18" charset="0"/>
              </a:rPr>
              <a:t>It is used to </a:t>
            </a:r>
          </a:p>
          <a:p>
            <a:pPr>
              <a:buFont typeface="Wingdings" pitchFamily="2" charset="2"/>
              <a:buChar char="ü"/>
            </a:pPr>
            <a:r>
              <a:rPr lang="en-US" sz="2000" dirty="0" smtClean="0">
                <a:latin typeface="Times New Roman" pitchFamily="18" charset="0"/>
                <a:cs typeface="Times New Roman" pitchFamily="18" charset="0"/>
              </a:rPr>
              <a:t>Collect, </a:t>
            </a:r>
          </a:p>
          <a:p>
            <a:pPr>
              <a:buFont typeface="Wingdings" pitchFamily="2" charset="2"/>
              <a:buChar char="ü"/>
            </a:pPr>
            <a:r>
              <a:rPr lang="en-US" sz="2000" dirty="0" smtClean="0">
                <a:latin typeface="Times New Roman" pitchFamily="18" charset="0"/>
                <a:cs typeface="Times New Roman" pitchFamily="18" charset="0"/>
              </a:rPr>
              <a:t>Aggregate</a:t>
            </a:r>
          </a:p>
          <a:p>
            <a:pPr>
              <a:buFont typeface="Wingdings" pitchFamily="2" charset="2"/>
              <a:buChar char="ü"/>
            </a:pPr>
            <a:r>
              <a:rPr lang="en-US" sz="2000" dirty="0" smtClean="0">
                <a:latin typeface="Times New Roman" pitchFamily="18" charset="0"/>
                <a:cs typeface="Times New Roman" pitchFamily="18" charset="0"/>
              </a:rPr>
              <a:t>Move Large Amounts Of Streaming Data From A Variety Of Sources To Hadoop Distributed File System (HDFS). </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Flume is highly scalable and reliable, making it ideal for handling high-volume data streams.</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Flume is used by a wide range of companies, including </a:t>
            </a:r>
          </a:p>
          <a:p>
            <a:pPr>
              <a:buFont typeface="Wingdings" pitchFamily="2" charset="2"/>
              <a:buChar char="ü"/>
            </a:pPr>
            <a:r>
              <a:rPr lang="en-US" sz="2000" dirty="0" smtClean="0">
                <a:latin typeface="Times New Roman" pitchFamily="18" charset="0"/>
                <a:cs typeface="Times New Roman" pitchFamily="18" charset="0"/>
              </a:rPr>
              <a:t>Twitter</a:t>
            </a:r>
          </a:p>
          <a:p>
            <a:pPr>
              <a:buFont typeface="Wingdings" pitchFamily="2" charset="2"/>
              <a:buChar char="ü"/>
            </a:pPr>
            <a:r>
              <a:rPr lang="en-US" sz="2000" dirty="0" smtClean="0">
                <a:latin typeface="Times New Roman" pitchFamily="18" charset="0"/>
                <a:cs typeface="Times New Roman" pitchFamily="18" charset="0"/>
              </a:rPr>
              <a:t>LinkedIn</a:t>
            </a:r>
          </a:p>
          <a:p>
            <a:pPr>
              <a:buFont typeface="Wingdings" pitchFamily="2" charset="2"/>
              <a:buChar char="ü"/>
            </a:pPr>
            <a:r>
              <a:rPr lang="en-US" sz="2000" dirty="0" smtClean="0">
                <a:latin typeface="Times New Roman" pitchFamily="18" charset="0"/>
                <a:cs typeface="Times New Roman" pitchFamily="18" charset="0"/>
              </a:rPr>
              <a:t>Sales force -  to collect and process data from a variety of sources.</a:t>
            </a: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002060"/>
                </a:solidFill>
                <a:latin typeface="Times New Roman" pitchFamily="18" charset="0"/>
                <a:cs typeface="Times New Roman" pitchFamily="18" charset="0"/>
              </a:rPr>
              <a:t>Flume Data Flow</a:t>
            </a:r>
            <a:endParaRPr lang="en-US" sz="3600" b="1" dirty="0">
              <a:solidFill>
                <a:srgbClr val="002060"/>
              </a:solidFill>
              <a:latin typeface="Times New Roman" pitchFamily="18" charset="0"/>
              <a:cs typeface="Times New Roman" pitchFamily="18" charset="0"/>
            </a:endParaRPr>
          </a:p>
        </p:txBody>
      </p:sp>
      <p:pic>
        <p:nvPicPr>
          <p:cNvPr id="4" name="Content Placeholder 3" descr="Flume Data Flow.png"/>
          <p:cNvPicPr>
            <a:picLocks noGrp="1" noChangeAspect="1"/>
          </p:cNvPicPr>
          <p:nvPr>
            <p:ph idx="1"/>
          </p:nvPr>
        </p:nvPicPr>
        <p:blipFill>
          <a:blip r:embed="rId2"/>
          <a:stretch>
            <a:fillRect/>
          </a:stretch>
        </p:blipFill>
        <p:spPr>
          <a:xfrm>
            <a:off x="1675848" y="1935163"/>
            <a:ext cx="8840304" cy="4389437"/>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1125" y="1007012"/>
            <a:ext cx="11418277" cy="5590735"/>
          </a:xfrm>
        </p:spPr>
        <p:txBody>
          <a:bodyPr>
            <a:noAutofit/>
          </a:bodyPr>
          <a:lstStyle/>
          <a:p>
            <a:endParaRPr lang="en-US" sz="2000" dirty="0" smtClean="0">
              <a:latin typeface="Times New Roman" pitchFamily="18" charset="0"/>
              <a:cs typeface="Times New Roman" pitchFamily="18" charset="0"/>
            </a:endParaRP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Flume supports a variety of aggregation mechanisms, such as </a:t>
            </a:r>
          </a:p>
          <a:p>
            <a:pPr>
              <a:buFont typeface="Wingdings" pitchFamily="2" charset="2"/>
              <a:buChar char="ü"/>
            </a:pPr>
            <a:r>
              <a:rPr lang="en-US" sz="2000" dirty="0" smtClean="0">
                <a:latin typeface="Times New Roman" pitchFamily="18" charset="0"/>
                <a:cs typeface="Times New Roman" pitchFamily="18" charset="0"/>
              </a:rPr>
              <a:t>batching</a:t>
            </a:r>
          </a:p>
          <a:p>
            <a:pPr>
              <a:buFont typeface="Wingdings" pitchFamily="2" charset="2"/>
              <a:buChar char="ü"/>
            </a:pPr>
            <a:r>
              <a:rPr lang="en-US" sz="2000" dirty="0" smtClean="0">
                <a:latin typeface="Times New Roman" pitchFamily="18" charset="0"/>
                <a:cs typeface="Times New Roman" pitchFamily="18" charset="0"/>
              </a:rPr>
              <a:t>buffering</a:t>
            </a:r>
          </a:p>
          <a:p>
            <a:pPr>
              <a:buFont typeface="Wingdings" pitchFamily="2" charset="2"/>
              <a:buChar char="ü"/>
            </a:pPr>
            <a:r>
              <a:rPr lang="en-US" sz="2000" dirty="0" smtClean="0">
                <a:latin typeface="Times New Roman" pitchFamily="18" charset="0"/>
                <a:cs typeface="Times New Roman" pitchFamily="18" charset="0"/>
              </a:rPr>
              <a:t>Filtering</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 are some examples of how Flume can be used in Hadoop:-</a:t>
            </a:r>
          </a:p>
          <a:p>
            <a:pPr>
              <a:buFont typeface="Wingdings" pitchFamily="2" charset="2"/>
              <a:buChar char="ü"/>
            </a:pPr>
            <a:r>
              <a:rPr lang="en-US" sz="2000" dirty="0" smtClean="0">
                <a:latin typeface="Times New Roman" pitchFamily="18" charset="0"/>
                <a:cs typeface="Times New Roman" pitchFamily="18" charset="0"/>
              </a:rPr>
              <a:t>To collect and store </a:t>
            </a:r>
            <a:r>
              <a:rPr lang="en-US" sz="2000" b="1" dirty="0" smtClean="0">
                <a:solidFill>
                  <a:srgbClr val="002060"/>
                </a:solidFill>
                <a:latin typeface="Times New Roman" pitchFamily="18" charset="0"/>
                <a:cs typeface="Times New Roman" pitchFamily="18" charset="0"/>
              </a:rPr>
              <a:t>Web Server Logs</a:t>
            </a:r>
            <a:r>
              <a:rPr lang="en-US" sz="2000" dirty="0" smtClean="0">
                <a:latin typeface="Times New Roman" pitchFamily="18" charset="0"/>
                <a:cs typeface="Times New Roman" pitchFamily="18" charset="0"/>
              </a:rPr>
              <a:t> in HDFS for analysis.</a:t>
            </a:r>
          </a:p>
          <a:p>
            <a:pPr>
              <a:buFont typeface="Wingdings" pitchFamily="2" charset="2"/>
              <a:buChar char="ü"/>
            </a:pPr>
            <a:r>
              <a:rPr lang="en-US" sz="2000" dirty="0" smtClean="0">
                <a:latin typeface="Times New Roman" pitchFamily="18" charset="0"/>
                <a:cs typeface="Times New Roman" pitchFamily="18" charset="0"/>
              </a:rPr>
              <a:t>To collect and store </a:t>
            </a:r>
            <a:r>
              <a:rPr lang="en-US" sz="2000" b="1" dirty="0" smtClean="0">
                <a:solidFill>
                  <a:srgbClr val="002060"/>
                </a:solidFill>
                <a:latin typeface="Times New Roman" pitchFamily="18" charset="0"/>
                <a:cs typeface="Times New Roman" pitchFamily="18" charset="0"/>
              </a:rPr>
              <a:t>Social Media Data</a:t>
            </a:r>
            <a:r>
              <a:rPr lang="en-US" sz="2000" dirty="0" smtClean="0">
                <a:latin typeface="Times New Roman" pitchFamily="18" charset="0"/>
                <a:cs typeface="Times New Roman" pitchFamily="18" charset="0"/>
              </a:rPr>
              <a:t> in HDFS for analysis.</a:t>
            </a:r>
          </a:p>
          <a:p>
            <a:pPr>
              <a:buFont typeface="Wingdings" pitchFamily="2" charset="2"/>
              <a:buChar char="ü"/>
            </a:pPr>
            <a:r>
              <a:rPr lang="en-US" sz="2000" dirty="0" smtClean="0">
                <a:latin typeface="Times New Roman" pitchFamily="18" charset="0"/>
                <a:cs typeface="Times New Roman" pitchFamily="18" charset="0"/>
              </a:rPr>
              <a:t>To collect and store </a:t>
            </a:r>
            <a:r>
              <a:rPr lang="en-US" sz="2000" b="1" dirty="0" smtClean="0">
                <a:solidFill>
                  <a:srgbClr val="002060"/>
                </a:solidFill>
                <a:latin typeface="Times New Roman" pitchFamily="18" charset="0"/>
                <a:cs typeface="Times New Roman" pitchFamily="18" charset="0"/>
              </a:rPr>
              <a:t>IOT Data</a:t>
            </a:r>
            <a:r>
              <a:rPr lang="en-US" sz="2000" dirty="0" smtClean="0">
                <a:latin typeface="Times New Roman" pitchFamily="18" charset="0"/>
                <a:cs typeface="Times New Roman" pitchFamily="18" charset="0"/>
              </a:rPr>
              <a:t> in HDFS for analysis.</a:t>
            </a:r>
          </a:p>
          <a:p>
            <a:pPr>
              <a:buFont typeface="Wingdings" pitchFamily="2" charset="2"/>
              <a:buChar char="ü"/>
            </a:pPr>
            <a:r>
              <a:rPr lang="en-US" sz="2000" dirty="0" smtClean="0">
                <a:latin typeface="Times New Roman" pitchFamily="18" charset="0"/>
                <a:cs typeface="Times New Roman" pitchFamily="18" charset="0"/>
              </a:rPr>
              <a:t>To </a:t>
            </a:r>
            <a:r>
              <a:rPr lang="en-US" sz="2000" b="1" dirty="0" smtClean="0">
                <a:solidFill>
                  <a:srgbClr val="002060"/>
                </a:solidFill>
                <a:latin typeface="Times New Roman" pitchFamily="18" charset="0"/>
                <a:cs typeface="Times New Roman" pitchFamily="18" charset="0"/>
              </a:rPr>
              <a:t>Build A Real-time Data Pipeline</a:t>
            </a:r>
            <a:r>
              <a:rPr lang="en-US" sz="2000" dirty="0" smtClean="0">
                <a:latin typeface="Times New Roman" pitchFamily="18" charset="0"/>
                <a:cs typeface="Times New Roman" pitchFamily="18" charset="0"/>
              </a:rPr>
              <a:t> that ingests data from a variety of sources and stores it in HDFS for processing and analysis.</a:t>
            </a: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002060"/>
                </a:solidFill>
                <a:latin typeface="Times New Roman" pitchFamily="18" charset="0"/>
                <a:cs typeface="Times New Roman" pitchFamily="18" charset="0"/>
              </a:rPr>
              <a:t>Key Features Of Apache Flume:-</a:t>
            </a:r>
            <a:endParaRPr lang="en-IN" sz="3600" b="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609600" y="1935479"/>
            <a:ext cx="11362006" cy="4704471"/>
          </a:xfrm>
        </p:spPr>
        <p:txBody>
          <a:bodyPr>
            <a:normAutofit/>
          </a:bodyPr>
          <a:lstStyle/>
          <a:p>
            <a:pPr marL="0" indent="0">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Distributed</a:t>
            </a:r>
            <a:r>
              <a:rPr lang="en-US" sz="2000" dirty="0">
                <a:latin typeface="Times New Roman" pitchFamily="18" charset="0"/>
                <a:cs typeface="Times New Roman" pitchFamily="18" charset="0"/>
              </a:rPr>
              <a:t>: Flume is designed to be distributed, meaning that it can be deployed across multiple servers to handle large amounts of data</a:t>
            </a:r>
            <a:r>
              <a:rPr lang="en-US" sz="2000" dirty="0" smtClean="0">
                <a:latin typeface="Times New Roman" pitchFamily="18" charset="0"/>
                <a:cs typeface="Times New Roman" pitchFamily="18" charset="0"/>
              </a:rPr>
              <a:t>.</a:t>
            </a:r>
          </a:p>
          <a:p>
            <a:pPr>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Reliable</a:t>
            </a:r>
            <a:r>
              <a:rPr lang="en-US" sz="2000" dirty="0">
                <a:latin typeface="Times New Roman" pitchFamily="18" charset="0"/>
                <a:cs typeface="Times New Roman" pitchFamily="18" charset="0"/>
              </a:rPr>
              <a:t>: Flume is designed to be highly reliable, with features such as fault tolerance and data replay</a:t>
            </a:r>
            <a:r>
              <a:rPr lang="en-US" sz="2000" dirty="0" smtClean="0">
                <a:latin typeface="Times New Roman" pitchFamily="18" charset="0"/>
                <a:cs typeface="Times New Roman" pitchFamily="18" charset="0"/>
              </a:rPr>
              <a:t>.</a:t>
            </a:r>
          </a:p>
          <a:p>
            <a:pPr>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Scalable</a:t>
            </a:r>
            <a:r>
              <a:rPr lang="en-US" sz="2000" dirty="0">
                <a:latin typeface="Times New Roman" pitchFamily="18" charset="0"/>
                <a:cs typeface="Times New Roman" pitchFamily="18" charset="0"/>
              </a:rPr>
              <a:t>: Flume is designed to be scalable, meaning that it can handle large amounts of data and can be scaled up or down to meet the needs of your application</a:t>
            </a:r>
            <a:r>
              <a:rPr lang="en-US" sz="2000" dirty="0" smtClean="0">
                <a:latin typeface="Times New Roman" pitchFamily="18" charset="0"/>
                <a:cs typeface="Times New Roman" pitchFamily="18" charset="0"/>
              </a:rPr>
              <a:t>.</a:t>
            </a:r>
          </a:p>
          <a:p>
            <a:pPr>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Flexible</a:t>
            </a:r>
            <a:r>
              <a:rPr lang="en-US" sz="2000" dirty="0">
                <a:latin typeface="Times New Roman" pitchFamily="18" charset="0"/>
                <a:cs typeface="Times New Roman" pitchFamily="18" charset="0"/>
              </a:rPr>
              <a:t>: Flume is designed to be flexible, with a wide range of supported sources and destinations</a:t>
            </a:r>
            <a:r>
              <a:rPr lang="en-US" sz="2000" dirty="0" smtClean="0">
                <a:latin typeface="Times New Roman" pitchFamily="18" charset="0"/>
                <a:cs typeface="Times New Roman" pitchFamily="18" charset="0"/>
              </a:rPr>
              <a:t>.</a:t>
            </a:r>
          </a:p>
          <a:p>
            <a:pPr>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Extensible</a:t>
            </a:r>
            <a:r>
              <a:rPr lang="en-US" sz="2000" dirty="0">
                <a:latin typeface="Times New Roman" pitchFamily="18" charset="0"/>
                <a:cs typeface="Times New Roman" pitchFamily="18" charset="0"/>
              </a:rPr>
              <a:t>: Flume is designed to be extensible, with the ability to add custom sources, destinations, and channel processors.</a:t>
            </a:r>
          </a:p>
          <a:p>
            <a:pPr>
              <a:buFont typeface="Wingdings" pitchFamily="2" charset="2"/>
              <a:buChar char="ü"/>
            </a:pPr>
            <a:endParaRPr lang="en-IN"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3434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532" y="366463"/>
            <a:ext cx="10972800" cy="1143000"/>
          </a:xfrm>
        </p:spPr>
        <p:txBody>
          <a:bodyPr>
            <a:normAutofit/>
          </a:bodyPr>
          <a:lstStyle/>
          <a:p>
            <a:r>
              <a:rPr lang="en-US" sz="3600" b="1" dirty="0" smtClean="0">
                <a:solidFill>
                  <a:srgbClr val="002060"/>
                </a:solidFill>
                <a:latin typeface="Times New Roman" pitchFamily="18" charset="0"/>
                <a:cs typeface="Times New Roman" pitchFamily="18" charset="0"/>
              </a:rPr>
              <a:t>Use Cases For Apache Flume:-</a:t>
            </a:r>
            <a:endParaRPr lang="en-IN" sz="3600" b="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539262" y="1541583"/>
            <a:ext cx="11376074" cy="4690403"/>
          </a:xfrm>
        </p:spPr>
        <p:txBody>
          <a:bodyPr>
            <a:normAutofit lnSpcReduction="10000"/>
          </a:bodyPr>
          <a:lstStyle/>
          <a:p>
            <a:pPr marL="0" indent="0">
              <a:buFont typeface="Wingdings" pitchFamily="2" charset="2"/>
              <a:buChar char="ü"/>
            </a:pPr>
            <a:endParaRPr lang="en-US" sz="2000" dirty="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Log Aggregation</a:t>
            </a: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 Flume can be used to collect and aggregate log data from various sources, such as web servers, application servers, and database servers. This data can then be analyzed for insights into system performance and security</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Social Media Data Collection</a:t>
            </a: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 Flume can be used to collect data from social media platforms, such as Twitter and Facebook. This data can then be analyzed for insights into customer sentiment, trends, and marketing campaigns</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Real-Time Analytics</a:t>
            </a: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 Flume can be used to collect and process data in real time, enabling real-time analytics. This can be used for a variety of purposes, such as fraud detection, anomaly detection, and personalized recommendations</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If you are looking for a reliable and scalable solution for streaming data collection and aggregation, Apache Flume is a good option to consider.</a:t>
            </a:r>
          </a:p>
          <a:p>
            <a:pPr>
              <a:buFont typeface="Wingdings" pitchFamily="2" charset="2"/>
              <a:buChar char="ü"/>
            </a:pPr>
            <a:endParaRPr lang="en-IN"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1621199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latin typeface="Times New Roman" pitchFamily="18" charset="0"/>
                <a:cs typeface="Times New Roman" pitchFamily="18" charset="0"/>
              </a:rPr>
              <a:t>Data Sources</a:t>
            </a:r>
            <a:endParaRPr lang="en-IN"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sz="2400" b="1" dirty="0" smtClean="0">
                <a:latin typeface="Times New Roman" pitchFamily="18" charset="0"/>
                <a:cs typeface="Times New Roman" pitchFamily="18" charset="0"/>
              </a:rPr>
              <a:t>Apache Flume Supports A Wide Range Of Data Sources:-</a:t>
            </a:r>
          </a:p>
          <a:p>
            <a:pPr marL="0" indent="0">
              <a:buNone/>
            </a:pPr>
            <a:endParaRPr lang="en-US" sz="2000" dirty="0">
              <a:latin typeface="Times New Roman" pitchFamily="18" charset="0"/>
              <a:cs typeface="Times New Roman" pitchFamily="18" charset="0"/>
            </a:endParaRPr>
          </a:p>
          <a:p>
            <a:r>
              <a:rPr lang="en-US" sz="2000" b="1" dirty="0">
                <a:solidFill>
                  <a:srgbClr val="002060"/>
                </a:solidFill>
                <a:latin typeface="Times New Roman" pitchFamily="18" charset="0"/>
                <a:cs typeface="Times New Roman" pitchFamily="18" charset="0"/>
              </a:rPr>
              <a:t>Log files</a:t>
            </a:r>
            <a:r>
              <a:rPr lang="en-US" sz="2000" dirty="0">
                <a:latin typeface="Times New Roman" pitchFamily="18" charset="0"/>
                <a:cs typeface="Times New Roman" pitchFamily="18" charset="0"/>
              </a:rPr>
              <a:t>: Flume can collect log files from various sources, such as web servers, application servers, and database servers.</a:t>
            </a:r>
          </a:p>
          <a:p>
            <a:r>
              <a:rPr lang="en-US" sz="2000" b="1" dirty="0" smtClean="0">
                <a:solidFill>
                  <a:srgbClr val="002060"/>
                </a:solidFill>
                <a:latin typeface="Times New Roman" pitchFamily="18" charset="0"/>
                <a:cs typeface="Times New Roman" pitchFamily="18" charset="0"/>
              </a:rPr>
              <a:t>Network Streams:</a:t>
            </a:r>
            <a:r>
              <a:rPr lang="en-US" sz="2000" dirty="0">
                <a:latin typeface="Times New Roman" pitchFamily="18" charset="0"/>
                <a:cs typeface="Times New Roman" pitchFamily="18" charset="0"/>
              </a:rPr>
              <a:t> Flume can collect data from network streams, such as TCP sockets and UDP sockets.</a:t>
            </a:r>
          </a:p>
          <a:p>
            <a:r>
              <a:rPr lang="en-US" sz="2000" b="1" dirty="0" smtClean="0">
                <a:solidFill>
                  <a:srgbClr val="002060"/>
                </a:solidFill>
                <a:latin typeface="Times New Roman" pitchFamily="18" charset="0"/>
                <a:cs typeface="Times New Roman" pitchFamily="18" charset="0"/>
              </a:rPr>
              <a:t>Messaging Systems</a:t>
            </a: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 Flume can collect data from messaging systems, such as Kafka, RabbitMQ, and ActiveMQ.</a:t>
            </a:r>
          </a:p>
          <a:p>
            <a:r>
              <a:rPr lang="en-US" sz="2000" b="1" dirty="0">
                <a:solidFill>
                  <a:srgbClr val="002060"/>
                </a:solidFill>
                <a:latin typeface="Times New Roman" pitchFamily="18" charset="0"/>
                <a:cs typeface="Times New Roman" pitchFamily="18" charset="0"/>
              </a:rPr>
              <a:t>Databases</a:t>
            </a:r>
            <a:r>
              <a:rPr lang="en-US" sz="2000" dirty="0">
                <a:latin typeface="Times New Roman" pitchFamily="18" charset="0"/>
                <a:cs typeface="Times New Roman" pitchFamily="18" charset="0"/>
              </a:rPr>
              <a:t>: Flume can collect data from databases, such as MySQL, </a:t>
            </a:r>
            <a:r>
              <a:rPr lang="en-US" sz="2000" dirty="0" smtClean="0">
                <a:latin typeface="Times New Roman" pitchFamily="18" charset="0"/>
                <a:cs typeface="Times New Roman" pitchFamily="18" charset="0"/>
              </a:rPr>
              <a:t>Postgre SQL</a:t>
            </a:r>
            <a:r>
              <a:rPr lang="en-US" sz="2000" dirty="0">
                <a:latin typeface="Times New Roman" pitchFamily="18" charset="0"/>
                <a:cs typeface="Times New Roman" pitchFamily="18" charset="0"/>
              </a:rPr>
              <a:t>, and Oracle.</a:t>
            </a:r>
          </a:p>
          <a:p>
            <a:r>
              <a:rPr lang="en-US" sz="2000" b="1" dirty="0" smtClean="0">
                <a:solidFill>
                  <a:srgbClr val="002060"/>
                </a:solidFill>
                <a:latin typeface="Times New Roman" pitchFamily="18" charset="0"/>
                <a:cs typeface="Times New Roman" pitchFamily="18" charset="0"/>
              </a:rPr>
              <a:t>Cloud Storage</a:t>
            </a:r>
            <a:r>
              <a:rPr lang="en-US" sz="2000" dirty="0" smtClean="0">
                <a:latin typeface="Times New Roman" pitchFamily="18" charset="0"/>
                <a:cs typeface="Times New Roman" pitchFamily="18" charset="0"/>
              </a:rPr>
              <a:t>:</a:t>
            </a:r>
            <a:r>
              <a:rPr lang="en-US" sz="2000" dirty="0">
                <a:latin typeface="Times New Roman" pitchFamily="18" charset="0"/>
                <a:cs typeface="Times New Roman" pitchFamily="18" charset="0"/>
              </a:rPr>
              <a:t> Flume can collect data from cloud storage, such as Amazon S3, Google Cloud Storage, and Microsoft Azure Blob Storage</a:t>
            </a:r>
            <a:r>
              <a:rPr lang="en-US" sz="2000" dirty="0" smtClean="0">
                <a:latin typeface="Times New Roman" pitchFamily="18" charset="0"/>
                <a:cs typeface="Times New Roman" pitchFamily="18" charset="0"/>
              </a:rPr>
              <a:t>.</a:t>
            </a:r>
          </a:p>
          <a:p>
            <a:r>
              <a:rPr lang="en-US" sz="2000" b="1" dirty="0" smtClean="0">
                <a:solidFill>
                  <a:srgbClr val="002060"/>
                </a:solidFill>
                <a:latin typeface="Times New Roman" pitchFamily="18" charset="0"/>
                <a:cs typeface="Times New Roman" pitchFamily="18" charset="0"/>
              </a:rPr>
              <a:t>Other Sources</a:t>
            </a:r>
            <a:r>
              <a:rPr lang="en-US" sz="2000" dirty="0" smtClean="0">
                <a:latin typeface="Times New Roman" pitchFamily="18" charset="0"/>
                <a:cs typeface="Times New Roman" pitchFamily="18" charset="0"/>
              </a:rPr>
              <a:t>: Flume can also collect data from other sources, such as sensors, IoT devices, and social media platforms.</a:t>
            </a:r>
            <a:endParaRPr lang="en-US" sz="2000" dirty="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3295835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4856" y="1021080"/>
            <a:ext cx="11516750" cy="5632938"/>
          </a:xfrm>
        </p:spPr>
        <p:txBody>
          <a:bodyPr>
            <a:normAutofit lnSpcReduction="10000"/>
          </a:bodyPr>
          <a:lstStyle/>
          <a:p>
            <a:pPr marL="0" indent="0">
              <a:buNone/>
            </a:pPr>
            <a:r>
              <a:rPr lang="en-US" sz="2800" b="1" dirty="0" smtClean="0">
                <a:latin typeface="Times New Roman" pitchFamily="18" charset="0"/>
                <a:cs typeface="Times New Roman" pitchFamily="18" charset="0"/>
              </a:rPr>
              <a:t>Examples Of Specific Data Sources With Flume:-</a:t>
            </a:r>
          </a:p>
          <a:p>
            <a:pPr marL="0" indent="0">
              <a:buNone/>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Syslog</a:t>
            </a:r>
            <a:r>
              <a:rPr lang="en-US" sz="2000" dirty="0">
                <a:latin typeface="Times New Roman" pitchFamily="18" charset="0"/>
                <a:cs typeface="Times New Roman" pitchFamily="18" charset="0"/>
              </a:rPr>
              <a:t>: Flume can collect </a:t>
            </a:r>
            <a:r>
              <a:rPr lang="en-US" sz="2000" b="1" dirty="0" smtClean="0">
                <a:solidFill>
                  <a:srgbClr val="002060"/>
                </a:solidFill>
                <a:latin typeface="Times New Roman" pitchFamily="18" charset="0"/>
                <a:cs typeface="Times New Roman" pitchFamily="18" charset="0"/>
              </a:rPr>
              <a:t>Syslog Messages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from a variety of devices, such as routers, switches, and firewalls</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Netcat</a:t>
            </a:r>
            <a:r>
              <a:rPr lang="en-US" sz="2000" dirty="0">
                <a:latin typeface="Times New Roman" pitchFamily="18" charset="0"/>
                <a:cs typeface="Times New Roman" pitchFamily="18" charset="0"/>
              </a:rPr>
              <a:t>: Flume can collect data from </a:t>
            </a:r>
            <a:r>
              <a:rPr lang="en-US" sz="2000" b="1" dirty="0" smtClean="0">
                <a:solidFill>
                  <a:srgbClr val="002060"/>
                </a:solidFill>
                <a:latin typeface="Times New Roman" pitchFamily="18" charset="0"/>
                <a:cs typeface="Times New Roman" pitchFamily="18" charset="0"/>
              </a:rPr>
              <a:t>Netcat Connections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This can be useful for collecting data from custom applications or devices</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Kafka</a:t>
            </a:r>
            <a:r>
              <a:rPr lang="en-US" sz="2000" dirty="0">
                <a:latin typeface="Times New Roman" pitchFamily="18" charset="0"/>
                <a:cs typeface="Times New Roman" pitchFamily="18" charset="0"/>
              </a:rPr>
              <a:t>: Flume can collect data from </a:t>
            </a:r>
            <a:r>
              <a:rPr lang="en-US" sz="2000" b="1" dirty="0" smtClean="0">
                <a:solidFill>
                  <a:srgbClr val="002060"/>
                </a:solidFill>
                <a:latin typeface="Times New Roman" pitchFamily="18" charset="0"/>
                <a:cs typeface="Times New Roman" pitchFamily="18" charset="0"/>
              </a:rPr>
              <a:t>Kafka Topics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This is a common use case for Flume, as Kafka is a popular streaming data platform</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HDFS</a:t>
            </a:r>
            <a:r>
              <a:rPr lang="en-US" sz="2000" dirty="0">
                <a:latin typeface="Times New Roman" pitchFamily="18" charset="0"/>
                <a:cs typeface="Times New Roman" pitchFamily="18" charset="0"/>
              </a:rPr>
              <a:t>: Flume can collect data from </a:t>
            </a:r>
            <a:r>
              <a:rPr lang="en-US" sz="2000" b="1" dirty="0" smtClean="0">
                <a:latin typeface="Times New Roman" pitchFamily="18" charset="0"/>
                <a:cs typeface="Times New Roman" pitchFamily="18" charset="0"/>
              </a:rPr>
              <a:t>HDFS Directories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This can be useful for collecting data that has been processed by other Hadoop applications</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Font typeface="Wingdings" pitchFamily="2" charset="2"/>
              <a:buChar char="ü"/>
            </a:pPr>
            <a:r>
              <a:rPr lang="en-US" sz="2000" b="1" dirty="0">
                <a:solidFill>
                  <a:srgbClr val="002060"/>
                </a:solidFill>
                <a:latin typeface="Times New Roman" pitchFamily="18" charset="0"/>
                <a:cs typeface="Times New Roman" pitchFamily="18" charset="0"/>
              </a:rPr>
              <a:t>Twitter</a:t>
            </a:r>
            <a:r>
              <a:rPr lang="en-US" sz="2000" dirty="0">
                <a:latin typeface="Times New Roman" pitchFamily="18" charset="0"/>
                <a:cs typeface="Times New Roman" pitchFamily="18" charset="0"/>
              </a:rPr>
              <a:t>: Flume can collect data from the </a:t>
            </a:r>
            <a:r>
              <a:rPr lang="en-US" sz="2000" b="1" dirty="0" smtClean="0">
                <a:solidFill>
                  <a:srgbClr val="002060"/>
                </a:solidFill>
                <a:latin typeface="Times New Roman" pitchFamily="18" charset="0"/>
                <a:cs typeface="Times New Roman" pitchFamily="18" charset="0"/>
              </a:rPr>
              <a:t>Twitter API</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This can be useful for collecting real-time data about customer sentiment, trends, and marketing campaigns.</a:t>
            </a:r>
          </a:p>
          <a:p>
            <a:endParaRPr lang="en-IN"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1023273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itchFamily="2" charset="2"/>
              <a:buChar char="ü"/>
            </a:pPr>
            <a:r>
              <a:rPr lang="en-US" sz="2000" dirty="0">
                <a:latin typeface="Times New Roman" pitchFamily="18" charset="0"/>
                <a:cs typeface="Times New Roman" pitchFamily="18" charset="0"/>
              </a:rPr>
              <a:t>Flume also supports </a:t>
            </a:r>
            <a:r>
              <a:rPr lang="en-US" sz="2000" b="1" dirty="0" smtClean="0">
                <a:solidFill>
                  <a:srgbClr val="002060"/>
                </a:solidFill>
                <a:latin typeface="Times New Roman" pitchFamily="18" charset="0"/>
                <a:cs typeface="Times New Roman" pitchFamily="18" charset="0"/>
              </a:rPr>
              <a:t>Custom Sources</a:t>
            </a:r>
            <a:r>
              <a:rPr lang="en-US" sz="2000"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This means that you can develop your own source to collect data from any source that you need</a:t>
            </a:r>
            <a:r>
              <a:rPr lang="en-US" sz="2000" dirty="0" smtClean="0">
                <a:latin typeface="Times New Roman" pitchFamily="18" charset="0"/>
                <a:cs typeface="Times New Roman" pitchFamily="18" charset="0"/>
              </a:rPr>
              <a:t>.</a:t>
            </a:r>
          </a:p>
          <a:p>
            <a:pPr>
              <a:buNone/>
            </a:pPr>
            <a:endParaRPr lang="en-US" sz="2000" dirty="0">
              <a:latin typeface="Times New Roman" pitchFamily="18" charset="0"/>
              <a:cs typeface="Times New Roman" pitchFamily="18" charset="0"/>
            </a:endParaRPr>
          </a:p>
          <a:p>
            <a:pPr>
              <a:buFont typeface="Wingdings" pitchFamily="2" charset="2"/>
              <a:buChar char="ü"/>
            </a:pPr>
            <a:r>
              <a:rPr lang="en-US" sz="2000" dirty="0">
                <a:latin typeface="Times New Roman" pitchFamily="18" charset="0"/>
                <a:cs typeface="Times New Roman" pitchFamily="18" charset="0"/>
              </a:rPr>
              <a:t>Which data source you use will depend on your specific needs. If you are unsure which data source to use, you can consult the Flume documentation or contact the Flume community for assistance.</a:t>
            </a:r>
          </a:p>
          <a:p>
            <a:pPr>
              <a:buFont typeface="Wingdings" pitchFamily="2" charset="2"/>
              <a:buChar char="ü"/>
            </a:pPr>
            <a:endParaRPr lang="en-IN"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1151779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735" y="296125"/>
            <a:ext cx="10972800" cy="1143000"/>
          </a:xfrm>
        </p:spPr>
        <p:txBody>
          <a:bodyPr>
            <a:normAutofit/>
          </a:bodyPr>
          <a:lstStyle/>
          <a:p>
            <a:pPr algn="ctr"/>
            <a:r>
              <a:rPr lang="en-US" sz="3600" b="1" dirty="0" smtClean="0">
                <a:solidFill>
                  <a:srgbClr val="FF0000"/>
                </a:solidFill>
                <a:latin typeface="Times New Roman" pitchFamily="18" charset="0"/>
                <a:cs typeface="Times New Roman" pitchFamily="18" charset="0"/>
              </a:rPr>
              <a:t>Flume Architecture</a:t>
            </a:r>
            <a:endParaRPr lang="en-IN"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511125" y="1429042"/>
            <a:ext cx="11333871" cy="5224976"/>
          </a:xfrm>
        </p:spPr>
        <p:txBody>
          <a:bodyPr>
            <a:normAutofit/>
          </a:bodyPr>
          <a:lstStyle/>
          <a:p>
            <a:r>
              <a:rPr lang="en-US" sz="2000" dirty="0" smtClean="0">
                <a:latin typeface="Times New Roman" pitchFamily="18" charset="0"/>
                <a:cs typeface="Times New Roman" pitchFamily="18" charset="0"/>
              </a:rPr>
              <a:t>Apache Flume is a distributed, reliable, and available service for efficiently collecting, aggregating, and moving large amounts of log data. </a:t>
            </a:r>
          </a:p>
          <a:p>
            <a:r>
              <a:rPr lang="en-US" sz="2000" dirty="0" smtClean="0">
                <a:latin typeface="Times New Roman" pitchFamily="18" charset="0"/>
                <a:cs typeface="Times New Roman" pitchFamily="18" charset="0"/>
              </a:rPr>
              <a:t>It has a simple and flexible architecture based on streaming data flows.</a:t>
            </a:r>
          </a:p>
          <a:p>
            <a:endParaRPr lang="en-US" sz="2000" dirty="0" smtClean="0">
              <a:latin typeface="Times New Roman" pitchFamily="18" charset="0"/>
              <a:cs typeface="Times New Roman" pitchFamily="18" charset="0"/>
            </a:endParaRPr>
          </a:p>
          <a:p>
            <a:pPr>
              <a:buNone/>
            </a:pPr>
            <a:r>
              <a:rPr lang="en-US" sz="2800" b="1" dirty="0" smtClean="0">
                <a:latin typeface="Times New Roman" pitchFamily="18" charset="0"/>
                <a:cs typeface="Times New Roman" pitchFamily="18" charset="0"/>
              </a:rPr>
              <a:t>Flume Architecture:-</a:t>
            </a:r>
          </a:p>
          <a:p>
            <a:pPr>
              <a:buNone/>
            </a:pPr>
            <a:r>
              <a:rPr lang="en-US" sz="2000" dirty="0" smtClean="0">
                <a:latin typeface="Times New Roman" pitchFamily="18" charset="0"/>
                <a:cs typeface="Times New Roman" pitchFamily="18" charset="0"/>
              </a:rPr>
              <a:t>The Flume architecture is based on the following components:</a:t>
            </a:r>
          </a:p>
          <a:p>
            <a:pPr>
              <a:buNone/>
            </a:pPr>
            <a:endParaRPr lang="en-US" sz="2000" dirty="0" smtClean="0">
              <a:latin typeface="Times New Roman" pitchFamily="18" charset="0"/>
              <a:cs typeface="Times New Roman" pitchFamily="18" charset="0"/>
            </a:endParaRPr>
          </a:p>
          <a:p>
            <a:pPr>
              <a:buNone/>
            </a:pPr>
            <a:r>
              <a:rPr lang="en-US" sz="2000" b="1" dirty="0" smtClean="0">
                <a:solidFill>
                  <a:srgbClr val="002060"/>
                </a:solidFill>
                <a:latin typeface="Times New Roman" pitchFamily="18" charset="0"/>
                <a:cs typeface="Times New Roman" pitchFamily="18" charset="0"/>
              </a:rPr>
              <a:t>Events</a:t>
            </a:r>
            <a:r>
              <a:rPr lang="en-US" sz="2000" dirty="0" smtClean="0">
                <a:latin typeface="Times New Roman" pitchFamily="18" charset="0"/>
                <a:cs typeface="Times New Roman" pitchFamily="18" charset="0"/>
              </a:rPr>
              <a:t>: The </a:t>
            </a:r>
            <a:r>
              <a:rPr lang="en-US" sz="2000" b="1" dirty="0" smtClean="0">
                <a:latin typeface="Times New Roman" pitchFamily="18" charset="0"/>
                <a:cs typeface="Times New Roman" pitchFamily="18" charset="0"/>
              </a:rPr>
              <a:t>Basic Unit Of Data In Flume</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is an event. </a:t>
            </a:r>
          </a:p>
          <a:p>
            <a:pPr>
              <a:buFont typeface="Wingdings" pitchFamily="2" charset="2"/>
              <a:buChar char="ü"/>
            </a:pPr>
            <a:r>
              <a:rPr lang="en-US" sz="2000" dirty="0" smtClean="0">
                <a:latin typeface="Times New Roman" pitchFamily="18" charset="0"/>
                <a:cs typeface="Times New Roman" pitchFamily="18" charset="0"/>
              </a:rPr>
              <a:t>An event is a collection of key-value pairs, where the key is a string and the value is a byte array.</a:t>
            </a:r>
          </a:p>
          <a:p>
            <a:pPr>
              <a:buNone/>
            </a:pPr>
            <a:endParaRPr lang="en-US" sz="2000" dirty="0" smtClean="0">
              <a:latin typeface="Times New Roman" pitchFamily="18" charset="0"/>
              <a:cs typeface="Times New Roman" pitchFamily="18" charset="0"/>
            </a:endParaRPr>
          </a:p>
          <a:p>
            <a:pPr>
              <a:buNone/>
            </a:pPr>
            <a:r>
              <a:rPr lang="en-US" sz="2000" b="1" dirty="0" smtClean="0">
                <a:solidFill>
                  <a:srgbClr val="002060"/>
                </a:solidFill>
                <a:latin typeface="Times New Roman" pitchFamily="18" charset="0"/>
                <a:cs typeface="Times New Roman" pitchFamily="18" charset="0"/>
              </a:rPr>
              <a:t>Sources</a:t>
            </a:r>
            <a:r>
              <a:rPr lang="en-US" sz="2000" dirty="0" smtClean="0">
                <a:latin typeface="Times New Roman" pitchFamily="18" charset="0"/>
                <a:cs typeface="Times New Roman" pitchFamily="18" charset="0"/>
              </a:rPr>
              <a:t>: Sources </a:t>
            </a:r>
            <a:r>
              <a:rPr lang="en-US" sz="2000" dirty="0" smtClean="0">
                <a:latin typeface="Times New Roman" pitchFamily="18" charset="0"/>
                <a:cs typeface="Times New Roman" pitchFamily="18" charset="0"/>
              </a:rPr>
              <a:t>are</a:t>
            </a:r>
            <a:r>
              <a:rPr lang="en-US" sz="2000" b="1" dirty="0" smtClean="0">
                <a:latin typeface="Times New Roman" pitchFamily="18" charset="0"/>
                <a:cs typeface="Times New Roman" pitchFamily="18" charset="0"/>
              </a:rPr>
              <a:t> Components That Generate Events</a:t>
            </a:r>
            <a:r>
              <a:rPr lang="en-US"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buFont typeface="Wingdings" pitchFamily="2" charset="2"/>
              <a:buChar char="ü"/>
            </a:pPr>
            <a:r>
              <a:rPr lang="en-US" sz="2000" dirty="0" smtClean="0">
                <a:latin typeface="Times New Roman" pitchFamily="18" charset="0"/>
                <a:cs typeface="Times New Roman" pitchFamily="18" charset="0"/>
              </a:rPr>
              <a:t>Sources can be local or remote, and they can be configured to generate events at a specified frequency.</a:t>
            </a: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IN"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1953073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flume_arc.PNG"/>
          <p:cNvPicPr>
            <a:picLocks noGrp="1" noChangeAspect="1"/>
          </p:cNvPicPr>
          <p:nvPr>
            <p:ph idx="1"/>
          </p:nvPr>
        </p:nvPicPr>
        <p:blipFill>
          <a:blip r:embed="rId2"/>
          <a:stretch>
            <a:fillRect/>
          </a:stretch>
        </p:blipFill>
        <p:spPr>
          <a:xfrm>
            <a:off x="1055076" y="1999618"/>
            <a:ext cx="9948633" cy="4204234"/>
          </a:xfrm>
        </p:spPr>
      </p:pic>
      <p:sp>
        <p:nvSpPr>
          <p:cNvPr id="7" name="TextBox 6"/>
          <p:cNvSpPr txBox="1"/>
          <p:nvPr/>
        </p:nvSpPr>
        <p:spPr>
          <a:xfrm>
            <a:off x="1758462" y="1125415"/>
            <a:ext cx="4028219" cy="646331"/>
          </a:xfrm>
          <a:prstGeom prst="rect">
            <a:avLst/>
          </a:prstGeom>
          <a:noFill/>
        </p:spPr>
        <p:txBody>
          <a:bodyPr wrap="none" rtlCol="0">
            <a:spAutoFit/>
          </a:bodyPr>
          <a:lstStyle/>
          <a:p>
            <a:pPr algn="ctr"/>
            <a:r>
              <a:rPr lang="en-US" sz="3600" b="1" dirty="0" smtClean="0">
                <a:latin typeface="Times New Roman" pitchFamily="18" charset="0"/>
                <a:cs typeface="Times New Roman" pitchFamily="18" charset="0"/>
              </a:rPr>
              <a:t>Flume Architecture</a:t>
            </a:r>
            <a:endParaRPr lang="en-US" sz="3600" b="1" dirty="0">
              <a:latin typeface="Times New Roman" pitchFamily="18" charset="0"/>
              <a:cs typeface="Times New Roman" pitchFamily="18" charset="0"/>
            </a:endParaRPr>
          </a:p>
        </p:txBody>
      </p:sp>
    </p:spTree>
    <p:extLst>
      <p:ext uri="{BB962C8B-B14F-4D97-AF65-F5344CB8AC3E}">
        <p14:creationId xmlns="" xmlns:p14="http://schemas.microsoft.com/office/powerpoint/2010/main" val="3697781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922" y="1035147"/>
            <a:ext cx="11488616" cy="5295315"/>
          </a:xfrm>
        </p:spPr>
        <p:txBody>
          <a:bodyPr>
            <a:normAutofit/>
          </a:bodyPr>
          <a:lstStyle/>
          <a:p>
            <a:pPr>
              <a:buNone/>
            </a:pPr>
            <a:r>
              <a:rPr lang="en-US" sz="2000" b="1" dirty="0" smtClean="0">
                <a:solidFill>
                  <a:srgbClr val="002060"/>
                </a:solidFill>
                <a:latin typeface="Times New Roman" pitchFamily="18" charset="0"/>
                <a:cs typeface="Times New Roman" pitchFamily="18" charset="0"/>
              </a:rPr>
              <a:t>Channels</a:t>
            </a:r>
            <a:r>
              <a:rPr lang="en-US" sz="2000" dirty="0" smtClean="0">
                <a:latin typeface="Times New Roman" pitchFamily="18" charset="0"/>
                <a:cs typeface="Times New Roman" pitchFamily="18" charset="0"/>
              </a:rPr>
              <a:t>: Channels are buffers that store events until they are processed by sinks. </a:t>
            </a:r>
          </a:p>
          <a:p>
            <a:pPr>
              <a:buFont typeface="Wingdings" pitchFamily="2" charset="2"/>
              <a:buChar char="ü"/>
            </a:pPr>
            <a:r>
              <a:rPr lang="en-US" sz="2000" dirty="0" smtClean="0">
                <a:latin typeface="Times New Roman" pitchFamily="18" charset="0"/>
                <a:cs typeface="Times New Roman" pitchFamily="18" charset="0"/>
              </a:rPr>
              <a:t>Channels can be configured to store events in memory, on disk, or in a distributed file system.</a:t>
            </a:r>
          </a:p>
          <a:p>
            <a:pPr>
              <a:buNone/>
            </a:pPr>
            <a:endParaRPr lang="en-US" sz="2000" dirty="0" smtClean="0">
              <a:latin typeface="Times New Roman" pitchFamily="18" charset="0"/>
              <a:cs typeface="Times New Roman" pitchFamily="18" charset="0"/>
            </a:endParaRPr>
          </a:p>
          <a:p>
            <a:pPr>
              <a:buNone/>
            </a:pPr>
            <a:r>
              <a:rPr lang="en-US" sz="2000" b="1" dirty="0" smtClean="0">
                <a:solidFill>
                  <a:srgbClr val="002060"/>
                </a:solidFill>
                <a:latin typeface="Times New Roman" pitchFamily="18" charset="0"/>
                <a:cs typeface="Times New Roman" pitchFamily="18" charset="0"/>
              </a:rPr>
              <a:t>Sinks</a:t>
            </a:r>
            <a:r>
              <a:rPr lang="en-US" sz="2000" dirty="0" smtClean="0">
                <a:latin typeface="Times New Roman" pitchFamily="18" charset="0"/>
                <a:cs typeface="Times New Roman" pitchFamily="18" charset="0"/>
              </a:rPr>
              <a:t>: Sinks are components that consume events from channels and write them to a destination. </a:t>
            </a:r>
          </a:p>
          <a:p>
            <a:pPr>
              <a:buFont typeface="Wingdings" pitchFamily="2" charset="2"/>
              <a:buChar char="ü"/>
            </a:pPr>
            <a:r>
              <a:rPr lang="en-US" sz="2000" dirty="0" smtClean="0">
                <a:latin typeface="Times New Roman" pitchFamily="18" charset="0"/>
                <a:cs typeface="Times New Roman" pitchFamily="18" charset="0"/>
              </a:rPr>
              <a:t>Sinks can be configured to write events to a variety of destinations, including HDFS, HBase, Kafka, and Elastic search.</a:t>
            </a:r>
          </a:p>
          <a:p>
            <a:pPr>
              <a:buNone/>
            </a:pPr>
            <a:endParaRPr lang="en-US" sz="2000" dirty="0" smtClean="0">
              <a:latin typeface="Times New Roman" pitchFamily="18" charset="0"/>
              <a:cs typeface="Times New Roman" pitchFamily="18" charset="0"/>
            </a:endParaRPr>
          </a:p>
          <a:p>
            <a:pPr>
              <a:buNone/>
            </a:pPr>
            <a:r>
              <a:rPr lang="en-US" sz="2000" b="1" dirty="0" smtClean="0">
                <a:solidFill>
                  <a:srgbClr val="002060"/>
                </a:solidFill>
                <a:latin typeface="Times New Roman" pitchFamily="18" charset="0"/>
                <a:cs typeface="Times New Roman" pitchFamily="18" charset="0"/>
              </a:rPr>
              <a:t>Agents</a:t>
            </a:r>
            <a:r>
              <a:rPr lang="en-US" sz="2000" dirty="0" smtClean="0">
                <a:latin typeface="Times New Roman" pitchFamily="18" charset="0"/>
                <a:cs typeface="Times New Roman" pitchFamily="18" charset="0"/>
              </a:rPr>
              <a:t>: Agents are daemon processes that </a:t>
            </a:r>
            <a:r>
              <a:rPr lang="en-US" sz="2000" b="1" dirty="0" smtClean="0">
                <a:solidFill>
                  <a:srgbClr val="002060"/>
                </a:solidFill>
                <a:latin typeface="Times New Roman" pitchFamily="18" charset="0"/>
                <a:cs typeface="Times New Roman" pitchFamily="18" charset="0"/>
              </a:rPr>
              <a:t>Manage Sources, Channels, And Sinks</a:t>
            </a:r>
            <a:r>
              <a:rPr lang="en-US" sz="2000" dirty="0" smtClean="0">
                <a:latin typeface="Times New Roman" pitchFamily="18" charset="0"/>
                <a:cs typeface="Times New Roman" pitchFamily="18" charset="0"/>
              </a:rPr>
              <a:t>.</a:t>
            </a:r>
          </a:p>
          <a:p>
            <a:pPr>
              <a:buFont typeface="Wingdings" pitchFamily="2" charset="2"/>
              <a:buChar char="ü"/>
            </a:pPr>
            <a:r>
              <a:rPr lang="en-US" sz="2000" dirty="0" smtClean="0">
                <a:latin typeface="Times New Roman" pitchFamily="18" charset="0"/>
                <a:cs typeface="Times New Roman" pitchFamily="18" charset="0"/>
              </a:rPr>
              <a:t> Agents can be configured to collect data from multiple sources, aggregate the data, and then write it to one or more sinks.</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1" y="964809"/>
            <a:ext cx="11474548" cy="5647006"/>
          </a:xfrm>
        </p:spPr>
        <p:txBody>
          <a:bodyPr>
            <a:normAutofit/>
          </a:bodyPr>
          <a:lstStyle/>
          <a:p>
            <a:pPr>
              <a:buFont typeface="Wingdings" pitchFamily="2" charset="2"/>
              <a:buChar char="ü"/>
            </a:pPr>
            <a:endParaRPr lang="en-US" sz="2000" dirty="0" smtClean="0">
              <a:latin typeface="Times New Roman" pitchFamily="18" charset="0"/>
              <a:cs typeface="Times New Roman" pitchFamily="18" charset="0"/>
            </a:endParaRPr>
          </a:p>
          <a:p>
            <a:pPr>
              <a:buNone/>
            </a:pPr>
            <a:r>
              <a:rPr lang="en-US" sz="3600" b="1" dirty="0" smtClean="0">
                <a:latin typeface="Times New Roman" pitchFamily="18" charset="0"/>
                <a:cs typeface="Times New Roman" pitchFamily="18" charset="0"/>
              </a:rPr>
              <a:t>Flume Work Flow:-</a:t>
            </a: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Data Generators</a:t>
            </a:r>
            <a:r>
              <a:rPr lang="en-US" sz="2000" dirty="0" smtClean="0">
                <a:latin typeface="Times New Roman" pitchFamily="18" charset="0"/>
                <a:cs typeface="Times New Roman" pitchFamily="18" charset="0"/>
              </a:rPr>
              <a:t> generate events and send them to </a:t>
            </a:r>
            <a:r>
              <a:rPr lang="en-US" sz="2000" b="1" dirty="0" smtClean="0">
                <a:solidFill>
                  <a:srgbClr val="002060"/>
                </a:solidFill>
                <a:latin typeface="Times New Roman" pitchFamily="18" charset="0"/>
                <a:cs typeface="Times New Roman" pitchFamily="18" charset="0"/>
              </a:rPr>
              <a:t>Flume Agents.</a:t>
            </a:r>
          </a:p>
          <a:p>
            <a:pPr>
              <a:buFont typeface="Wingdings" pitchFamily="2" charset="2"/>
              <a:buChar char="ü"/>
            </a:pPr>
            <a:r>
              <a:rPr lang="en-US" sz="2000" dirty="0" smtClean="0">
                <a:latin typeface="Times New Roman" pitchFamily="18" charset="0"/>
                <a:cs typeface="Times New Roman" pitchFamily="18" charset="0"/>
              </a:rPr>
              <a:t>Flume agents receive events from the data generators and </a:t>
            </a:r>
            <a:r>
              <a:rPr lang="en-US" sz="2000" b="1" dirty="0" smtClean="0">
                <a:solidFill>
                  <a:srgbClr val="002060"/>
                </a:solidFill>
                <a:latin typeface="Times New Roman" pitchFamily="18" charset="0"/>
                <a:cs typeface="Times New Roman" pitchFamily="18" charset="0"/>
              </a:rPr>
              <a:t>Store Them In Channels</a:t>
            </a:r>
            <a:r>
              <a:rPr lang="en-US" sz="2000" dirty="0" smtClean="0">
                <a:latin typeface="Times New Roman" pitchFamily="18" charset="0"/>
                <a:cs typeface="Times New Roman" pitchFamily="18" charset="0"/>
              </a:rPr>
              <a:t>.</a:t>
            </a:r>
          </a:p>
          <a:p>
            <a:pPr>
              <a:buFont typeface="Wingdings" pitchFamily="2" charset="2"/>
              <a:buChar char="ü"/>
            </a:pPr>
            <a:r>
              <a:rPr lang="en-US" sz="2000" dirty="0" smtClean="0">
                <a:latin typeface="Times New Roman" pitchFamily="18" charset="0"/>
                <a:cs typeface="Times New Roman" pitchFamily="18" charset="0"/>
              </a:rPr>
              <a:t>Flume agents then process the events in the channels and </a:t>
            </a:r>
            <a:r>
              <a:rPr lang="en-US" sz="2000" b="1" dirty="0" smtClean="0">
                <a:solidFill>
                  <a:srgbClr val="002060"/>
                </a:solidFill>
                <a:latin typeface="Times New Roman" pitchFamily="18" charset="0"/>
                <a:cs typeface="Times New Roman" pitchFamily="18" charset="0"/>
              </a:rPr>
              <a:t>Write Them To Sinks</a:t>
            </a:r>
            <a:r>
              <a:rPr lang="en-US" sz="2000" dirty="0" smtClean="0">
                <a:latin typeface="Times New Roman" pitchFamily="18" charset="0"/>
                <a:cs typeface="Times New Roman" pitchFamily="18" charset="0"/>
              </a:rPr>
              <a:t>.</a:t>
            </a:r>
          </a:p>
          <a:p>
            <a:pPr>
              <a:buFont typeface="Wingdings" pitchFamily="2" charset="2"/>
              <a:buChar char="ü"/>
            </a:pPr>
            <a:r>
              <a:rPr lang="en-US" sz="2000" dirty="0" smtClean="0">
                <a:latin typeface="Times New Roman" pitchFamily="18" charset="0"/>
                <a:cs typeface="Times New Roman" pitchFamily="18" charset="0"/>
              </a:rPr>
              <a:t>The </a:t>
            </a:r>
            <a:r>
              <a:rPr lang="en-US" sz="2000" b="1" dirty="0" smtClean="0">
                <a:solidFill>
                  <a:srgbClr val="002060"/>
                </a:solidFill>
                <a:latin typeface="Times New Roman" pitchFamily="18" charset="0"/>
                <a:cs typeface="Times New Roman" pitchFamily="18" charset="0"/>
              </a:rPr>
              <a:t>Collector</a:t>
            </a:r>
            <a:r>
              <a:rPr lang="en-US" sz="2000" dirty="0" smtClean="0">
                <a:latin typeface="Times New Roman" pitchFamily="18" charset="0"/>
                <a:cs typeface="Times New Roman" pitchFamily="18" charset="0"/>
              </a:rPr>
              <a:t> receives events from the Flume agents and </a:t>
            </a:r>
            <a:r>
              <a:rPr lang="en-US" sz="2000" b="1" dirty="0" smtClean="0">
                <a:solidFill>
                  <a:srgbClr val="002060"/>
                </a:solidFill>
                <a:latin typeface="Times New Roman" pitchFamily="18" charset="0"/>
                <a:cs typeface="Times New Roman" pitchFamily="18" charset="0"/>
              </a:rPr>
              <a:t>Aggregates Them</a:t>
            </a:r>
            <a:r>
              <a:rPr lang="en-US" sz="2000" dirty="0" smtClean="0">
                <a:latin typeface="Times New Roman" pitchFamily="18" charset="0"/>
                <a:cs typeface="Times New Roman" pitchFamily="18" charset="0"/>
              </a:rPr>
              <a:t>.</a:t>
            </a:r>
          </a:p>
          <a:p>
            <a:pPr>
              <a:buFont typeface="Wingdings" pitchFamily="2" charset="2"/>
              <a:buChar char="ü"/>
            </a:pPr>
            <a:r>
              <a:rPr lang="en-US" sz="2000" dirty="0" smtClean="0">
                <a:latin typeface="Times New Roman" pitchFamily="18" charset="0"/>
                <a:cs typeface="Times New Roman" pitchFamily="18" charset="0"/>
              </a:rPr>
              <a:t>The collector then writes the aggregated events to a data store, such as </a:t>
            </a:r>
            <a:r>
              <a:rPr lang="en-US" sz="2000" b="1" dirty="0" smtClean="0">
                <a:solidFill>
                  <a:srgbClr val="002060"/>
                </a:solidFill>
                <a:latin typeface="Times New Roman" pitchFamily="18" charset="0"/>
                <a:cs typeface="Times New Roman" pitchFamily="18" charset="0"/>
              </a:rPr>
              <a:t>HDFS or HBase</a:t>
            </a:r>
            <a:r>
              <a:rPr lang="en-US" sz="2000" dirty="0" smtClean="0">
                <a:latin typeface="Times New Roman" pitchFamily="18" charset="0"/>
                <a:cs typeface="Times New Roman" pitchFamily="18" charset="0"/>
              </a:rPr>
              <a:t>.</a:t>
            </a: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IN"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989765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itchFamily="18" charset="0"/>
                <a:cs typeface="Times New Roman" pitchFamily="18" charset="0"/>
              </a:rPr>
              <a:t>Benefits Of Flume:-</a:t>
            </a:r>
            <a:endParaRPr lang="en-US" sz="36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None/>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Scalability</a:t>
            </a:r>
            <a:r>
              <a:rPr lang="en-US" sz="2000" dirty="0" smtClean="0">
                <a:latin typeface="Times New Roman" pitchFamily="18" charset="0"/>
                <a:cs typeface="Times New Roman" pitchFamily="18" charset="0"/>
              </a:rPr>
              <a:t>: Flume is horizontally scalable, meaning that it can be scaled up by adding more agents.</a:t>
            </a: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Reliability</a:t>
            </a:r>
            <a:r>
              <a:rPr lang="en-US" sz="2000" dirty="0" smtClean="0">
                <a:latin typeface="Times New Roman" pitchFamily="18" charset="0"/>
                <a:cs typeface="Times New Roman" pitchFamily="18" charset="0"/>
              </a:rPr>
              <a:t>: Flume is designed to be reliable and fault-tolerant. It uses a variety of mechanisms to ensure that data is not lost, even if there are failures in the system.</a:t>
            </a: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Flexibility</a:t>
            </a:r>
            <a:r>
              <a:rPr lang="en-US" sz="2000" dirty="0" smtClean="0">
                <a:latin typeface="Times New Roman" pitchFamily="18" charset="0"/>
                <a:cs typeface="Times New Roman" pitchFamily="18" charset="0"/>
              </a:rPr>
              <a:t>: Flume is a flexible system that can be used to collect and move data from a variety of sources to a variety of destinations.</a:t>
            </a: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itchFamily="18" charset="0"/>
                <a:cs typeface="Times New Roman" pitchFamily="18" charset="0"/>
              </a:rPr>
              <a:t>Use Cases For Flume:-</a:t>
            </a:r>
            <a:endParaRPr lang="en-US" sz="36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Log Collection</a:t>
            </a:r>
            <a:r>
              <a:rPr lang="en-US" sz="2000" dirty="0" smtClean="0">
                <a:latin typeface="Times New Roman" pitchFamily="18" charset="0"/>
                <a:cs typeface="Times New Roman" pitchFamily="18" charset="0"/>
              </a:rPr>
              <a:t>: Flume can be used to collect logs from servers and applications and store them in a centralized location for analysis.</a:t>
            </a:r>
          </a:p>
          <a:p>
            <a:pPr>
              <a:buFont typeface="Wingdings" pitchFamily="2" charset="2"/>
              <a:buChar char="ü"/>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Data Integration</a:t>
            </a:r>
            <a:r>
              <a:rPr lang="en-US" sz="2000" dirty="0" smtClean="0">
                <a:latin typeface="Times New Roman" pitchFamily="18" charset="0"/>
                <a:cs typeface="Times New Roman" pitchFamily="18" charset="0"/>
              </a:rPr>
              <a:t>: Flume can be used to integrate data from different sources into a single data lake.</a:t>
            </a:r>
          </a:p>
          <a:p>
            <a:pPr>
              <a:buNone/>
            </a:pPr>
            <a:endParaRPr lang="en-US" sz="2000" dirty="0" smtClean="0">
              <a:latin typeface="Times New Roman" pitchFamily="18" charset="0"/>
              <a:cs typeface="Times New Roman" pitchFamily="18" charset="0"/>
            </a:endParaRPr>
          </a:p>
          <a:p>
            <a:pPr>
              <a:buFont typeface="Wingdings" pitchFamily="2" charset="2"/>
              <a:buChar char="ü"/>
            </a:pPr>
            <a:r>
              <a:rPr lang="en-US" sz="2000" b="1" dirty="0" smtClean="0">
                <a:solidFill>
                  <a:srgbClr val="002060"/>
                </a:solidFill>
                <a:latin typeface="Times New Roman" pitchFamily="18" charset="0"/>
                <a:cs typeface="Times New Roman" pitchFamily="18" charset="0"/>
              </a:rPr>
              <a:t>Real-Time Analytics</a:t>
            </a:r>
            <a:r>
              <a:rPr lang="en-US" sz="2000" dirty="0" smtClean="0">
                <a:latin typeface="Times New Roman" pitchFamily="18" charset="0"/>
                <a:cs typeface="Times New Roman" pitchFamily="18" charset="0"/>
              </a:rPr>
              <a:t>: Flume can be used to collect and process streaming data in real time for analytics.</a:t>
            </a: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157</TotalTime>
  <Words>431</Words>
  <Application>Microsoft Office PowerPoint</Application>
  <PresentationFormat>Custom</PresentationFormat>
  <Paragraphs>121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Unit - V</vt:lpstr>
      <vt:lpstr>Flume – Data Ingestion Tool - HDFS</vt:lpstr>
      <vt:lpstr>Flume Data Flow</vt:lpstr>
      <vt:lpstr>Slide 4</vt:lpstr>
      <vt:lpstr>Key Features Of Apache Flume:-</vt:lpstr>
      <vt:lpstr>Use Cases For Apache Flume:-</vt:lpstr>
      <vt:lpstr>Data Sources</vt:lpstr>
      <vt:lpstr>Slide 8</vt:lpstr>
      <vt:lpstr>Slide 9</vt:lpstr>
      <vt:lpstr>Flume Architecture</vt:lpstr>
      <vt:lpstr>Slide 11</vt:lpstr>
      <vt:lpstr>Slide 12</vt:lpstr>
      <vt:lpstr>Slide 13</vt:lpstr>
      <vt:lpstr>Benefits Of Flume:-</vt:lpstr>
      <vt:lpstr>Use Cases For Flume:-</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Flume</dc:title>
  <dc:creator>MRUH</dc:creator>
  <cp:lastModifiedBy>Windows User</cp:lastModifiedBy>
  <cp:revision>37</cp:revision>
  <dcterms:created xsi:type="dcterms:W3CDTF">2023-10-13T09:06:05Z</dcterms:created>
  <dcterms:modified xsi:type="dcterms:W3CDTF">2023-11-08T02:21:15Z</dcterms:modified>
</cp:coreProperties>
</file>