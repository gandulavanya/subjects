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11" r:id="rId2"/>
    <p:sldId id="256" r:id="rId3"/>
    <p:sldId id="257" r:id="rId4"/>
    <p:sldId id="258" r:id="rId5"/>
    <p:sldId id="259" r:id="rId6"/>
    <p:sldId id="260" r:id="rId7"/>
    <p:sldId id="261" r:id="rId8"/>
    <p:sldId id="262" r:id="rId9"/>
    <p:sldId id="263" r:id="rId10"/>
    <p:sldId id="264" r:id="rId11"/>
    <p:sldId id="265" r:id="rId12"/>
    <p:sldId id="266" r:id="rId13"/>
    <p:sldId id="312"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31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4" r:id="rId6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1D8BD707-D9CF-40AE-B4C6-C98DA3205C09}" type="datetimeFigureOut">
              <a:rPr lang="en-US" smtClean="0"/>
              <a:pPr/>
              <a:t>9/13/2023</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9/13/2023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9/13/2023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9/13/2023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9/13/2023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9/13/2023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B6F15528-21DE-4FAA-801E-634DDDAF4B2B}"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9/13/2023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9/13/2023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1D8BD707-D9CF-40AE-B4C6-C98DA3205C09}" type="datetimeFigureOut">
              <a:rPr lang="en-US" smtClean="0"/>
              <a:pPr/>
              <a:t>9/13/2023</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6F15528-21DE-4FAA-801E-634DDDAF4B2B}"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dirty="0" smtClean="0">
                <a:latin typeface="Times New Roman" pitchFamily="18" charset="0"/>
                <a:cs typeface="Times New Roman" pitchFamily="18" charset="0"/>
              </a:rPr>
              <a:t>Unit - 2</a:t>
            </a:r>
            <a:endParaRPr lang="en-US" dirty="0">
              <a:latin typeface="Times New Roman" pitchFamily="18" charset="0"/>
              <a:cs typeface="Times New Roman" pitchFamily="18" charset="0"/>
            </a:endParaRPr>
          </a:p>
        </p:txBody>
      </p:sp>
      <p:sp>
        <p:nvSpPr>
          <p:cNvPr id="3" name="Subtitle 2"/>
          <p:cNvSpPr>
            <a:spLocks noGrp="1"/>
          </p:cNvSpPr>
          <p:nvPr>
            <p:ph type="subTitle" idx="1"/>
          </p:nvPr>
        </p:nvSpPr>
        <p:spPr/>
        <p:txBody>
          <a:bodyPr>
            <a:noAutofit/>
          </a:bodyPr>
          <a:lstStyle/>
          <a:p>
            <a:pPr algn="ctr"/>
            <a:endParaRPr lang="en-US" sz="2800" dirty="0" smtClean="0">
              <a:latin typeface="Times New Roman" pitchFamily="18" charset="0"/>
              <a:cs typeface="Times New Roman" pitchFamily="18" charset="0"/>
            </a:endParaRPr>
          </a:p>
          <a:p>
            <a:pPr algn="ctr"/>
            <a:r>
              <a:rPr lang="en-US" sz="2800" dirty="0" smtClean="0">
                <a:latin typeface="Times New Roman" pitchFamily="18" charset="0"/>
                <a:cs typeface="Times New Roman" pitchFamily="18" charset="0"/>
              </a:rPr>
              <a:t>Map Reduce – A Weather Dataset, Analyzing the data with Unix Tool, Analyzing the data using Hadoop, Hadoop Streaming, Hadoop Pipes.</a:t>
            </a:r>
            <a:endParaRPr lang="en-US" sz="2800" dirty="0">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Weather Dataset</a:t>
            </a:r>
            <a:endParaRPr lang="en-US" sz="3600" b="1" dirty="0">
              <a:solidFill>
                <a:srgbClr val="FF0000"/>
              </a:solidFill>
              <a:latin typeface="Times New Roman" pitchFamily="18" charset="0"/>
              <a:cs typeface="Times New Roman" pitchFamily="18" charset="0"/>
            </a:endParaRPr>
          </a:p>
        </p:txBody>
      </p:sp>
      <p:pic>
        <p:nvPicPr>
          <p:cNvPr id="4" name="Content Placeholder 3" descr="weather_data.PNG"/>
          <p:cNvPicPr>
            <a:picLocks noGrp="1" noChangeAspect="1"/>
          </p:cNvPicPr>
          <p:nvPr>
            <p:ph idx="1"/>
          </p:nvPr>
        </p:nvPicPr>
        <p:blipFill>
          <a:blip r:embed="rId2"/>
          <a:srcRect t="5702" r="2007"/>
          <a:stretch>
            <a:fillRect/>
          </a:stretch>
        </p:blipFill>
        <p:spPr>
          <a:xfrm>
            <a:off x="685800" y="1981200"/>
            <a:ext cx="4191000" cy="4587482"/>
          </a:xfrm>
        </p:spPr>
      </p:pic>
      <p:sp>
        <p:nvSpPr>
          <p:cNvPr id="5" name="TextBox 4"/>
          <p:cNvSpPr txBox="1"/>
          <p:nvPr/>
        </p:nvSpPr>
        <p:spPr>
          <a:xfrm>
            <a:off x="6172201" y="2971800"/>
            <a:ext cx="2209800" cy="1631216"/>
          </a:xfrm>
          <a:prstGeom prst="rect">
            <a:avLst/>
          </a:prstGeom>
          <a:noFill/>
        </p:spPr>
        <p:txBody>
          <a:bodyPr wrap="square" rtlCol="0">
            <a:spAutoFit/>
          </a:bodyPr>
          <a:lstStyle/>
          <a:p>
            <a:r>
              <a:rPr lang="en-US" sz="2000" b="1" dirty="0" smtClean="0">
                <a:solidFill>
                  <a:srgbClr val="0070C0"/>
                </a:solidFill>
                <a:latin typeface="Times New Roman" pitchFamily="18" charset="0"/>
                <a:cs typeface="Times New Roman" pitchFamily="18" charset="0"/>
              </a:rPr>
              <a:t>Air Temperature</a:t>
            </a:r>
            <a:r>
              <a:rPr lang="en-US" sz="2000" dirty="0" smtClean="0">
                <a:latin typeface="Times New Roman" pitchFamily="18" charset="0"/>
                <a:cs typeface="Times New Roman" pitchFamily="18" charset="0"/>
              </a:rPr>
              <a:t> and </a:t>
            </a:r>
            <a:r>
              <a:rPr lang="en-US" sz="2000" b="1" dirty="0" smtClean="0">
                <a:solidFill>
                  <a:srgbClr val="0070C0"/>
                </a:solidFill>
                <a:latin typeface="Times New Roman" pitchFamily="18" charset="0"/>
                <a:cs typeface="Times New Roman" pitchFamily="18" charset="0"/>
              </a:rPr>
              <a:t>Quality code </a:t>
            </a:r>
            <a:r>
              <a:rPr lang="en-US" sz="2000" dirty="0" smtClean="0">
                <a:latin typeface="Times New Roman" pitchFamily="18" charset="0"/>
                <a:cs typeface="Times New Roman" pitchFamily="18" charset="0"/>
              </a:rPr>
              <a:t>are required variables to find Max Temperature.</a:t>
            </a:r>
            <a:endParaRPr lang="en-US" sz="2000"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Analyzing data with Unix Tool</a:t>
            </a:r>
            <a:endParaRPr lang="en-US" sz="3600" b="1" dirty="0">
              <a:solidFill>
                <a:srgbClr val="FF0000"/>
              </a:solidFill>
              <a:latin typeface="Times New Roman" pitchFamily="18" charset="0"/>
              <a:cs typeface="Times New Roman" pitchFamily="18" charset="0"/>
            </a:endParaRPr>
          </a:p>
        </p:txBody>
      </p:sp>
      <p:sp>
        <p:nvSpPr>
          <p:cNvPr id="3" name="Text Placeholder 2"/>
          <p:cNvSpPr>
            <a:spLocks noGrp="1"/>
          </p:cNvSpPr>
          <p:nvPr>
            <p:ph type="body" idx="1"/>
          </p:nvPr>
        </p:nvSpPr>
        <p:spPr/>
        <p:txBody>
          <a:bodyPr>
            <a:normAutofit fontScale="92500" lnSpcReduction="10000"/>
          </a:bodyPr>
          <a:lstStyle/>
          <a:p>
            <a:r>
              <a:rPr lang="en-US" dirty="0" smtClean="0"/>
              <a:t>Interpreted Programming Language</a:t>
            </a:r>
            <a:endParaRPr lang="en-US" dirty="0"/>
          </a:p>
        </p:txBody>
      </p:sp>
      <p:sp>
        <p:nvSpPr>
          <p:cNvPr id="4" name="Text Placeholder 3"/>
          <p:cNvSpPr>
            <a:spLocks noGrp="1"/>
          </p:cNvSpPr>
          <p:nvPr>
            <p:ph type="body" sz="half" idx="3"/>
          </p:nvPr>
        </p:nvSpPr>
        <p:spPr/>
        <p:txBody>
          <a:bodyPr/>
          <a:lstStyle/>
          <a:p>
            <a:r>
              <a:rPr lang="en-US" dirty="0" smtClean="0"/>
              <a:t>Code Output</a:t>
            </a:r>
            <a:endParaRPr lang="en-US" dirty="0"/>
          </a:p>
        </p:txBody>
      </p:sp>
      <p:pic>
        <p:nvPicPr>
          <p:cNvPr id="7" name="Content Placeholder 6" descr="unix_code.PNG"/>
          <p:cNvPicPr>
            <a:picLocks noGrp="1" noChangeAspect="1"/>
          </p:cNvPicPr>
          <p:nvPr>
            <p:ph sz="quarter" idx="2"/>
          </p:nvPr>
        </p:nvPicPr>
        <p:blipFill>
          <a:blip r:embed="rId2"/>
          <a:stretch>
            <a:fillRect/>
          </a:stretch>
        </p:blipFill>
        <p:spPr>
          <a:xfrm>
            <a:off x="228600" y="2971800"/>
            <a:ext cx="4738816" cy="2971800"/>
          </a:xfrm>
        </p:spPr>
      </p:pic>
      <p:pic>
        <p:nvPicPr>
          <p:cNvPr id="8" name="Content Placeholder 7" descr="unix_code_output.PNG"/>
          <p:cNvPicPr>
            <a:picLocks noGrp="1" noChangeAspect="1"/>
          </p:cNvPicPr>
          <p:nvPr>
            <p:ph sz="quarter" idx="4"/>
          </p:nvPr>
        </p:nvPicPr>
        <p:blipFill>
          <a:blip r:embed="rId3"/>
          <a:stretch>
            <a:fillRect/>
          </a:stretch>
        </p:blipFill>
        <p:spPr>
          <a:xfrm>
            <a:off x="4724401" y="2895600"/>
            <a:ext cx="2696308" cy="1752600"/>
          </a:xfr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Analyzing data with Unix Tool</a:t>
            </a:r>
            <a:endParaRPr lang="en-US" sz="3600" dirty="0"/>
          </a:p>
        </p:txBody>
      </p:sp>
      <p:sp>
        <p:nvSpPr>
          <p:cNvPr id="3" name="Content Placeholder 2"/>
          <p:cNvSpPr>
            <a:spLocks noGrp="1"/>
          </p:cNvSpPr>
          <p:nvPr>
            <p:ph idx="1"/>
          </p:nvPr>
        </p:nvSpPr>
        <p:spPr/>
        <p:txBody>
          <a:bodyPr>
            <a:normAutofit/>
          </a:bodyPr>
          <a:lstStyle/>
          <a:p>
            <a:pPr marL="514350" indent="-514350">
              <a:buAutoNum type="arabicPeriod"/>
            </a:pPr>
            <a:r>
              <a:rPr lang="en-US" sz="2000" dirty="0" smtClean="0">
                <a:latin typeface="Times New Roman" pitchFamily="18" charset="0"/>
                <a:cs typeface="Times New Roman" pitchFamily="18" charset="0"/>
              </a:rPr>
              <a:t>We are having years of data and we must process it.</a:t>
            </a:r>
          </a:p>
          <a:p>
            <a:pPr marL="514350" indent="-514350">
              <a:buAutoNum type="arabicPeriod"/>
            </a:pPr>
            <a:r>
              <a:rPr lang="en-US" sz="2000" dirty="0" smtClean="0">
                <a:latin typeface="Times New Roman" pitchFamily="18" charset="0"/>
                <a:cs typeface="Times New Roman" pitchFamily="18" charset="0"/>
              </a:rPr>
              <a:t>We will select only required variables and perform a test to see temp is valid or not.</a:t>
            </a:r>
          </a:p>
          <a:p>
            <a:pPr marL="514350" indent="-514350">
              <a:buAutoNum type="arabicPeriod"/>
            </a:pPr>
            <a:r>
              <a:rPr lang="en-US" sz="2000" dirty="0" smtClean="0">
                <a:latin typeface="Times New Roman" pitchFamily="18" charset="0"/>
                <a:cs typeface="Times New Roman" pitchFamily="18" charset="0"/>
              </a:rPr>
              <a:t>9999 – represents Missing Values</a:t>
            </a:r>
          </a:p>
          <a:p>
            <a:pPr marL="514350" indent="-514350">
              <a:buAutoNum type="arabicPeriod"/>
            </a:pPr>
            <a:r>
              <a:rPr lang="en-US" sz="2000" dirty="0" smtClean="0">
                <a:latin typeface="Times New Roman" pitchFamily="18" charset="0"/>
                <a:cs typeface="Times New Roman" pitchFamily="18" charset="0"/>
              </a:rPr>
              <a:t>After reading the data, temp will be compared to max seen value so far.</a:t>
            </a:r>
          </a:p>
          <a:p>
            <a:pPr marL="514350" indent="-514350">
              <a:buAutoNum type="arabicPeriod"/>
            </a:pPr>
            <a:r>
              <a:rPr lang="en-US" sz="2000" dirty="0" smtClean="0">
                <a:latin typeface="Times New Roman" pitchFamily="18" charset="0"/>
                <a:cs typeface="Times New Roman" pitchFamily="18" charset="0"/>
              </a:rPr>
              <a:t>At the end we execute maximum temperature.</a:t>
            </a:r>
          </a:p>
          <a:p>
            <a:pPr marL="514350" indent="-514350">
              <a:buAutoNum type="arabicPeriod"/>
            </a:pPr>
            <a:endParaRPr lang="en-US" sz="2000" dirty="0" smtClean="0">
              <a:latin typeface="Times New Roman" pitchFamily="18" charset="0"/>
              <a:cs typeface="Times New Roman" pitchFamily="18" charset="0"/>
            </a:endParaRPr>
          </a:p>
          <a:p>
            <a:pPr marL="514350" indent="-514350">
              <a:buNone/>
            </a:pPr>
            <a:r>
              <a:rPr lang="en-US" sz="2000" dirty="0" smtClean="0">
                <a:latin typeface="Times New Roman" pitchFamily="18" charset="0"/>
                <a:cs typeface="Times New Roman" pitchFamily="18" charset="0"/>
              </a:rPr>
              <a:t>To process 1 Century Data – 42 minutes -1 single EC2</a:t>
            </a:r>
          </a:p>
          <a:p>
            <a:pPr marL="514350" indent="-514350">
              <a:buNone/>
            </a:pPr>
            <a:endParaRPr lang="en-US" sz="2000" dirty="0" smtClean="0">
              <a:latin typeface="Times New Roman" pitchFamily="18" charset="0"/>
              <a:cs typeface="Times New Roman" pitchFamily="18" charset="0"/>
            </a:endParaRPr>
          </a:p>
          <a:p>
            <a:pPr marL="514350" indent="-514350">
              <a:buFont typeface="Wingdings" pitchFamily="2" charset="2"/>
              <a:buChar char="q"/>
            </a:pPr>
            <a:r>
              <a:rPr lang="en-US" sz="2000" dirty="0" smtClean="0">
                <a:latin typeface="Times New Roman" pitchFamily="18" charset="0"/>
                <a:cs typeface="Times New Roman" pitchFamily="18" charset="0"/>
              </a:rPr>
              <a:t>If we run the program in parallel it may take less time but we have problems.</a:t>
            </a:r>
          </a:p>
          <a:p>
            <a:pPr marL="514350" indent="-514350">
              <a:buNone/>
            </a:pPr>
            <a:r>
              <a:rPr lang="en-US" sz="2000" dirty="0" smtClean="0">
                <a:latin typeface="Times New Roman" pitchFamily="18" charset="0"/>
                <a:cs typeface="Times New Roman" pitchFamily="18" charset="0"/>
              </a:rPr>
              <a:t> </a:t>
            </a:r>
            <a:endParaRPr lang="en-US" sz="2000"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Analyzing data with Unix Tool</a:t>
            </a:r>
            <a:endParaRPr lang="en-US" sz="3600" dirty="0"/>
          </a:p>
        </p:txBody>
      </p:sp>
      <p:sp>
        <p:nvSpPr>
          <p:cNvPr id="3" name="Content Placeholder 2"/>
          <p:cNvSpPr>
            <a:spLocks noGrp="1"/>
          </p:cNvSpPr>
          <p:nvPr>
            <p:ph idx="1"/>
          </p:nvPr>
        </p:nvSpPr>
        <p:spPr/>
        <p:txBody>
          <a:bodyPr>
            <a:normAutofit/>
          </a:bodyPr>
          <a:lstStyle/>
          <a:p>
            <a:pPr marL="514350" indent="-514350">
              <a:buAutoNum type="arabicPeriod"/>
            </a:pPr>
            <a:r>
              <a:rPr lang="en-US" sz="2000" dirty="0" smtClean="0">
                <a:latin typeface="Times New Roman" pitchFamily="18" charset="0"/>
                <a:cs typeface="Times New Roman" pitchFamily="18" charset="0"/>
              </a:rPr>
              <a:t>Dividing the </a:t>
            </a:r>
            <a:r>
              <a:rPr lang="en-US" sz="2000" b="1" dirty="0" smtClean="0">
                <a:solidFill>
                  <a:srgbClr val="0070C0"/>
                </a:solidFill>
                <a:latin typeface="Times New Roman" pitchFamily="18" charset="0"/>
                <a:cs typeface="Times New Roman" pitchFamily="18" charset="0"/>
              </a:rPr>
              <a:t>Work In-to Equal Sizes</a:t>
            </a:r>
            <a:r>
              <a:rPr lang="en-US" sz="2000" dirty="0" smtClean="0">
                <a:latin typeface="Times New Roman" pitchFamily="18" charset="0"/>
                <a:cs typeface="Times New Roman" pitchFamily="18" charset="0"/>
              </a:rPr>
              <a:t> is not easy and file size for every year changes.</a:t>
            </a:r>
          </a:p>
          <a:p>
            <a:pPr marL="514350" indent="-514350">
              <a:buAutoNum type="arabicPeriod"/>
            </a:pPr>
            <a:r>
              <a:rPr lang="en-US" sz="2000" dirty="0" smtClean="0">
                <a:latin typeface="Times New Roman" pitchFamily="18" charset="0"/>
                <a:cs typeface="Times New Roman" pitchFamily="18" charset="0"/>
              </a:rPr>
              <a:t>Larger file will take more time to execute, so we split the data in-to fixed size chunks &amp; assign each chunk to a process.</a:t>
            </a:r>
          </a:p>
          <a:p>
            <a:pPr marL="514350" indent="-514350">
              <a:buAutoNum type="arabicPeriod"/>
            </a:pPr>
            <a:r>
              <a:rPr lang="en-US" sz="2000" dirty="0" smtClean="0">
                <a:latin typeface="Times New Roman" pitchFamily="18" charset="0"/>
                <a:cs typeface="Times New Roman" pitchFamily="18" charset="0"/>
              </a:rPr>
              <a:t>After processing we will be combining the results from independent processes and again we need to process to get final output.</a:t>
            </a:r>
          </a:p>
          <a:p>
            <a:pPr marL="514350" indent="-514350">
              <a:buAutoNum type="arabicPeriod"/>
            </a:pPr>
            <a:r>
              <a:rPr lang="en-US" sz="2000" dirty="0" smtClean="0">
                <a:latin typeface="Times New Roman" pitchFamily="18" charset="0"/>
                <a:cs typeface="Times New Roman" pitchFamily="18" charset="0"/>
              </a:rPr>
              <a:t>Still, it will take </a:t>
            </a:r>
            <a:r>
              <a:rPr lang="en-US" sz="2000" b="1" dirty="0" smtClean="0">
                <a:solidFill>
                  <a:srgbClr val="0070C0"/>
                </a:solidFill>
                <a:latin typeface="Times New Roman" pitchFamily="18" charset="0"/>
                <a:cs typeface="Times New Roman" pitchFamily="18" charset="0"/>
              </a:rPr>
              <a:t>20 minutes</a:t>
            </a:r>
            <a:r>
              <a:rPr lang="en-US" sz="2000" dirty="0" smtClean="0">
                <a:latin typeface="Times New Roman" pitchFamily="18" charset="0"/>
                <a:cs typeface="Times New Roman" pitchFamily="18" charset="0"/>
              </a:rPr>
              <a:t> and we can’t go beyond and some-times it becomes messy too.</a:t>
            </a:r>
            <a:endParaRPr lang="en-US" sz="2000"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Analyzing Data with Hadoop</a:t>
            </a:r>
            <a:endParaRPr lang="en-US" sz="36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US" dirty="0" smtClean="0"/>
              <a:t>Map Reduce</a:t>
            </a:r>
            <a:endParaRPr lang="en-US" dirty="0"/>
          </a:p>
        </p:txBody>
      </p:sp>
      <p:pic>
        <p:nvPicPr>
          <p:cNvPr id="4" name="Picture 3" descr="map_reduce2.PNG"/>
          <p:cNvPicPr>
            <a:picLocks noChangeAspect="1"/>
          </p:cNvPicPr>
          <p:nvPr/>
        </p:nvPicPr>
        <p:blipFill>
          <a:blip r:embed="rId2"/>
          <a:stretch>
            <a:fillRect/>
          </a:stretch>
        </p:blipFill>
        <p:spPr>
          <a:xfrm>
            <a:off x="685800" y="2590800"/>
            <a:ext cx="7767084" cy="3429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Analyzing Data with Hadoop</a:t>
            </a:r>
            <a:endParaRPr lang="en-US" sz="3600" dirty="0"/>
          </a:p>
        </p:txBody>
      </p:sp>
      <p:sp>
        <p:nvSpPr>
          <p:cNvPr id="3" name="Content Placeholder 2"/>
          <p:cNvSpPr>
            <a:spLocks noGrp="1"/>
          </p:cNvSpPr>
          <p:nvPr>
            <p:ph idx="1"/>
          </p:nvPr>
        </p:nvSpPr>
        <p:spPr/>
        <p:txBody>
          <a:bodyPr/>
          <a:lstStyle/>
          <a:p>
            <a:r>
              <a:rPr lang="en-US" dirty="0" smtClean="0"/>
              <a:t>Input – NCDC Data</a:t>
            </a:r>
          </a:p>
          <a:p>
            <a:pPr>
              <a:buNone/>
            </a:pPr>
            <a:endParaRPr lang="en-US" dirty="0" smtClean="0"/>
          </a:p>
          <a:p>
            <a:r>
              <a:rPr lang="en-US" dirty="0" smtClean="0"/>
              <a:t>Map Function – Data Preparation</a:t>
            </a:r>
          </a:p>
          <a:p>
            <a:pPr>
              <a:buNone/>
            </a:pPr>
            <a:endParaRPr lang="en-US" dirty="0" smtClean="0"/>
          </a:p>
          <a:p>
            <a:r>
              <a:rPr lang="en-US" dirty="0" smtClean="0"/>
              <a:t>Reduce Function – Finding Max. Temperature</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Hadoop Streaming</a:t>
            </a:r>
            <a:br>
              <a:rPr lang="en-US" sz="3600" b="1" dirty="0" smtClean="0">
                <a:solidFill>
                  <a:srgbClr val="FF0000"/>
                </a:solidFill>
                <a:latin typeface="Times New Roman" pitchFamily="18" charset="0"/>
                <a:cs typeface="Times New Roman" pitchFamily="18" charset="0"/>
              </a:rPr>
            </a:br>
            <a:endParaRPr lang="en-US" sz="36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sz="2000" dirty="0" smtClean="0">
                <a:latin typeface="Times New Roman" pitchFamily="18" charset="0"/>
                <a:cs typeface="Times New Roman" pitchFamily="18" charset="0"/>
              </a:rPr>
              <a:t>It is a utility that comes with Hadoop distribution.</a:t>
            </a:r>
          </a:p>
          <a:p>
            <a:pPr marL="0" indent="0">
              <a:buNone/>
            </a:pPr>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It allows the developers to write Map Reduce programs in any programming language like Ruby, Perl, C++, Python … etc.</a:t>
            </a:r>
          </a:p>
          <a:p>
            <a:pPr marL="0" indent="0">
              <a:buNone/>
            </a:pPr>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Generally Hadoop Frame Work is built completely by using java. So, Map Reduce programs also run in java language only.</a:t>
            </a:r>
          </a:p>
          <a:p>
            <a:pPr marL="0" indent="0">
              <a:buNone/>
            </a:pPr>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Unix Stream will be like an interface between Hadoop and language which we want to write.</a:t>
            </a:r>
          </a:p>
          <a:p>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xmlns="" val="266656277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0600"/>
            <a:ext cx="8229600" cy="1143000"/>
          </a:xfrm>
        </p:spPr>
        <p:txBody>
          <a:bodyPr>
            <a:normAutofit/>
          </a:bodyPr>
          <a:lstStyle/>
          <a:p>
            <a:r>
              <a:rPr lang="en-US" sz="3600" b="1" dirty="0">
                <a:solidFill>
                  <a:srgbClr val="FF0000"/>
                </a:solidFill>
                <a:latin typeface="Times New Roman" pitchFamily="18" charset="0"/>
                <a:cs typeface="Times New Roman" pitchFamily="18" charset="0"/>
              </a:rPr>
              <a:t>Hadoop Streaming</a:t>
            </a:r>
            <a:br>
              <a:rPr lang="en-US" sz="3600" b="1" dirty="0">
                <a:solidFill>
                  <a:srgbClr val="FF0000"/>
                </a:solidFill>
                <a:latin typeface="Times New Roman" pitchFamily="18" charset="0"/>
                <a:cs typeface="Times New Roman" pitchFamily="18" charset="0"/>
              </a:rPr>
            </a:br>
            <a:endParaRPr lang="en-US" sz="3600" dirty="0"/>
          </a:p>
        </p:txBody>
      </p:sp>
      <p:sp>
        <p:nvSpPr>
          <p:cNvPr id="3" name="Content Placeholder 2"/>
          <p:cNvSpPr>
            <a:spLocks noGrp="1"/>
          </p:cNvSpPr>
          <p:nvPr>
            <p:ph idx="1"/>
          </p:nvPr>
        </p:nvSpPr>
        <p:spPr/>
        <p:txBody>
          <a:bodyPr>
            <a:normAutofit/>
          </a:bodyPr>
          <a:lstStyle/>
          <a:p>
            <a:r>
              <a:rPr lang="en-US" sz="2000" dirty="0" smtClean="0">
                <a:latin typeface="Times New Roman" pitchFamily="18" charset="0"/>
                <a:cs typeface="Times New Roman" pitchFamily="18" charset="0"/>
              </a:rPr>
              <a:t>Here we will be having 2 scripts.</a:t>
            </a:r>
          </a:p>
          <a:p>
            <a:pPr lvl="2"/>
            <a:r>
              <a:rPr lang="en-US" sz="2000" dirty="0" smtClean="0">
                <a:latin typeface="Times New Roman" pitchFamily="18" charset="0"/>
                <a:cs typeface="Times New Roman" pitchFamily="18" charset="0"/>
              </a:rPr>
              <a:t> External Mapper </a:t>
            </a:r>
            <a:r>
              <a:rPr lang="en-US" sz="2000" dirty="0">
                <a:latin typeface="Times New Roman" pitchFamily="18" charset="0"/>
                <a:cs typeface="Times New Roman" pitchFamily="18" charset="0"/>
              </a:rPr>
              <a:t>Script</a:t>
            </a:r>
          </a:p>
          <a:p>
            <a:pPr lvl="2"/>
            <a:r>
              <a:rPr lang="en-US" sz="2000" dirty="0" smtClean="0">
                <a:latin typeface="Times New Roman" pitchFamily="18" charset="0"/>
                <a:cs typeface="Times New Roman" pitchFamily="18" charset="0"/>
              </a:rPr>
              <a:t> External Reducer Script</a:t>
            </a:r>
          </a:p>
          <a:p>
            <a:pPr lvl="2">
              <a:buNone/>
            </a:pPr>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Suppose we have written both (Map &amp; Reducer) the scripts in python only.</a:t>
            </a:r>
          </a:p>
          <a:p>
            <a:pPr>
              <a:buNone/>
            </a:pPr>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So, both the scripts take input from STDIN (Standard Input) and  create intermediate key-value pairs with help of STDOUT (Standard Output) and send to Internal Mapper / Reducer.</a:t>
            </a:r>
          </a:p>
          <a:p>
            <a:endParaRPr lang="en-US" sz="2000" dirty="0">
              <a:latin typeface="Times New Roman" pitchFamily="18" charset="0"/>
              <a:cs typeface="Times New Roman" pitchFamily="18" charset="0"/>
            </a:endParaRPr>
          </a:p>
          <a:p>
            <a:endParaRPr lang="en-US" sz="2000" dirty="0" smtClean="0">
              <a:latin typeface="Times New Roman" pitchFamily="18" charset="0"/>
              <a:cs typeface="Times New Roman" pitchFamily="18" charset="0"/>
            </a:endParaRPr>
          </a:p>
          <a:p>
            <a:pPr marL="667512" lvl="2" indent="0">
              <a:buNone/>
            </a:pP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xmlns="" val="71851615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dirty="0">
                <a:solidFill>
                  <a:srgbClr val="FF0000"/>
                </a:solidFill>
                <a:latin typeface="Times New Roman" pitchFamily="18" charset="0"/>
                <a:cs typeface="Times New Roman" pitchFamily="18" charset="0"/>
              </a:rPr>
              <a:t>Hadoop Streaming</a:t>
            </a:r>
            <a:br>
              <a:rPr lang="en-US" sz="2400" b="1" dirty="0">
                <a:solidFill>
                  <a:srgbClr val="FF0000"/>
                </a:solidFill>
                <a:latin typeface="Times New Roman" pitchFamily="18" charset="0"/>
                <a:cs typeface="Times New Roman" pitchFamily="18" charset="0"/>
              </a:rPr>
            </a:br>
            <a:endParaRPr lang="en-US" sz="2400" dirty="0"/>
          </a:p>
        </p:txBody>
      </p:sp>
      <p:sp>
        <p:nvSpPr>
          <p:cNvPr id="3" name="Text Placeholder 2"/>
          <p:cNvSpPr>
            <a:spLocks noGrp="1"/>
          </p:cNvSpPr>
          <p:nvPr>
            <p:ph type="body" idx="2"/>
          </p:nvPr>
        </p:nvSpPr>
        <p:spPr/>
        <p:txBody>
          <a:bodyPr>
            <a:noAutofit/>
          </a:bodyPr>
          <a:lstStyle/>
          <a:p>
            <a:pPr marL="285750" indent="-285750"/>
            <a:r>
              <a:rPr lang="en-US" sz="1800" dirty="0" smtClean="0">
                <a:latin typeface="Times New Roman" pitchFamily="18" charset="0"/>
                <a:cs typeface="Times New Roman" pitchFamily="18" charset="0"/>
              </a:rPr>
              <a:t>1. Input </a:t>
            </a:r>
            <a:r>
              <a:rPr lang="en-US" sz="1800" dirty="0">
                <a:latin typeface="Times New Roman" pitchFamily="18" charset="0"/>
                <a:cs typeface="Times New Roman" pitchFamily="18" charset="0"/>
              </a:rPr>
              <a:t>Reader </a:t>
            </a:r>
            <a:r>
              <a:rPr lang="en-US" sz="1800" dirty="0" smtClean="0">
                <a:latin typeface="Times New Roman" pitchFamily="18" charset="0"/>
                <a:cs typeface="Times New Roman" pitchFamily="18" charset="0"/>
              </a:rPr>
              <a:t>is </a:t>
            </a:r>
            <a:r>
              <a:rPr lang="en-US" sz="1800" dirty="0">
                <a:latin typeface="Times New Roman" pitchFamily="18" charset="0"/>
                <a:cs typeface="Times New Roman" pitchFamily="18" charset="0"/>
              </a:rPr>
              <a:t>responsible for reading the input data and produces the list of key-value </a:t>
            </a:r>
            <a:r>
              <a:rPr lang="en-US" sz="1800" dirty="0" smtClean="0">
                <a:latin typeface="Times New Roman" pitchFamily="18" charset="0"/>
                <a:cs typeface="Times New Roman" pitchFamily="18" charset="0"/>
              </a:rPr>
              <a:t>pairs</a:t>
            </a:r>
          </a:p>
          <a:p>
            <a:pPr marL="285750" indent="-285750"/>
            <a:endParaRPr lang="en-US" sz="1800" dirty="0">
              <a:latin typeface="Times New Roman" pitchFamily="18" charset="0"/>
              <a:cs typeface="Times New Roman" pitchFamily="18" charset="0"/>
            </a:endParaRPr>
          </a:p>
          <a:p>
            <a:pPr marL="285750" indent="-285750"/>
            <a:r>
              <a:rPr lang="en-US" sz="1800" dirty="0" smtClean="0">
                <a:latin typeface="Times New Roman" pitchFamily="18" charset="0"/>
                <a:cs typeface="Times New Roman" pitchFamily="18" charset="0"/>
              </a:rPr>
              <a:t>2.  Internal Mapper  will take the key-value pair  from source, process it and send to STDIN. </a:t>
            </a:r>
          </a:p>
          <a:p>
            <a:pPr marL="285750" indent="-285750">
              <a:buFont typeface="Arial" pitchFamily="34" charset="0"/>
              <a:buChar char="•"/>
            </a:pPr>
            <a:endParaRPr lang="en-US" sz="1800" dirty="0" smtClean="0">
              <a:latin typeface="Times New Roman" pitchFamily="18" charset="0"/>
              <a:cs typeface="Times New Roman" pitchFamily="18" charset="0"/>
            </a:endParaRPr>
          </a:p>
          <a:p>
            <a:pPr marL="285750" indent="-285750"/>
            <a:r>
              <a:rPr lang="en-US" sz="1800" dirty="0" smtClean="0">
                <a:latin typeface="Times New Roman" pitchFamily="18" charset="0"/>
                <a:cs typeface="Times New Roman" pitchFamily="18" charset="0"/>
              </a:rPr>
              <a:t>3. External Mapper will take the input from STDIN , it will create intermediate key-value pairs  with help of STDOUT and send to Internal Mapper.</a:t>
            </a:r>
            <a:endParaRPr lang="en-US" sz="1800" dirty="0">
              <a:latin typeface="Times New Roman" pitchFamily="18" charset="0"/>
              <a:cs typeface="Times New Roman" pitchFamily="18" charset="0"/>
            </a:endParaRPr>
          </a:p>
        </p:txBody>
      </p:sp>
      <p:pic>
        <p:nvPicPr>
          <p:cNvPr id="5" name="Content Placeholder 4"/>
          <p:cNvPicPr>
            <a:picLocks noGrp="1" noChangeAspect="1"/>
          </p:cNvPicPr>
          <p:nvPr>
            <p:ph sz="half" idx="1"/>
          </p:nvPr>
        </p:nvPicPr>
        <p:blipFill>
          <a:blip r:embed="rId2">
            <a:extLst>
              <a:ext uri="{28A0092B-C50C-407E-A947-70E740481C1C}">
                <a14:useLocalDpi xmlns:a14="http://schemas.microsoft.com/office/drawing/2010/main" xmlns="" val="0"/>
              </a:ext>
            </a:extLst>
          </a:blip>
          <a:stretch>
            <a:fillRect/>
          </a:stretch>
        </p:blipFill>
        <p:spPr>
          <a:xfrm>
            <a:off x="3575050" y="3073400"/>
            <a:ext cx="5111750" cy="1778000"/>
          </a:xfrm>
        </p:spPr>
      </p:pic>
      <p:sp>
        <p:nvSpPr>
          <p:cNvPr id="7" name="TextBox 6"/>
          <p:cNvSpPr txBox="1"/>
          <p:nvPr/>
        </p:nvSpPr>
        <p:spPr>
          <a:xfrm>
            <a:off x="4648200" y="5410200"/>
            <a:ext cx="3657600" cy="923330"/>
          </a:xfrm>
          <a:prstGeom prst="rect">
            <a:avLst/>
          </a:prstGeom>
          <a:noFill/>
        </p:spPr>
        <p:txBody>
          <a:bodyPr wrap="square" rtlCol="0">
            <a:spAutoFit/>
          </a:bodyPr>
          <a:lstStyle/>
          <a:p>
            <a:r>
              <a:rPr lang="en-US" dirty="0" smtClean="0"/>
              <a:t>4. Same process will be continued in Reducer also and gives the output.</a:t>
            </a:r>
            <a:endParaRPr lang="en-US" dirty="0"/>
          </a:p>
        </p:txBody>
      </p:sp>
    </p:spTree>
    <p:extLst>
      <p:ext uri="{BB962C8B-B14F-4D97-AF65-F5344CB8AC3E}">
        <p14:creationId xmlns:p14="http://schemas.microsoft.com/office/powerpoint/2010/main" xmlns="" val="101073954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3600" b="1" dirty="0">
                <a:solidFill>
                  <a:srgbClr val="FF0000"/>
                </a:solidFill>
                <a:latin typeface="Times New Roman" pitchFamily="18" charset="0"/>
                <a:cs typeface="Times New Roman" pitchFamily="18" charset="0"/>
              </a:rPr>
              <a:t>Hadoop Pipes</a:t>
            </a:r>
          </a:p>
        </p:txBody>
      </p:sp>
      <p:sp>
        <p:nvSpPr>
          <p:cNvPr id="3" name="Content Placeholder 2"/>
          <p:cNvSpPr>
            <a:spLocks noGrp="1"/>
          </p:cNvSpPr>
          <p:nvPr>
            <p:ph idx="1"/>
          </p:nvPr>
        </p:nvSpPr>
        <p:spPr/>
        <p:txBody>
          <a:bodyPr>
            <a:normAutofit/>
          </a:bodyPr>
          <a:lstStyle/>
          <a:p>
            <a:r>
              <a:rPr lang="en-US" sz="2000" dirty="0" smtClean="0">
                <a:latin typeface="Times New Roman" pitchFamily="18" charset="0"/>
                <a:cs typeface="Times New Roman" pitchFamily="18" charset="0"/>
              </a:rPr>
              <a:t> It is </a:t>
            </a:r>
            <a:r>
              <a:rPr lang="en-US" sz="2000" dirty="0">
                <a:latin typeface="Times New Roman" pitchFamily="18" charset="0"/>
                <a:cs typeface="Times New Roman" pitchFamily="18" charset="0"/>
              </a:rPr>
              <a:t>a </a:t>
            </a:r>
            <a:r>
              <a:rPr lang="en-US" sz="2000" b="1" dirty="0" smtClean="0">
                <a:solidFill>
                  <a:srgbClr val="0070C0"/>
                </a:solidFill>
                <a:latin typeface="Times New Roman" pitchFamily="18" charset="0"/>
                <a:cs typeface="Times New Roman" pitchFamily="18" charset="0"/>
              </a:rPr>
              <a:t>Deprecated (Not Approved) API And Framework</a:t>
            </a:r>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for writing </a:t>
            </a:r>
            <a:r>
              <a:rPr lang="en-US" sz="2000" dirty="0" smtClean="0">
                <a:latin typeface="Times New Roman" pitchFamily="18" charset="0"/>
                <a:cs typeface="Times New Roman" pitchFamily="18" charset="0"/>
              </a:rPr>
              <a:t>Map Reduce </a:t>
            </a:r>
            <a:r>
              <a:rPr lang="en-US" sz="2000" dirty="0">
                <a:latin typeface="Times New Roman" pitchFamily="18" charset="0"/>
                <a:cs typeface="Times New Roman" pitchFamily="18" charset="0"/>
              </a:rPr>
              <a:t>applications in C++ and other languages that can be executed on the Hadoop distributed computing framework. </a:t>
            </a:r>
            <a:endParaRPr lang="en-US" sz="2000" dirty="0" smtClean="0">
              <a:latin typeface="Times New Roman" pitchFamily="18" charset="0"/>
              <a:cs typeface="Times New Roman" pitchFamily="18" charset="0"/>
            </a:endParaRPr>
          </a:p>
          <a:p>
            <a:pPr marL="0" indent="0">
              <a:buNone/>
            </a:pPr>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It </a:t>
            </a:r>
            <a:r>
              <a:rPr lang="en-US" sz="2000" dirty="0">
                <a:latin typeface="Times New Roman" pitchFamily="18" charset="0"/>
                <a:cs typeface="Times New Roman" pitchFamily="18" charset="0"/>
              </a:rPr>
              <a:t>was </a:t>
            </a:r>
            <a:r>
              <a:rPr lang="en-US" sz="2000" dirty="0" smtClean="0">
                <a:latin typeface="Times New Roman" pitchFamily="18" charset="0"/>
                <a:cs typeface="Times New Roman" pitchFamily="18" charset="0"/>
              </a:rPr>
              <a:t>developed before </a:t>
            </a:r>
            <a:r>
              <a:rPr lang="en-US" sz="2000" dirty="0">
                <a:latin typeface="Times New Roman" pitchFamily="18" charset="0"/>
                <a:cs typeface="Times New Roman" pitchFamily="18" charset="0"/>
              </a:rPr>
              <a:t>more user-friendly APIs like Hadoop Streaming and Hadoop Java API gained popularity</a:t>
            </a:r>
            <a:r>
              <a:rPr lang="en-US" sz="2000" dirty="0" smtClean="0">
                <a:latin typeface="Times New Roman" pitchFamily="18" charset="0"/>
                <a:cs typeface="Times New Roman" pitchFamily="18" charset="0"/>
              </a:rPr>
              <a:t>.</a:t>
            </a:r>
          </a:p>
          <a:p>
            <a:endParaRPr lang="en-US" sz="2000" dirty="0" smtClean="0">
              <a:latin typeface="Times New Roman" pitchFamily="18" charset="0"/>
              <a:cs typeface="Times New Roman" pitchFamily="18" charset="0"/>
            </a:endParaRPr>
          </a:p>
          <a:p>
            <a:pPr marL="0" indent="0">
              <a:buNone/>
            </a:pPr>
            <a:r>
              <a:rPr lang="en-US" sz="2000" dirty="0" smtClean="0">
                <a:latin typeface="Times New Roman" pitchFamily="18" charset="0"/>
                <a:cs typeface="Times New Roman" pitchFamily="18" charset="0"/>
              </a:rPr>
              <a:t>Key Points About Hadoop Pipes:-</a:t>
            </a:r>
          </a:p>
          <a:p>
            <a:endParaRPr lang="en-US" sz="2000" dirty="0">
              <a:latin typeface="Times New Roman" pitchFamily="18" charset="0"/>
              <a:cs typeface="Times New Roman" pitchFamily="18" charset="0"/>
            </a:endParaRPr>
          </a:p>
          <a:p>
            <a:pPr marL="0" indent="0">
              <a:buNone/>
            </a:pPr>
            <a:r>
              <a:rPr lang="en-US" sz="2000" b="1" dirty="0">
                <a:latin typeface="Times New Roman" pitchFamily="18" charset="0"/>
                <a:cs typeface="Times New Roman" pitchFamily="18" charset="0"/>
              </a:rPr>
              <a:t>Complexity</a:t>
            </a:r>
            <a:r>
              <a:rPr lang="en-US" sz="2000" dirty="0">
                <a:latin typeface="Times New Roman" pitchFamily="18" charset="0"/>
                <a:cs typeface="Times New Roman" pitchFamily="18" charset="0"/>
              </a:rPr>
              <a:t>: Hadoop Pipes could be more challenging to work with compared to other Hadoop programming APIs because it required developers to manage input and output streams manually, which could lead to more complex code.</a:t>
            </a:r>
          </a:p>
        </p:txBody>
      </p:sp>
    </p:spTree>
    <p:extLst>
      <p:ext uri="{BB962C8B-B14F-4D97-AF65-F5344CB8AC3E}">
        <p14:creationId xmlns:p14="http://schemas.microsoft.com/office/powerpoint/2010/main" xmlns="" val="27337452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sz="3600" b="1" dirty="0">
                <a:solidFill>
                  <a:srgbClr val="FF0000"/>
                </a:solidFill>
                <a:latin typeface="Times New Roman" pitchFamily="18" charset="0"/>
                <a:cs typeface="Times New Roman" pitchFamily="18" charset="0"/>
              </a:rPr>
              <a:t>Hadoop Pipes</a:t>
            </a:r>
            <a:endParaRPr lang="en-US" sz="3600" dirty="0"/>
          </a:p>
        </p:txBody>
      </p:sp>
      <p:sp>
        <p:nvSpPr>
          <p:cNvPr id="3" name="Content Placeholder 2"/>
          <p:cNvSpPr>
            <a:spLocks noGrp="1"/>
          </p:cNvSpPr>
          <p:nvPr>
            <p:ph idx="1"/>
          </p:nvPr>
        </p:nvSpPr>
        <p:spPr/>
        <p:txBody>
          <a:bodyPr>
            <a:normAutofit/>
          </a:bodyPr>
          <a:lstStyle/>
          <a:p>
            <a:pPr marL="0" indent="0">
              <a:buNone/>
            </a:pPr>
            <a:r>
              <a:rPr lang="en-US" sz="2000" b="1" dirty="0">
                <a:latin typeface="Times New Roman" pitchFamily="18" charset="0"/>
                <a:cs typeface="Times New Roman" pitchFamily="18" charset="0"/>
              </a:rPr>
              <a:t>Performance</a:t>
            </a:r>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Hadoop </a:t>
            </a:r>
            <a:r>
              <a:rPr lang="en-US" sz="2000" dirty="0">
                <a:latin typeface="Times New Roman" pitchFamily="18" charset="0"/>
                <a:cs typeface="Times New Roman" pitchFamily="18" charset="0"/>
              </a:rPr>
              <a:t>Pipes might not be as efficient as writing </a:t>
            </a:r>
            <a:r>
              <a:rPr lang="en-US" sz="2000" dirty="0" smtClean="0">
                <a:latin typeface="Times New Roman" pitchFamily="18" charset="0"/>
                <a:cs typeface="Times New Roman" pitchFamily="18" charset="0"/>
              </a:rPr>
              <a:t>Map Reduce </a:t>
            </a:r>
            <a:r>
              <a:rPr lang="en-US" sz="2000" dirty="0">
                <a:latin typeface="Times New Roman" pitchFamily="18" charset="0"/>
                <a:cs typeface="Times New Roman" pitchFamily="18" charset="0"/>
              </a:rPr>
              <a:t>code directly in Java for certain use cases</a:t>
            </a:r>
            <a:r>
              <a:rPr lang="en-US" sz="2000" dirty="0" smtClean="0">
                <a:latin typeface="Times New Roman" pitchFamily="18" charset="0"/>
                <a:cs typeface="Times New Roman" pitchFamily="18" charset="0"/>
              </a:rPr>
              <a:t>.</a:t>
            </a:r>
          </a:p>
          <a:p>
            <a:pPr marL="0" indent="0">
              <a:buNone/>
            </a:pPr>
            <a:endParaRPr lang="en-US" sz="2000" dirty="0">
              <a:latin typeface="Times New Roman" pitchFamily="18" charset="0"/>
              <a:cs typeface="Times New Roman" pitchFamily="18" charset="0"/>
            </a:endParaRPr>
          </a:p>
          <a:p>
            <a:pPr marL="0" indent="0">
              <a:buNone/>
            </a:pPr>
            <a:r>
              <a:rPr lang="en-US" sz="2000" b="1" dirty="0">
                <a:latin typeface="Times New Roman" pitchFamily="18" charset="0"/>
                <a:cs typeface="Times New Roman" pitchFamily="18" charset="0"/>
              </a:rPr>
              <a:t>Migration</a:t>
            </a:r>
            <a:r>
              <a:rPr lang="en-US" sz="2000" dirty="0">
                <a:latin typeface="Times New Roman" pitchFamily="18" charset="0"/>
                <a:cs typeface="Times New Roman" pitchFamily="18" charset="0"/>
              </a:rPr>
              <a:t>: If you have existing Hadoop Pipes code, it's advisable to migrate it to one of the more </a:t>
            </a:r>
            <a:r>
              <a:rPr lang="en-US" sz="2000" b="1" dirty="0" smtClean="0">
                <a:solidFill>
                  <a:srgbClr val="0070C0"/>
                </a:solidFill>
                <a:latin typeface="Times New Roman" pitchFamily="18" charset="0"/>
                <a:cs typeface="Times New Roman" pitchFamily="18" charset="0"/>
              </a:rPr>
              <a:t>Modern Hadoop Programming APIs</a:t>
            </a:r>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to take advantage of improved performance and ease of development.</a:t>
            </a:r>
          </a:p>
        </p:txBody>
      </p:sp>
    </p:spTree>
    <p:extLst>
      <p:ext uri="{BB962C8B-B14F-4D97-AF65-F5344CB8AC3E}">
        <p14:creationId xmlns:p14="http://schemas.microsoft.com/office/powerpoint/2010/main" xmlns="" val="4241248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sz="5400" smtClean="0">
                <a:latin typeface="Times New Roman" pitchFamily="18" charset="0"/>
                <a:cs typeface="Times New Roman" pitchFamily="18" charset="0"/>
              </a:rPr>
              <a:t>HDFS</a:t>
            </a:r>
            <a:endParaRPr lang="en-US" sz="5400" dirty="0">
              <a:latin typeface="Times New Roman" pitchFamily="18" charset="0"/>
              <a:cs typeface="Times New Roman" pitchFamily="18" charset="0"/>
            </a:endParaRPr>
          </a:p>
        </p:txBody>
      </p:sp>
      <p:sp>
        <p:nvSpPr>
          <p:cNvPr id="3" name="Text Placeholder 2"/>
          <p:cNvSpPr>
            <a:spLocks noGrp="1"/>
          </p:cNvSpPr>
          <p:nvPr>
            <p:ph type="body" idx="1"/>
          </p:nvPr>
        </p:nvSpPr>
        <p:spPr/>
        <p:txBody>
          <a:bodyPr>
            <a:noAutofit/>
          </a:bodyPr>
          <a:lstStyle/>
          <a:p>
            <a:pPr algn="ctr"/>
            <a:endParaRPr lang="en-US" sz="2800" dirty="0" smtClean="0">
              <a:latin typeface="Times New Roman" pitchFamily="18" charset="0"/>
              <a:cs typeface="Times New Roman" pitchFamily="18" charset="0"/>
            </a:endParaRPr>
          </a:p>
          <a:p>
            <a:pPr algn="ctr"/>
            <a:r>
              <a:rPr lang="en-US" sz="2800" dirty="0" smtClean="0">
                <a:latin typeface="Times New Roman" pitchFamily="18" charset="0"/>
                <a:cs typeface="Times New Roman" pitchFamily="18" charset="0"/>
              </a:rPr>
              <a:t>Hadoop Distributed File System – Design of HDFS, Different Concepts,  Basic File Systems Operations, Interfaces, Data Flow.</a:t>
            </a:r>
            <a:endParaRPr lang="en-US" sz="2800" dirty="0">
              <a:latin typeface="Times New Roman" pitchFamily="18" charset="0"/>
              <a:cs typeface="Times New Roman"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HDFS – Design</a:t>
            </a:r>
            <a:endParaRPr lang="en-US" sz="36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sz="2400" dirty="0" smtClean="0">
                <a:latin typeface="Times New Roman" pitchFamily="18" charset="0"/>
                <a:cs typeface="Times New Roman" pitchFamily="18" charset="0"/>
              </a:rPr>
              <a:t> Very large files – Terabytes, Petabytes</a:t>
            </a:r>
          </a:p>
          <a:p>
            <a:pPr>
              <a:buNone/>
            </a:pP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Streaming Data – Stock Prices, IT System Monitoring,</a:t>
            </a:r>
          </a:p>
          <a:p>
            <a:pPr>
              <a:buNone/>
            </a:pP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Supports Commodity Hardware – less price hardware – no worry of loosing data, it will create replicas.</a:t>
            </a:r>
          </a:p>
          <a:p>
            <a:pPr>
              <a:buNone/>
            </a:pP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Cluster Computation</a:t>
            </a:r>
          </a:p>
          <a:p>
            <a:pPr>
              <a:buNone/>
            </a:pP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Blocks of data</a:t>
            </a:r>
          </a:p>
          <a:p>
            <a:endParaRPr lang="en-US" sz="2400" dirty="0">
              <a:latin typeface="Times New Roman" pitchFamily="18" charset="0"/>
              <a:cs typeface="Times New Roman"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HDFS – Design</a:t>
            </a:r>
            <a:endParaRPr lang="en-US" sz="3600" dirty="0"/>
          </a:p>
        </p:txBody>
      </p:sp>
      <p:sp>
        <p:nvSpPr>
          <p:cNvPr id="3" name="Content Placeholder 2"/>
          <p:cNvSpPr>
            <a:spLocks noGrp="1"/>
          </p:cNvSpPr>
          <p:nvPr>
            <p:ph idx="1"/>
          </p:nvPr>
        </p:nvSpPr>
        <p:spPr/>
        <p:txBody>
          <a:bodyPr>
            <a:normAutofit/>
          </a:bodyPr>
          <a:lstStyle/>
          <a:p>
            <a:r>
              <a:rPr lang="en-US" sz="2000" dirty="0" smtClean="0">
                <a:latin typeface="Times New Roman" pitchFamily="18" charset="0"/>
                <a:cs typeface="Times New Roman" pitchFamily="18" charset="0"/>
              </a:rPr>
              <a:t>Fault Tolerance – Processing will be continued in case of any network failure also.</a:t>
            </a:r>
          </a:p>
          <a:p>
            <a:r>
              <a:rPr lang="en-US" sz="2000" dirty="0" smtClean="0">
                <a:latin typeface="Times New Roman" pitchFamily="18" charset="0"/>
                <a:cs typeface="Times New Roman" pitchFamily="18" charset="0"/>
              </a:rPr>
              <a:t>Distributed &amp; Parallel Computation</a:t>
            </a:r>
          </a:p>
          <a:p>
            <a:r>
              <a:rPr lang="en-US" sz="2000" dirty="0" smtClean="0">
                <a:latin typeface="Times New Roman" pitchFamily="18" charset="0"/>
                <a:cs typeface="Times New Roman" pitchFamily="18" charset="0"/>
              </a:rPr>
              <a:t>Highly Scalable – hundreds of nodes in a single cluster – horizontal scaling.</a:t>
            </a:r>
            <a:endParaRPr lang="en-US" sz="2000" dirty="0">
              <a:latin typeface="Times New Roman" pitchFamily="18" charset="0"/>
              <a:cs typeface="Times New Roman" pitchFamily="18" charset="0"/>
            </a:endParaRPr>
          </a:p>
        </p:txBody>
      </p:sp>
      <p:pic>
        <p:nvPicPr>
          <p:cNvPr id="4" name="Picture 3" descr="hdfs_design.PNG"/>
          <p:cNvPicPr>
            <a:picLocks noChangeAspect="1"/>
          </p:cNvPicPr>
          <p:nvPr/>
        </p:nvPicPr>
        <p:blipFill>
          <a:blip r:embed="rId2"/>
          <a:stretch>
            <a:fillRect/>
          </a:stretch>
        </p:blipFill>
        <p:spPr>
          <a:xfrm>
            <a:off x="1371600" y="3352800"/>
            <a:ext cx="5734851" cy="284837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HDFS - Blocks</a:t>
            </a:r>
            <a:endParaRPr lang="en-US" sz="36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lnSpcReduction="10000"/>
          </a:bodyPr>
          <a:lstStyle/>
          <a:p>
            <a:r>
              <a:rPr lang="en-US" sz="2000" dirty="0" smtClean="0">
                <a:latin typeface="Times New Roman" pitchFamily="18" charset="0"/>
                <a:cs typeface="Times New Roman" pitchFamily="18" charset="0"/>
              </a:rPr>
              <a:t>In HDFS, data is divided into blocks, and these blocks are distributed across a cluster of machines for fault tolerance and high availability. </a:t>
            </a:r>
          </a:p>
          <a:p>
            <a:pPr>
              <a:buNone/>
            </a:pPr>
            <a:endParaRPr lang="en-US"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Here are some key points about blocks in HDFS:</a:t>
            </a:r>
          </a:p>
          <a:p>
            <a:pPr>
              <a:buNone/>
            </a:pPr>
            <a:endParaRPr lang="en-US" sz="2000" dirty="0" smtClean="0">
              <a:latin typeface="Times New Roman" pitchFamily="18" charset="0"/>
              <a:cs typeface="Times New Roman" pitchFamily="18" charset="0"/>
            </a:endParaRPr>
          </a:p>
          <a:p>
            <a:pPr>
              <a:buNone/>
            </a:pPr>
            <a:r>
              <a:rPr lang="en-US" sz="2000" b="1" dirty="0" smtClean="0">
                <a:latin typeface="Times New Roman" pitchFamily="18" charset="0"/>
                <a:cs typeface="Times New Roman" pitchFamily="18" charset="0"/>
              </a:rPr>
              <a:t>Block Size</a:t>
            </a:r>
            <a:r>
              <a:rPr lang="en-US" sz="2000" dirty="0" smtClean="0">
                <a:latin typeface="Times New Roman" pitchFamily="18" charset="0"/>
                <a:cs typeface="Times New Roman" pitchFamily="18" charset="0"/>
              </a:rPr>
              <a:t>: HDFS divides files into </a:t>
            </a:r>
            <a:r>
              <a:rPr lang="en-US" sz="2000" b="1" dirty="0" smtClean="0">
                <a:solidFill>
                  <a:srgbClr val="0070C0"/>
                </a:solidFill>
                <a:latin typeface="Times New Roman" pitchFamily="18" charset="0"/>
                <a:cs typeface="Times New Roman" pitchFamily="18" charset="0"/>
              </a:rPr>
              <a:t>Fixed-size Blocks</a:t>
            </a:r>
            <a:r>
              <a:rPr lang="en-US" sz="2000" dirty="0" smtClean="0">
                <a:latin typeface="Times New Roman" pitchFamily="18" charset="0"/>
                <a:cs typeface="Times New Roman" pitchFamily="18" charset="0"/>
              </a:rPr>
              <a:t>, typically 128 MB or 256 MB in size, although the block size is configurable. </a:t>
            </a:r>
          </a:p>
          <a:p>
            <a:pPr>
              <a:buNone/>
            </a:pPr>
            <a:endParaRPr lang="en-US" sz="2000" dirty="0" smtClean="0">
              <a:latin typeface="Times New Roman" pitchFamily="18" charset="0"/>
              <a:cs typeface="Times New Roman" pitchFamily="18" charset="0"/>
            </a:endParaRPr>
          </a:p>
          <a:p>
            <a:pPr>
              <a:buNone/>
            </a:pPr>
            <a:r>
              <a:rPr lang="en-US" sz="2000" b="1" dirty="0" smtClean="0">
                <a:latin typeface="Times New Roman" pitchFamily="18" charset="0"/>
                <a:cs typeface="Times New Roman" pitchFamily="18" charset="0"/>
              </a:rPr>
              <a:t>Data Replication</a:t>
            </a:r>
            <a:r>
              <a:rPr lang="en-US" sz="2000" dirty="0" smtClean="0">
                <a:latin typeface="Times New Roman" pitchFamily="18" charset="0"/>
                <a:cs typeface="Times New Roman" pitchFamily="18" charset="0"/>
              </a:rPr>
              <a:t>: HDFS </a:t>
            </a:r>
            <a:r>
              <a:rPr lang="en-US" sz="2000" b="1" dirty="0" smtClean="0">
                <a:solidFill>
                  <a:srgbClr val="0070C0"/>
                </a:solidFill>
                <a:latin typeface="Times New Roman" pitchFamily="18" charset="0"/>
                <a:cs typeface="Times New Roman" pitchFamily="18" charset="0"/>
              </a:rPr>
              <a:t>Replicates Each Block </a:t>
            </a:r>
            <a:r>
              <a:rPr lang="en-US" sz="2000" dirty="0" smtClean="0">
                <a:latin typeface="Times New Roman" pitchFamily="18" charset="0"/>
                <a:cs typeface="Times New Roman" pitchFamily="18" charset="0"/>
              </a:rPr>
              <a:t> multiple times (usually three times) across different data nodes in the cluster. </a:t>
            </a:r>
          </a:p>
          <a:p>
            <a:pPr>
              <a:buNone/>
            </a:pPr>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This replication provides fault tolerance, as it ensures that if a data node or block becomes unavailable due to hardware failure or other issues, there are still copies of the data available elsewhere in the cluster.</a:t>
            </a:r>
          </a:p>
          <a:p>
            <a:endParaRPr lang="en-US" sz="2000" dirty="0" smtClean="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HDFS - Blocks</a:t>
            </a:r>
            <a:endParaRPr lang="en-US" sz="3600" dirty="0"/>
          </a:p>
        </p:txBody>
      </p:sp>
      <p:sp>
        <p:nvSpPr>
          <p:cNvPr id="3" name="Content Placeholder 2"/>
          <p:cNvSpPr>
            <a:spLocks noGrp="1"/>
          </p:cNvSpPr>
          <p:nvPr>
            <p:ph idx="1"/>
          </p:nvPr>
        </p:nvSpPr>
        <p:spPr/>
        <p:txBody>
          <a:bodyPr>
            <a:normAutofit fontScale="92500" lnSpcReduction="10000"/>
          </a:bodyPr>
          <a:lstStyle/>
          <a:p>
            <a:pPr>
              <a:buNone/>
            </a:pPr>
            <a:r>
              <a:rPr lang="en-US" sz="2000" b="1" dirty="0" smtClean="0">
                <a:latin typeface="Times New Roman" pitchFamily="18" charset="0"/>
                <a:cs typeface="Times New Roman" pitchFamily="18" charset="0"/>
              </a:rPr>
              <a:t>Data Distribution</a:t>
            </a:r>
            <a:r>
              <a:rPr lang="en-US" sz="2000" dirty="0" smtClean="0">
                <a:latin typeface="Times New Roman" pitchFamily="18" charset="0"/>
                <a:cs typeface="Times New Roman" pitchFamily="18" charset="0"/>
              </a:rPr>
              <a:t>: When a file is stored in HDFS, it is divided into blocks, and these blocks are distributed across </a:t>
            </a:r>
            <a:r>
              <a:rPr lang="en-US" sz="2000" b="1" dirty="0" smtClean="0">
                <a:solidFill>
                  <a:srgbClr val="0070C0"/>
                </a:solidFill>
                <a:latin typeface="Times New Roman" pitchFamily="18" charset="0"/>
                <a:cs typeface="Times New Roman" pitchFamily="18" charset="0"/>
              </a:rPr>
              <a:t>Different Data Nodes In The Cluster</a:t>
            </a:r>
            <a:r>
              <a:rPr lang="en-US" sz="2000" dirty="0" smtClean="0">
                <a:latin typeface="Times New Roman" pitchFamily="18" charset="0"/>
                <a:cs typeface="Times New Roman" pitchFamily="18" charset="0"/>
              </a:rPr>
              <a:t>.</a:t>
            </a:r>
          </a:p>
          <a:p>
            <a:r>
              <a:rPr lang="en-US" sz="2000" dirty="0" smtClean="0">
                <a:latin typeface="Times New Roman" pitchFamily="18" charset="0"/>
                <a:cs typeface="Times New Roman" pitchFamily="18" charset="0"/>
              </a:rPr>
              <a:t>The distribution is managed by the Hadoop Name Node and Data Nodes, which keep track of where each block is located.</a:t>
            </a:r>
          </a:p>
          <a:p>
            <a:pPr>
              <a:buNone/>
            </a:pPr>
            <a:endParaRPr lang="en-US" sz="2000" dirty="0" smtClean="0">
              <a:latin typeface="Times New Roman" pitchFamily="18" charset="0"/>
              <a:cs typeface="Times New Roman" pitchFamily="18" charset="0"/>
            </a:endParaRPr>
          </a:p>
          <a:p>
            <a:pPr>
              <a:buNone/>
            </a:pPr>
            <a:r>
              <a:rPr lang="en-US" sz="2000" b="1" dirty="0" smtClean="0">
                <a:latin typeface="Times New Roman" pitchFamily="18" charset="0"/>
                <a:cs typeface="Times New Roman" pitchFamily="18" charset="0"/>
              </a:rPr>
              <a:t>Block Placement</a:t>
            </a:r>
            <a:r>
              <a:rPr lang="en-US" sz="2000" dirty="0" smtClean="0">
                <a:latin typeface="Times New Roman" pitchFamily="18" charset="0"/>
                <a:cs typeface="Times New Roman" pitchFamily="18" charset="0"/>
              </a:rPr>
              <a:t>: HDFS aims to place block replicas on </a:t>
            </a:r>
            <a:r>
              <a:rPr lang="en-US" sz="2000" b="1" dirty="0" smtClean="0">
                <a:solidFill>
                  <a:srgbClr val="0070C0"/>
                </a:solidFill>
                <a:latin typeface="Times New Roman" pitchFamily="18" charset="0"/>
                <a:cs typeface="Times New Roman" pitchFamily="18" charset="0"/>
              </a:rPr>
              <a:t>Different Racks</a:t>
            </a:r>
            <a:r>
              <a:rPr lang="en-US" sz="2000" dirty="0" smtClean="0">
                <a:latin typeface="Times New Roman" pitchFamily="18" charset="0"/>
                <a:cs typeface="Times New Roman" pitchFamily="18" charset="0"/>
              </a:rPr>
              <a:t> to ensure data availability even in the event of a rack failure. </a:t>
            </a:r>
          </a:p>
          <a:p>
            <a:r>
              <a:rPr lang="en-US" sz="2000" dirty="0" smtClean="0">
                <a:latin typeface="Times New Roman" pitchFamily="18" charset="0"/>
                <a:cs typeface="Times New Roman" pitchFamily="18" charset="0"/>
              </a:rPr>
              <a:t>The system tries to maintain a balance between rack-locality and data distribution.</a:t>
            </a:r>
          </a:p>
          <a:p>
            <a:endParaRPr lang="en-US" sz="2000" dirty="0" smtClean="0">
              <a:latin typeface="Times New Roman" pitchFamily="18" charset="0"/>
              <a:cs typeface="Times New Roman" pitchFamily="18" charset="0"/>
            </a:endParaRPr>
          </a:p>
          <a:p>
            <a:pPr>
              <a:buNone/>
            </a:pPr>
            <a:r>
              <a:rPr lang="en-US" sz="2000" b="1" dirty="0" smtClean="0">
                <a:latin typeface="Times New Roman" pitchFamily="18" charset="0"/>
                <a:cs typeface="Times New Roman" pitchFamily="18" charset="0"/>
              </a:rPr>
              <a:t>Block Replication Management</a:t>
            </a:r>
            <a:r>
              <a:rPr lang="en-US" sz="2000" dirty="0" smtClean="0">
                <a:latin typeface="Times New Roman" pitchFamily="18" charset="0"/>
                <a:cs typeface="Times New Roman" pitchFamily="18" charset="0"/>
              </a:rPr>
              <a:t>: HDFS constantly </a:t>
            </a:r>
            <a:r>
              <a:rPr lang="en-US" sz="2000" b="1" dirty="0" smtClean="0">
                <a:solidFill>
                  <a:srgbClr val="0070C0"/>
                </a:solidFill>
                <a:latin typeface="Times New Roman" pitchFamily="18" charset="0"/>
                <a:cs typeface="Times New Roman" pitchFamily="18" charset="0"/>
              </a:rPr>
              <a:t>Monitors The Health Of Data </a:t>
            </a:r>
            <a:r>
              <a:rPr lang="en-US" sz="2000" dirty="0" smtClean="0">
                <a:latin typeface="Times New Roman" pitchFamily="18" charset="0"/>
                <a:cs typeface="Times New Roman" pitchFamily="18" charset="0"/>
              </a:rPr>
              <a:t>nodes and the replication status of blocks. </a:t>
            </a:r>
          </a:p>
          <a:p>
            <a:r>
              <a:rPr lang="en-US" sz="2000" dirty="0" smtClean="0">
                <a:latin typeface="Times New Roman" pitchFamily="18" charset="0"/>
                <a:cs typeface="Times New Roman" pitchFamily="18" charset="0"/>
              </a:rPr>
              <a:t>If a data node or block becomes unavailable, it replicates (Replace) the missing blocks to maintain the desired level of replication.</a:t>
            </a:r>
            <a:endParaRPr lang="en-US" sz="2000" dirty="0">
              <a:latin typeface="Times New Roman" pitchFamily="18" charset="0"/>
              <a:cs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HDFS – Name Nodes  &amp; Data Nodes</a:t>
            </a:r>
            <a:endParaRPr lang="en-US" sz="36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Autofit/>
          </a:bodyPr>
          <a:lstStyle/>
          <a:p>
            <a:pPr>
              <a:buNone/>
            </a:pPr>
            <a:r>
              <a:rPr lang="en-US" sz="2000" dirty="0" smtClean="0">
                <a:latin typeface="Times New Roman" pitchFamily="18" charset="0"/>
                <a:cs typeface="Times New Roman" pitchFamily="18" charset="0"/>
              </a:rPr>
              <a:t>There are two key types of nodes that play distinct roles in managing and storing data: Name Nodes and Data Nodes. </a:t>
            </a:r>
          </a:p>
          <a:p>
            <a:pPr>
              <a:buNone/>
            </a:pPr>
            <a:endParaRPr lang="en-US"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These nodes are essential components of the HDFS architecture:</a:t>
            </a:r>
          </a:p>
          <a:p>
            <a:pPr>
              <a:buNone/>
            </a:pPr>
            <a:r>
              <a:rPr lang="en-US" sz="2800" b="1" dirty="0" smtClean="0">
                <a:latin typeface="Times New Roman" pitchFamily="18" charset="0"/>
                <a:cs typeface="Times New Roman" pitchFamily="18" charset="0"/>
              </a:rPr>
              <a:t>Name Node:-</a:t>
            </a:r>
          </a:p>
          <a:p>
            <a:pPr lvl="1"/>
            <a:r>
              <a:rPr lang="en-US" sz="2000" dirty="0" smtClean="0">
                <a:latin typeface="Times New Roman" pitchFamily="18" charset="0"/>
                <a:cs typeface="Times New Roman" pitchFamily="18" charset="0"/>
              </a:rPr>
              <a:t>Name Node serves as the </a:t>
            </a:r>
            <a:r>
              <a:rPr lang="en-US" sz="2000" b="1" dirty="0" smtClean="0">
                <a:solidFill>
                  <a:srgbClr val="0070C0"/>
                </a:solidFill>
                <a:latin typeface="Times New Roman" pitchFamily="18" charset="0"/>
                <a:cs typeface="Times New Roman" pitchFamily="18" charset="0"/>
              </a:rPr>
              <a:t>Master Server</a:t>
            </a:r>
            <a:r>
              <a:rPr lang="en-US" sz="2000" dirty="0" smtClean="0">
                <a:latin typeface="Times New Roman" pitchFamily="18" charset="0"/>
                <a:cs typeface="Times New Roman" pitchFamily="18" charset="0"/>
              </a:rPr>
              <a:t>.</a:t>
            </a:r>
          </a:p>
          <a:p>
            <a:pPr lvl="1"/>
            <a:r>
              <a:rPr lang="en-US" sz="2000" dirty="0" smtClean="0">
                <a:latin typeface="Times New Roman" pitchFamily="18" charset="0"/>
                <a:cs typeface="Times New Roman" pitchFamily="18" charset="0"/>
              </a:rPr>
              <a:t>It is responsible for managing the </a:t>
            </a:r>
            <a:r>
              <a:rPr lang="en-US" sz="2000" b="1" dirty="0" smtClean="0">
                <a:solidFill>
                  <a:srgbClr val="0070C0"/>
                </a:solidFill>
                <a:latin typeface="Times New Roman" pitchFamily="18" charset="0"/>
                <a:cs typeface="Times New Roman" pitchFamily="18" charset="0"/>
              </a:rPr>
              <a:t>Metadata And Name Space</a:t>
            </a:r>
            <a:r>
              <a:rPr lang="en-US" sz="2000" dirty="0" smtClean="0">
                <a:latin typeface="Times New Roman" pitchFamily="18" charset="0"/>
                <a:cs typeface="Times New Roman" pitchFamily="18" charset="0"/>
              </a:rPr>
              <a:t> of the file system.</a:t>
            </a:r>
          </a:p>
          <a:p>
            <a:pPr lvl="1"/>
            <a:r>
              <a:rPr lang="en-US" sz="2000" dirty="0" smtClean="0">
                <a:latin typeface="Times New Roman" pitchFamily="18" charset="0"/>
                <a:cs typeface="Times New Roman" pitchFamily="18" charset="0"/>
              </a:rPr>
              <a:t>Metadata includes information about </a:t>
            </a:r>
            <a:r>
              <a:rPr lang="en-US" sz="2000" b="1" dirty="0" smtClean="0">
                <a:solidFill>
                  <a:srgbClr val="0070C0"/>
                </a:solidFill>
                <a:latin typeface="Times New Roman" pitchFamily="18" charset="0"/>
                <a:cs typeface="Times New Roman" pitchFamily="18" charset="0"/>
              </a:rPr>
              <a:t>file</a:t>
            </a:r>
            <a:r>
              <a:rPr lang="en-US" sz="2000" dirty="0" smtClean="0">
                <a:latin typeface="Times New Roman" pitchFamily="18" charset="0"/>
                <a:cs typeface="Times New Roman" pitchFamily="18" charset="0"/>
              </a:rPr>
              <a:t> and </a:t>
            </a:r>
            <a:r>
              <a:rPr lang="en-US" sz="2000" b="1" dirty="0" smtClean="0">
                <a:solidFill>
                  <a:srgbClr val="0070C0"/>
                </a:solidFill>
                <a:latin typeface="Times New Roman" pitchFamily="18" charset="0"/>
                <a:cs typeface="Times New Roman" pitchFamily="18" charset="0"/>
              </a:rPr>
              <a:t>Directory Structures</a:t>
            </a:r>
            <a:r>
              <a:rPr lang="en-US" sz="2000" dirty="0" smtClean="0">
                <a:latin typeface="Times New Roman" pitchFamily="18" charset="0"/>
                <a:cs typeface="Times New Roman" pitchFamily="18" charset="0"/>
              </a:rPr>
              <a:t>, </a:t>
            </a:r>
            <a:r>
              <a:rPr lang="en-US" sz="2000" b="1" dirty="0" smtClean="0">
                <a:solidFill>
                  <a:srgbClr val="0070C0"/>
                </a:solidFill>
                <a:latin typeface="Times New Roman" pitchFamily="18" charset="0"/>
                <a:cs typeface="Times New Roman" pitchFamily="18" charset="0"/>
              </a:rPr>
              <a:t>Permissions</a:t>
            </a:r>
            <a:r>
              <a:rPr lang="en-US" sz="2000" dirty="0" smtClean="0">
                <a:latin typeface="Times New Roman" pitchFamily="18" charset="0"/>
                <a:cs typeface="Times New Roman" pitchFamily="18" charset="0"/>
              </a:rPr>
              <a:t>, and the </a:t>
            </a:r>
            <a:r>
              <a:rPr lang="en-US" sz="2000" b="1" dirty="0" smtClean="0">
                <a:solidFill>
                  <a:srgbClr val="0070C0"/>
                </a:solidFill>
                <a:latin typeface="Times New Roman" pitchFamily="18" charset="0"/>
                <a:cs typeface="Times New Roman" pitchFamily="18" charset="0"/>
              </a:rPr>
              <a:t>Mapping Of Data</a:t>
            </a:r>
            <a:r>
              <a:rPr lang="en-US" sz="2000" dirty="0" smtClean="0">
                <a:latin typeface="Times New Roman" pitchFamily="18" charset="0"/>
                <a:cs typeface="Times New Roman" pitchFamily="18" charset="0"/>
              </a:rPr>
              <a:t> blocks to files.</a:t>
            </a:r>
          </a:p>
          <a:p>
            <a:pPr lvl="1"/>
            <a:r>
              <a:rPr lang="en-US" sz="2000" dirty="0" smtClean="0">
                <a:latin typeface="Times New Roman" pitchFamily="18" charset="0"/>
                <a:cs typeface="Times New Roman" pitchFamily="18" charset="0"/>
              </a:rPr>
              <a:t>The Name Node does not store the actual data but keeps track of where the data blocks are located in the cluster.</a:t>
            </a:r>
          </a:p>
          <a:p>
            <a:pPr lvl="1"/>
            <a:endParaRPr lang="en-US" sz="2000" dirty="0" smtClean="0">
              <a:latin typeface="Times New Roman" pitchFamily="18" charset="0"/>
              <a:cs typeface="Times New Roman" pitchFamily="18" charset="0"/>
            </a:endParaRPr>
          </a:p>
          <a:p>
            <a:pPr lvl="1"/>
            <a:endParaRPr lang="en-US" sz="2000" dirty="0" smtClean="0">
              <a:latin typeface="Times New Roman" pitchFamily="18" charset="0"/>
              <a:cs typeface="Times New Roman" pitchFamily="18" charset="0"/>
            </a:endParaRPr>
          </a:p>
          <a:p>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endParaRPr lang="en-US" sz="2000" dirty="0">
              <a:latin typeface="Times New Roman" pitchFamily="18" charset="0"/>
              <a:cs typeface="Times New Roman"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HDFS – Name Nodes  &amp; Data Nodes</a:t>
            </a:r>
            <a:endParaRPr lang="en-US" sz="3600" dirty="0"/>
          </a:p>
        </p:txBody>
      </p:sp>
      <p:sp>
        <p:nvSpPr>
          <p:cNvPr id="3" name="Content Placeholder 2"/>
          <p:cNvSpPr>
            <a:spLocks noGrp="1"/>
          </p:cNvSpPr>
          <p:nvPr>
            <p:ph idx="1"/>
          </p:nvPr>
        </p:nvSpPr>
        <p:spPr/>
        <p:txBody>
          <a:bodyPr>
            <a:normAutofit fontScale="92500" lnSpcReduction="20000"/>
          </a:bodyPr>
          <a:lstStyle/>
          <a:p>
            <a:r>
              <a:rPr lang="en-US" sz="2000" dirty="0" smtClean="0">
                <a:latin typeface="Times New Roman" pitchFamily="18" charset="0"/>
                <a:cs typeface="Times New Roman" pitchFamily="18" charset="0"/>
              </a:rPr>
              <a:t>If the Name Node fails, the entire file system becomes in-operable. Therefore, ensuring the high availability of the Name Node is crucial, often achieved using technologies like HA (High Availability) Name Node configurations.</a:t>
            </a:r>
          </a:p>
          <a:p>
            <a:pPr>
              <a:buNone/>
            </a:pPr>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It maintains an in-memory data structure called the "namespace image" and a journal or edit log to record changes to the file system.</a:t>
            </a:r>
          </a:p>
          <a:p>
            <a:pPr>
              <a:buNone/>
            </a:pPr>
            <a:endParaRPr lang="en-US" sz="2000" dirty="0" smtClean="0">
              <a:latin typeface="Times New Roman" pitchFamily="18" charset="0"/>
              <a:cs typeface="Times New Roman" pitchFamily="18" charset="0"/>
            </a:endParaRPr>
          </a:p>
          <a:p>
            <a:pPr>
              <a:buNone/>
            </a:pPr>
            <a:r>
              <a:rPr lang="en-US" sz="3000" b="1" dirty="0" smtClean="0">
                <a:latin typeface="Times New Roman" pitchFamily="18" charset="0"/>
                <a:cs typeface="Times New Roman" pitchFamily="18" charset="0"/>
              </a:rPr>
              <a:t>Data Node:-</a:t>
            </a:r>
          </a:p>
          <a:p>
            <a:pPr lvl="1"/>
            <a:r>
              <a:rPr lang="en-US" sz="2000" dirty="0" smtClean="0">
                <a:latin typeface="Times New Roman" pitchFamily="18" charset="0"/>
                <a:cs typeface="Times New Roman" pitchFamily="18" charset="0"/>
              </a:rPr>
              <a:t>Data Nodes are </a:t>
            </a:r>
            <a:r>
              <a:rPr lang="en-US" sz="2000" b="1" dirty="0" smtClean="0">
                <a:solidFill>
                  <a:srgbClr val="0070C0"/>
                </a:solidFill>
                <a:latin typeface="Times New Roman" pitchFamily="18" charset="0"/>
                <a:cs typeface="Times New Roman" pitchFamily="18" charset="0"/>
              </a:rPr>
              <a:t>Worker Nodes</a:t>
            </a:r>
            <a:r>
              <a:rPr lang="en-US" sz="2000" dirty="0" smtClean="0">
                <a:latin typeface="Times New Roman" pitchFamily="18" charset="0"/>
                <a:cs typeface="Times New Roman" pitchFamily="18" charset="0"/>
              </a:rPr>
              <a:t> within the HDFS cluster.</a:t>
            </a:r>
          </a:p>
          <a:p>
            <a:pPr lvl="1"/>
            <a:r>
              <a:rPr lang="en-US" sz="2000" dirty="0" smtClean="0">
                <a:latin typeface="Times New Roman" pitchFamily="18" charset="0"/>
                <a:cs typeface="Times New Roman" pitchFamily="18" charset="0"/>
              </a:rPr>
              <a:t>These nodes are responsible for </a:t>
            </a:r>
            <a:r>
              <a:rPr lang="en-US" sz="2000" b="1" dirty="0" smtClean="0">
                <a:solidFill>
                  <a:srgbClr val="0070C0"/>
                </a:solidFill>
                <a:latin typeface="Times New Roman" pitchFamily="18" charset="0"/>
                <a:cs typeface="Times New Roman" pitchFamily="18" charset="0"/>
              </a:rPr>
              <a:t>Storing The Actual Data Blocks.</a:t>
            </a:r>
          </a:p>
          <a:p>
            <a:pPr lvl="1"/>
            <a:r>
              <a:rPr lang="en-US" sz="2000" dirty="0" smtClean="0">
                <a:latin typeface="Times New Roman" pitchFamily="18" charset="0"/>
                <a:cs typeface="Times New Roman" pitchFamily="18" charset="0"/>
              </a:rPr>
              <a:t>Each Data Node</a:t>
            </a:r>
            <a:r>
              <a:rPr lang="en-US" sz="2000" b="1" dirty="0" smtClean="0">
                <a:solidFill>
                  <a:srgbClr val="0070C0"/>
                </a:solidFill>
                <a:latin typeface="Times New Roman" pitchFamily="18" charset="0"/>
                <a:cs typeface="Times New Roman" pitchFamily="18" charset="0"/>
              </a:rPr>
              <a:t> Periodically Sends Heartbeat Signals </a:t>
            </a:r>
            <a:r>
              <a:rPr lang="en-US" sz="2000" dirty="0" smtClean="0">
                <a:latin typeface="Times New Roman" pitchFamily="18" charset="0"/>
                <a:cs typeface="Times New Roman" pitchFamily="18" charset="0"/>
              </a:rPr>
              <a:t>to the Name Node to report its status and the list of data blocks it is hosting.</a:t>
            </a:r>
          </a:p>
          <a:p>
            <a:pPr lvl="1"/>
            <a:r>
              <a:rPr lang="en-US" sz="2000" dirty="0" smtClean="0">
                <a:latin typeface="Times New Roman" pitchFamily="18" charset="0"/>
                <a:cs typeface="Times New Roman" pitchFamily="18" charset="0"/>
              </a:rPr>
              <a:t>Data Nodes also handle read and write requests from clients. When a client wants to read or write data, it communicates directly with the Data Nodes hosting the relevant data blocks.</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HDFS – Name Nodes  &amp; Data Nodes</a:t>
            </a:r>
            <a:endParaRPr lang="en-US" sz="3600" dirty="0"/>
          </a:p>
        </p:txBody>
      </p:sp>
      <p:sp>
        <p:nvSpPr>
          <p:cNvPr id="3" name="Content Placeholder 2"/>
          <p:cNvSpPr>
            <a:spLocks noGrp="1"/>
          </p:cNvSpPr>
          <p:nvPr>
            <p:ph idx="1"/>
          </p:nvPr>
        </p:nvSpPr>
        <p:spPr/>
        <p:txBody>
          <a:bodyPr>
            <a:noAutofit/>
          </a:bodyPr>
          <a:lstStyle/>
          <a:p>
            <a:pPr>
              <a:buNone/>
            </a:pPr>
            <a:endParaRPr lang="en-US" sz="2000" dirty="0" smtClean="0">
              <a:latin typeface="Times New Roman" pitchFamily="18" charset="0"/>
              <a:cs typeface="Times New Roman" pitchFamily="18" charset="0"/>
            </a:endParaRPr>
          </a:p>
          <a:p>
            <a:pPr lvl="1"/>
            <a:r>
              <a:rPr lang="en-US" sz="2000" dirty="0" smtClean="0">
                <a:latin typeface="Times New Roman" pitchFamily="18" charset="0"/>
                <a:cs typeface="Times New Roman" pitchFamily="18" charset="0"/>
              </a:rPr>
              <a:t>Data Nodes are designed to be commodity hardware, and HDFS can distribute data blocks across multiple Data Nodes for fault tolerance and scalability.</a:t>
            </a:r>
          </a:p>
          <a:p>
            <a:pPr lvl="1">
              <a:buNone/>
            </a:pPr>
            <a:endParaRPr lang="en-US" sz="2000" dirty="0" smtClean="0">
              <a:latin typeface="Times New Roman" pitchFamily="18" charset="0"/>
              <a:cs typeface="Times New Roman" pitchFamily="18" charset="0"/>
            </a:endParaRPr>
          </a:p>
          <a:p>
            <a:pPr lvl="1"/>
            <a:r>
              <a:rPr lang="en-US" sz="2000" dirty="0" smtClean="0">
                <a:latin typeface="Times New Roman" pitchFamily="18" charset="0"/>
                <a:cs typeface="Times New Roman" pitchFamily="18" charset="0"/>
              </a:rPr>
              <a:t>If a Data Node fails or becomes unresponsive, the Name Node can detect this through the absence of heartbeats and replicate the data blocks hosted on the failed Data Node to other healthy Data Nodes to maintain data availability.</a:t>
            </a:r>
          </a:p>
          <a:p>
            <a:pPr>
              <a:buNone/>
            </a:pPr>
            <a:endParaRPr lang="en-US" sz="2000" dirty="0">
              <a:latin typeface="Times New Roman" pitchFamily="18" charset="0"/>
              <a:cs typeface="Times New Roman"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HDFS – Block Caching</a:t>
            </a:r>
            <a:endParaRPr lang="en-US" sz="36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a:bodyPr>
          <a:lstStyle/>
          <a:p>
            <a:pPr>
              <a:buNone/>
            </a:pPr>
            <a:r>
              <a:rPr lang="en-US" sz="2000" dirty="0" smtClean="0">
                <a:latin typeface="Times New Roman" pitchFamily="18" charset="0"/>
                <a:cs typeface="Times New Roman" pitchFamily="18" charset="0"/>
              </a:rPr>
              <a:t>Block caching is especially beneficial for  workloads that involve </a:t>
            </a:r>
            <a:r>
              <a:rPr lang="en-US" sz="2000" b="1" dirty="0" smtClean="0">
                <a:solidFill>
                  <a:srgbClr val="0070C0"/>
                </a:solidFill>
                <a:latin typeface="Times New Roman" pitchFamily="18" charset="0"/>
                <a:cs typeface="Times New Roman" pitchFamily="18" charset="0"/>
              </a:rPr>
              <a:t>Frequent Reads Of The Same Data.</a:t>
            </a:r>
          </a:p>
          <a:p>
            <a:pPr>
              <a:buNone/>
            </a:pPr>
            <a:endParaRPr lang="en-US"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Here's how block caching works in HDFS:</a:t>
            </a:r>
          </a:p>
          <a:p>
            <a:pPr>
              <a:buNone/>
            </a:pPr>
            <a:endParaRPr lang="en-US" sz="2000" dirty="0" smtClean="0">
              <a:latin typeface="Times New Roman" pitchFamily="18" charset="0"/>
              <a:cs typeface="Times New Roman" pitchFamily="18" charset="0"/>
            </a:endParaRPr>
          </a:p>
          <a:p>
            <a:pPr>
              <a:buNone/>
            </a:pPr>
            <a:r>
              <a:rPr lang="en-US" sz="2000" b="1" dirty="0" smtClean="0">
                <a:latin typeface="Times New Roman" pitchFamily="18" charset="0"/>
                <a:cs typeface="Times New Roman" pitchFamily="18" charset="0"/>
              </a:rPr>
              <a:t>Block Identification</a:t>
            </a:r>
            <a:r>
              <a:rPr lang="en-US" sz="2000" dirty="0" smtClean="0">
                <a:latin typeface="Times New Roman" pitchFamily="18" charset="0"/>
                <a:cs typeface="Times New Roman" pitchFamily="18" charset="0"/>
              </a:rPr>
              <a:t>: HDFS keeps track of which </a:t>
            </a:r>
            <a:r>
              <a:rPr lang="en-US" sz="2000" b="1" dirty="0" smtClean="0">
                <a:solidFill>
                  <a:srgbClr val="0070C0"/>
                </a:solidFill>
                <a:latin typeface="Times New Roman" pitchFamily="18" charset="0"/>
                <a:cs typeface="Times New Roman" pitchFamily="18" charset="0"/>
              </a:rPr>
              <a:t>Blocks Are Frequently Read</a:t>
            </a:r>
            <a:r>
              <a:rPr lang="en-US" sz="2000" dirty="0" smtClean="0">
                <a:latin typeface="Times New Roman" pitchFamily="18" charset="0"/>
                <a:cs typeface="Times New Roman" pitchFamily="18" charset="0"/>
              </a:rPr>
              <a:t>. </a:t>
            </a:r>
          </a:p>
          <a:p>
            <a:r>
              <a:rPr lang="en-US" sz="2000" dirty="0" smtClean="0">
                <a:latin typeface="Times New Roman" pitchFamily="18" charset="0"/>
                <a:cs typeface="Times New Roman" pitchFamily="18" charset="0"/>
              </a:rPr>
              <a:t>It does this by </a:t>
            </a:r>
            <a:r>
              <a:rPr lang="en-US" sz="2000" b="1" dirty="0" smtClean="0">
                <a:solidFill>
                  <a:srgbClr val="0070C0"/>
                </a:solidFill>
                <a:latin typeface="Times New Roman" pitchFamily="18" charset="0"/>
                <a:cs typeface="Times New Roman" pitchFamily="18" charset="0"/>
              </a:rPr>
              <a:t>Monitoring Read Requests</a:t>
            </a:r>
            <a:r>
              <a:rPr lang="en-US" sz="2000" dirty="0" smtClean="0">
                <a:latin typeface="Times New Roman" pitchFamily="18" charset="0"/>
                <a:cs typeface="Times New Roman" pitchFamily="18" charset="0"/>
              </a:rPr>
              <a:t> and identifying the blocks that are accessed most often.</a:t>
            </a:r>
          </a:p>
          <a:p>
            <a:endParaRPr lang="en-US" sz="2000" dirty="0" smtClean="0">
              <a:latin typeface="Times New Roman" pitchFamily="18" charset="0"/>
              <a:cs typeface="Times New Roman" pitchFamily="18" charset="0"/>
            </a:endParaRPr>
          </a:p>
          <a:p>
            <a:pPr>
              <a:buNone/>
            </a:pPr>
            <a:r>
              <a:rPr lang="en-US" sz="2000" b="1" dirty="0" smtClean="0">
                <a:latin typeface="Times New Roman" pitchFamily="18" charset="0"/>
                <a:cs typeface="Times New Roman" pitchFamily="18" charset="0"/>
              </a:rPr>
              <a:t>Block Promotion</a:t>
            </a:r>
            <a:r>
              <a:rPr lang="en-US" sz="2000" dirty="0" smtClean="0">
                <a:latin typeface="Times New Roman" pitchFamily="18" charset="0"/>
                <a:cs typeface="Times New Roman" pitchFamily="18" charset="0"/>
              </a:rPr>
              <a:t>: When HDFS determines that a particular block is frequently read, it can promote this block to be </a:t>
            </a:r>
            <a:r>
              <a:rPr lang="en-US" sz="2000" b="1" dirty="0" smtClean="0">
                <a:solidFill>
                  <a:srgbClr val="0070C0"/>
                </a:solidFill>
                <a:latin typeface="Times New Roman" pitchFamily="18" charset="0"/>
                <a:cs typeface="Times New Roman" pitchFamily="18" charset="0"/>
              </a:rPr>
              <a:t>Cached In Memory On The Data Nodes</a:t>
            </a:r>
            <a:r>
              <a:rPr lang="en-US" sz="2000" dirty="0" smtClean="0">
                <a:latin typeface="Times New Roman" pitchFamily="18" charset="0"/>
                <a:cs typeface="Times New Roman" pitchFamily="18" charset="0"/>
              </a:rPr>
              <a:t>. </a:t>
            </a:r>
          </a:p>
          <a:p>
            <a:r>
              <a:rPr lang="en-US" sz="2000" dirty="0" smtClean="0">
                <a:latin typeface="Times New Roman" pitchFamily="18" charset="0"/>
                <a:cs typeface="Times New Roman" pitchFamily="18" charset="0"/>
              </a:rPr>
              <a:t>This means that the block is loaded into the RAM of the Data Node, making subsequent </a:t>
            </a:r>
            <a:r>
              <a:rPr lang="en-US" sz="2000" b="1" dirty="0" smtClean="0">
                <a:solidFill>
                  <a:srgbClr val="0070C0"/>
                </a:solidFill>
                <a:latin typeface="Times New Roman" pitchFamily="18" charset="0"/>
                <a:cs typeface="Times New Roman" pitchFamily="18" charset="0"/>
              </a:rPr>
              <a:t>Read Requests For That Block Much Faster.</a:t>
            </a:r>
          </a:p>
          <a:p>
            <a:endParaRPr lang="en-US" sz="2000" dirty="0">
              <a:latin typeface="Times New Roman" pitchFamily="18" charset="0"/>
              <a:cs typeface="Times New Roman"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HDFS – Block Caching</a:t>
            </a:r>
            <a:endParaRPr lang="en-US" sz="3600" dirty="0"/>
          </a:p>
        </p:txBody>
      </p:sp>
      <p:sp>
        <p:nvSpPr>
          <p:cNvPr id="3" name="Content Placeholder 2"/>
          <p:cNvSpPr>
            <a:spLocks noGrp="1"/>
          </p:cNvSpPr>
          <p:nvPr>
            <p:ph idx="1"/>
          </p:nvPr>
        </p:nvSpPr>
        <p:spPr/>
        <p:txBody>
          <a:bodyPr>
            <a:noAutofit/>
          </a:bodyPr>
          <a:lstStyle/>
          <a:p>
            <a:pPr>
              <a:buNone/>
            </a:pPr>
            <a:r>
              <a:rPr lang="en-US" sz="1800" b="1" dirty="0" smtClean="0">
                <a:latin typeface="Times New Roman" pitchFamily="18" charset="0"/>
                <a:cs typeface="Times New Roman" pitchFamily="18" charset="0"/>
              </a:rPr>
              <a:t>Block Eviction</a:t>
            </a:r>
            <a:r>
              <a:rPr lang="en-US" sz="1800" dirty="0" smtClean="0">
                <a:latin typeface="Times New Roman" pitchFamily="18" charset="0"/>
                <a:cs typeface="Times New Roman" pitchFamily="18" charset="0"/>
              </a:rPr>
              <a:t>: To manage memory resources efficiently, HDFS also supports block eviction. If the cache becomes full or if other blocks need to be cached due to frequent access,</a:t>
            </a:r>
            <a:r>
              <a:rPr lang="en-US" sz="1800" b="1" dirty="0" smtClean="0">
                <a:solidFill>
                  <a:srgbClr val="0070C0"/>
                </a:solidFill>
                <a:latin typeface="Times New Roman" pitchFamily="18" charset="0"/>
                <a:cs typeface="Times New Roman" pitchFamily="18" charset="0"/>
              </a:rPr>
              <a:t> Less Frequently Accessed Blocks Are Evicted From The Cache To Make Room For New Ones</a:t>
            </a:r>
            <a:r>
              <a:rPr lang="en-US" sz="1800" dirty="0" smtClean="0">
                <a:latin typeface="Times New Roman" pitchFamily="18" charset="0"/>
                <a:cs typeface="Times New Roman" pitchFamily="18" charset="0"/>
              </a:rPr>
              <a:t>. Evicted blocks are not deleted but are simply removed from memory.</a:t>
            </a:r>
          </a:p>
          <a:p>
            <a:pPr>
              <a:buNone/>
            </a:pPr>
            <a:r>
              <a:rPr lang="en-US" sz="1800" b="1" dirty="0" smtClean="0">
                <a:latin typeface="Times New Roman" pitchFamily="18" charset="0"/>
                <a:cs typeface="Times New Roman" pitchFamily="18" charset="0"/>
              </a:rPr>
              <a:t>Read Acceleration</a:t>
            </a:r>
            <a:r>
              <a:rPr lang="en-US" sz="1800" dirty="0" smtClean="0">
                <a:latin typeface="Times New Roman" pitchFamily="18" charset="0"/>
                <a:cs typeface="Times New Roman" pitchFamily="18" charset="0"/>
              </a:rPr>
              <a:t>: When a client requests a block that is cached in memory, the Data Node can respond much faster because it doesn't have to read the data from disk. Instead, it can </a:t>
            </a:r>
            <a:r>
              <a:rPr lang="en-US" sz="1800" b="1" dirty="0" smtClean="0">
                <a:solidFill>
                  <a:srgbClr val="0070C0"/>
                </a:solidFill>
                <a:latin typeface="Times New Roman" pitchFamily="18" charset="0"/>
                <a:cs typeface="Times New Roman" pitchFamily="18" charset="0"/>
              </a:rPr>
              <a:t>Directly Serve The Data From The Cache</a:t>
            </a:r>
            <a:r>
              <a:rPr lang="en-US" sz="1800" dirty="0" smtClean="0">
                <a:latin typeface="Times New Roman" pitchFamily="18" charset="0"/>
                <a:cs typeface="Times New Roman" pitchFamily="18" charset="0"/>
              </a:rPr>
              <a:t>.</a:t>
            </a:r>
          </a:p>
          <a:p>
            <a:pPr>
              <a:buNone/>
            </a:pPr>
            <a:r>
              <a:rPr lang="en-US" sz="1800" b="1" dirty="0" smtClean="0">
                <a:latin typeface="Times New Roman" pitchFamily="18" charset="0"/>
                <a:cs typeface="Times New Roman" pitchFamily="18" charset="0"/>
              </a:rPr>
              <a:t>Cache Configuration</a:t>
            </a:r>
            <a:r>
              <a:rPr lang="en-US" sz="1800" dirty="0" smtClean="0">
                <a:latin typeface="Times New Roman" pitchFamily="18" charset="0"/>
                <a:cs typeface="Times New Roman" pitchFamily="18" charset="0"/>
              </a:rPr>
              <a:t>: HDFS provides configuration options to control the behavior of block caching, including the size of the cache, the eviction policy (e.g., LRU - Least Recently Used), and which files or directories should be cached.</a:t>
            </a:r>
          </a:p>
          <a:p>
            <a:pPr>
              <a:buNone/>
            </a:pPr>
            <a:r>
              <a:rPr lang="en-US" sz="1800" b="1" dirty="0" smtClean="0">
                <a:latin typeface="Times New Roman" pitchFamily="18" charset="0"/>
                <a:cs typeface="Times New Roman" pitchFamily="18" charset="0"/>
              </a:rPr>
              <a:t>Client Awareness</a:t>
            </a:r>
            <a:r>
              <a:rPr lang="en-US" sz="1800" dirty="0" smtClean="0">
                <a:latin typeface="Times New Roman" pitchFamily="18" charset="0"/>
                <a:cs typeface="Times New Roman" pitchFamily="18" charset="0"/>
              </a:rPr>
              <a:t>: HDFS clients are aware of block caching, and they can request blocks to be cached or specify the caching policy. For example, you can </a:t>
            </a:r>
            <a:r>
              <a:rPr lang="en-US" sz="1800" b="1" dirty="0" smtClean="0">
                <a:solidFill>
                  <a:srgbClr val="0070C0"/>
                </a:solidFill>
                <a:latin typeface="Times New Roman" pitchFamily="18" charset="0"/>
                <a:cs typeface="Times New Roman" pitchFamily="18" charset="0"/>
              </a:rPr>
              <a:t>Programmatically Request That Certain Blocks Or Files Be Cached For A Specific Period</a:t>
            </a:r>
            <a:r>
              <a:rPr lang="en-US" sz="1800" dirty="0" smtClean="0">
                <a:latin typeface="Times New Roman" pitchFamily="18" charset="0"/>
                <a:cs typeface="Times New Roman" pitchFamily="18" charset="0"/>
              </a:rPr>
              <a:t>.</a:t>
            </a:r>
          </a:p>
          <a:p>
            <a:endParaRPr lang="en-US" sz="1800" dirty="0">
              <a:latin typeface="Times New Roman" pitchFamily="18" charset="0"/>
              <a:cs typeface="Times New Roman"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r>
              <a:rPr lang="en-US" sz="3200" b="1" dirty="0" smtClean="0">
                <a:solidFill>
                  <a:srgbClr val="FF0000"/>
                </a:solidFill>
                <a:latin typeface="Times New Roman" pitchFamily="18" charset="0"/>
                <a:cs typeface="Times New Roman" pitchFamily="18" charset="0"/>
              </a:rPr>
              <a:t>HDFS Federation – Multiple Name Spaces</a:t>
            </a:r>
            <a:endParaRPr lang="en-US" sz="32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Autofit/>
          </a:bodyPr>
          <a:lstStyle/>
          <a:p>
            <a:r>
              <a:rPr lang="en-US" sz="2000" dirty="0" smtClean="0">
                <a:latin typeface="Times New Roman" pitchFamily="18" charset="0"/>
                <a:cs typeface="Times New Roman" pitchFamily="18" charset="0"/>
              </a:rPr>
              <a:t>Name Spaces play a crucial role in </a:t>
            </a:r>
            <a:r>
              <a:rPr lang="en-US" sz="2000" b="1" dirty="0" smtClean="0">
                <a:solidFill>
                  <a:srgbClr val="0070C0"/>
                </a:solidFill>
                <a:latin typeface="Times New Roman" pitchFamily="18" charset="0"/>
                <a:cs typeface="Times New Roman" pitchFamily="18" charset="0"/>
              </a:rPr>
              <a:t>Organizing And Managing The Storage Of Files And Directories</a:t>
            </a:r>
            <a:r>
              <a:rPr lang="en-US" sz="2000" dirty="0" smtClean="0">
                <a:latin typeface="Times New Roman" pitchFamily="18" charset="0"/>
                <a:cs typeface="Times New Roman" pitchFamily="18" charset="0"/>
              </a:rPr>
              <a:t> and provide a hierarchical structure for storing data.</a:t>
            </a:r>
          </a:p>
          <a:p>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Single Hadoop cluster to be divided into </a:t>
            </a:r>
            <a:r>
              <a:rPr lang="en-US" sz="2000" b="1" dirty="0" smtClean="0">
                <a:solidFill>
                  <a:srgbClr val="0070C0"/>
                </a:solidFill>
                <a:latin typeface="Times New Roman" pitchFamily="18" charset="0"/>
                <a:cs typeface="Times New Roman" pitchFamily="18" charset="0"/>
              </a:rPr>
              <a:t>Multiple Name Spaces</a:t>
            </a:r>
            <a:r>
              <a:rPr lang="en-US" sz="2000" dirty="0" smtClean="0">
                <a:latin typeface="Times New Roman" pitchFamily="18" charset="0"/>
                <a:cs typeface="Times New Roman" pitchFamily="18" charset="0"/>
              </a:rPr>
              <a:t>, each with its own separate file system tree and metadata. </a:t>
            </a:r>
          </a:p>
          <a:p>
            <a:pPr>
              <a:buNone/>
            </a:pPr>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This feature was introduced to </a:t>
            </a:r>
            <a:r>
              <a:rPr lang="en-US" sz="2000" b="1" dirty="0" smtClean="0">
                <a:solidFill>
                  <a:srgbClr val="0070C0"/>
                </a:solidFill>
                <a:latin typeface="Times New Roman" pitchFamily="18" charset="0"/>
                <a:cs typeface="Times New Roman" pitchFamily="18" charset="0"/>
              </a:rPr>
              <a:t>Overcome The Limitations Of The Original HDFS Design</a:t>
            </a:r>
            <a:r>
              <a:rPr lang="en-US" sz="2000" dirty="0" smtClean="0">
                <a:latin typeface="Times New Roman" pitchFamily="18" charset="0"/>
                <a:cs typeface="Times New Roman" pitchFamily="18" charset="0"/>
              </a:rPr>
              <a:t>, which had a single namespace managed by single Name Node and limited scalability.</a:t>
            </a:r>
          </a:p>
          <a:p>
            <a:pPr>
              <a:buNone/>
            </a:pPr>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 Additionally, the storage capacity was also constrained by the resources of a single Name Node.</a:t>
            </a:r>
          </a:p>
          <a:p>
            <a:pPr>
              <a:buNone/>
            </a:pPr>
            <a:endParaRPr lang="en-US" sz="2000" dirty="0" smtClean="0">
              <a:latin typeface="Times New Roman" pitchFamily="18" charset="0"/>
              <a:cs typeface="Times New Roman" pitchFamily="18" charset="0"/>
            </a:endParaRPr>
          </a:p>
          <a:p>
            <a:endParaRPr lang="en-US" sz="2000" dirty="0" smtClean="0">
              <a:latin typeface="Times New Roman" pitchFamily="18" charset="0"/>
              <a:cs typeface="Times New Roman" pitchFamily="18" charset="0"/>
            </a:endParaRPr>
          </a:p>
          <a:p>
            <a:endParaRPr lang="en-US"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endParaRPr lang="en-US" sz="2000" dirty="0">
              <a:latin typeface="Times New Roman" pitchFamily="18" charset="0"/>
              <a:cs typeface="Times New Roman"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HDFS Federation</a:t>
            </a:r>
            <a:endParaRPr lang="en-US" sz="3600" dirty="0"/>
          </a:p>
        </p:txBody>
      </p:sp>
      <p:sp>
        <p:nvSpPr>
          <p:cNvPr id="3" name="Content Placeholder 2"/>
          <p:cNvSpPr>
            <a:spLocks noGrp="1"/>
          </p:cNvSpPr>
          <p:nvPr>
            <p:ph idx="1"/>
          </p:nvPr>
        </p:nvSpPr>
        <p:spPr/>
        <p:txBody>
          <a:bodyPr>
            <a:noAutofit/>
          </a:bodyPr>
          <a:lstStyle/>
          <a:p>
            <a:pPr>
              <a:buNone/>
            </a:pPr>
            <a:r>
              <a:rPr lang="en-US" sz="2000" dirty="0" smtClean="0">
                <a:latin typeface="Times New Roman" pitchFamily="18" charset="0"/>
                <a:cs typeface="Times New Roman" pitchFamily="18" charset="0"/>
              </a:rPr>
              <a:t>Key features of HDFS Federation include:</a:t>
            </a:r>
            <a:endParaRPr lang="en-US" sz="2000" b="1" dirty="0" smtClean="0">
              <a:latin typeface="Times New Roman" pitchFamily="18" charset="0"/>
              <a:cs typeface="Times New Roman" pitchFamily="18" charset="0"/>
            </a:endParaRPr>
          </a:p>
          <a:p>
            <a:endParaRPr lang="en-US" sz="2000" b="1" dirty="0" smtClean="0">
              <a:latin typeface="Times New Roman" pitchFamily="18" charset="0"/>
              <a:cs typeface="Times New Roman" pitchFamily="18" charset="0"/>
            </a:endParaRPr>
          </a:p>
          <a:p>
            <a:r>
              <a:rPr lang="en-US" sz="2000" b="1" dirty="0" smtClean="0">
                <a:latin typeface="Times New Roman" pitchFamily="18" charset="0"/>
                <a:cs typeface="Times New Roman" pitchFamily="18" charset="0"/>
              </a:rPr>
              <a:t>Multiple Namespaces</a:t>
            </a:r>
          </a:p>
          <a:p>
            <a:endParaRPr lang="en-US" sz="2000" dirty="0" smtClean="0">
              <a:latin typeface="Times New Roman" pitchFamily="18" charset="0"/>
              <a:cs typeface="Times New Roman" pitchFamily="18" charset="0"/>
            </a:endParaRPr>
          </a:p>
          <a:p>
            <a:r>
              <a:rPr lang="en-US" sz="2000" b="1" dirty="0" smtClean="0">
                <a:latin typeface="Times New Roman" pitchFamily="18" charset="0"/>
                <a:cs typeface="Times New Roman" pitchFamily="18" charset="0"/>
              </a:rPr>
              <a:t>Multiple Name Nodes:</a:t>
            </a:r>
            <a:r>
              <a:rPr lang="en-US" sz="2000" dirty="0" smtClean="0">
                <a:latin typeface="Times New Roman" pitchFamily="18" charset="0"/>
                <a:cs typeface="Times New Roman" pitchFamily="18" charset="0"/>
              </a:rPr>
              <a:t> This allows for parallel processing of metadata operations and improved fault tolerance.</a:t>
            </a:r>
          </a:p>
          <a:p>
            <a:endParaRPr lang="en-US" sz="2000" dirty="0" smtClean="0">
              <a:latin typeface="Times New Roman" pitchFamily="18" charset="0"/>
              <a:cs typeface="Times New Roman" pitchFamily="18" charset="0"/>
            </a:endParaRPr>
          </a:p>
          <a:p>
            <a:r>
              <a:rPr lang="en-US" sz="2000" b="1" dirty="0" smtClean="0">
                <a:latin typeface="Times New Roman" pitchFamily="18" charset="0"/>
                <a:cs typeface="Times New Roman" pitchFamily="18" charset="0"/>
              </a:rPr>
              <a:t>Increased Scalability:</a:t>
            </a:r>
            <a:r>
              <a:rPr lang="en-US" sz="2000" dirty="0" smtClean="0">
                <a:latin typeface="Times New Roman" pitchFamily="18" charset="0"/>
                <a:cs typeface="Times New Roman" pitchFamily="18" charset="0"/>
              </a:rPr>
              <a:t> improves the overall scalability of the HDFS cluster. This is particularly important for larger clusters with high data volumes.</a:t>
            </a:r>
          </a:p>
          <a:p>
            <a:endParaRPr lang="en-US" sz="2000" dirty="0" smtClean="0">
              <a:latin typeface="Times New Roman" pitchFamily="18" charset="0"/>
              <a:cs typeface="Times New Roman" pitchFamily="18" charset="0"/>
            </a:endParaRPr>
          </a:p>
          <a:p>
            <a:r>
              <a:rPr lang="en-US" sz="2000" b="1" dirty="0" smtClean="0">
                <a:latin typeface="Times New Roman" pitchFamily="18" charset="0"/>
                <a:cs typeface="Times New Roman" pitchFamily="18" charset="0"/>
              </a:rPr>
              <a:t>Isolation:</a:t>
            </a:r>
            <a:r>
              <a:rPr lang="en-US" sz="2000" dirty="0" smtClean="0">
                <a:latin typeface="Times New Roman" pitchFamily="18" charset="0"/>
                <a:cs typeface="Times New Roman" pitchFamily="18" charset="0"/>
              </a:rPr>
              <a:t> Different namespaces are isolated from each other, which can help in cases where different departments or applications need to have their own separate storage and data access mechanisms within the same Hadoop cluster.</a:t>
            </a:r>
            <a:endParaRPr lang="en-US" sz="2000" dirty="0">
              <a:latin typeface="Times New Roman" pitchFamily="18" charset="0"/>
              <a:cs typeface="Times New Roman"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HDFS Federation</a:t>
            </a:r>
            <a:endParaRPr lang="en-US" sz="3600" dirty="0"/>
          </a:p>
        </p:txBody>
      </p:sp>
      <p:sp>
        <p:nvSpPr>
          <p:cNvPr id="3" name="Content Placeholder 2"/>
          <p:cNvSpPr>
            <a:spLocks noGrp="1"/>
          </p:cNvSpPr>
          <p:nvPr>
            <p:ph idx="1"/>
          </p:nvPr>
        </p:nvSpPr>
        <p:spPr/>
        <p:txBody>
          <a:bodyPr>
            <a:noAutofit/>
          </a:bodyPr>
          <a:lstStyle/>
          <a:p>
            <a:pPr>
              <a:buNone/>
            </a:pPr>
            <a:endParaRPr lang="en-US" sz="2000" dirty="0" smtClean="0">
              <a:latin typeface="Times New Roman" pitchFamily="18" charset="0"/>
              <a:cs typeface="Times New Roman" pitchFamily="18" charset="0"/>
            </a:endParaRPr>
          </a:p>
          <a:p>
            <a:r>
              <a:rPr lang="en-US" sz="2000" b="1" dirty="0" smtClean="0">
                <a:latin typeface="Times New Roman" pitchFamily="18" charset="0"/>
                <a:cs typeface="Times New Roman" pitchFamily="18" charset="0"/>
              </a:rPr>
              <a:t>Improved Fault Tolerance:</a:t>
            </a:r>
            <a:r>
              <a:rPr lang="en-US" sz="2000" dirty="0" smtClean="0">
                <a:latin typeface="Times New Roman" pitchFamily="18" charset="0"/>
                <a:cs typeface="Times New Roman" pitchFamily="18" charset="0"/>
              </a:rPr>
              <a:t> If one Name Node or Namespace fails, the other namespaces can continue to operate without interruption, reducing the impact of failures on the entire cluster.</a:t>
            </a:r>
          </a:p>
          <a:p>
            <a:pPr marL="0" indent="0">
              <a:buNone/>
            </a:pPr>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HDFS Federation is useful in scenarios where a single Hadoop cluster needs to serve </a:t>
            </a:r>
          </a:p>
          <a:p>
            <a:pPr marL="0" indent="0">
              <a:buNone/>
            </a:pPr>
            <a:r>
              <a:rPr lang="en-US" sz="2000" dirty="0" smtClean="0">
                <a:latin typeface="Times New Roman" pitchFamily="18" charset="0"/>
                <a:cs typeface="Times New Roman" pitchFamily="18" charset="0"/>
              </a:rPr>
              <a:t>	</a:t>
            </a:r>
            <a:r>
              <a:rPr lang="en-US" sz="2000" b="1" dirty="0" smtClean="0">
                <a:solidFill>
                  <a:srgbClr val="0070C0"/>
                </a:solidFill>
                <a:latin typeface="Times New Roman" pitchFamily="18" charset="0"/>
                <a:cs typeface="Times New Roman" pitchFamily="18" charset="0"/>
              </a:rPr>
              <a:t>Multiple User Groups </a:t>
            </a:r>
          </a:p>
          <a:p>
            <a:pPr marL="0" indent="0">
              <a:buNone/>
            </a:pPr>
            <a:r>
              <a:rPr lang="en-US" sz="2000" b="1" dirty="0" smtClean="0">
                <a:solidFill>
                  <a:srgbClr val="0070C0"/>
                </a:solidFill>
                <a:latin typeface="Times New Roman" pitchFamily="18" charset="0"/>
                <a:cs typeface="Times New Roman" pitchFamily="18" charset="0"/>
              </a:rPr>
              <a:t>	Applications Or </a:t>
            </a:r>
          </a:p>
          <a:p>
            <a:pPr marL="0" indent="0">
              <a:buNone/>
            </a:pPr>
            <a:r>
              <a:rPr lang="en-US" sz="2000" b="1" dirty="0" smtClean="0">
                <a:solidFill>
                  <a:srgbClr val="0070C0"/>
                </a:solidFill>
                <a:latin typeface="Times New Roman" pitchFamily="18" charset="0"/>
                <a:cs typeface="Times New Roman" pitchFamily="18" charset="0"/>
              </a:rPr>
              <a:t>	Departments</a:t>
            </a:r>
            <a:endParaRPr lang="en-US" sz="2000" dirty="0" smtClean="0">
              <a:latin typeface="Times New Roman" pitchFamily="18" charset="0"/>
              <a:cs typeface="Times New Roman" pitchFamily="18" charset="0"/>
            </a:endParaRPr>
          </a:p>
          <a:p>
            <a:pPr marL="0" indent="0">
              <a:buNone/>
            </a:pPr>
            <a:r>
              <a:rPr lang="en-US" sz="2000" dirty="0" smtClean="0">
                <a:latin typeface="Times New Roman" pitchFamily="18" charset="0"/>
                <a:cs typeface="Times New Roman" pitchFamily="18" charset="0"/>
              </a:rPr>
              <a:t>while maintaining isolation and scalability. </a:t>
            </a:r>
          </a:p>
          <a:p>
            <a:endParaRPr lang="en-US" sz="2000" dirty="0" smtClean="0">
              <a:latin typeface="Times New Roman" pitchFamily="18" charset="0"/>
              <a:cs typeface="Times New Roman" pitchFamily="18" charset="0"/>
            </a:endParaRPr>
          </a:p>
          <a:p>
            <a:pPr marL="0" indent="0">
              <a:buNone/>
            </a:pPr>
            <a:endParaRPr lang="en-US" sz="2000" dirty="0" smtClean="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HDFS - Availability</a:t>
            </a:r>
            <a:endParaRPr lang="en-US" sz="36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Autofit/>
          </a:bodyPr>
          <a:lstStyle/>
          <a:p>
            <a:r>
              <a:rPr lang="en-US" sz="2000" dirty="0" smtClean="0">
                <a:latin typeface="Times New Roman" pitchFamily="18" charset="0"/>
                <a:cs typeface="Times New Roman" pitchFamily="18" charset="0"/>
              </a:rPr>
              <a:t>Ability of the system to provide access to data and services without disruption. </a:t>
            </a:r>
          </a:p>
          <a:p>
            <a:pPr marL="0" indent="0">
              <a:buNone/>
            </a:pPr>
            <a:r>
              <a:rPr lang="en-US" sz="2000" dirty="0" smtClean="0">
                <a:latin typeface="Times New Roman" pitchFamily="18" charset="0"/>
                <a:cs typeface="Times New Roman" pitchFamily="18" charset="0"/>
              </a:rPr>
              <a:t> </a:t>
            </a:r>
          </a:p>
          <a:p>
            <a:r>
              <a:rPr lang="en-US" sz="2000" dirty="0" smtClean="0">
                <a:latin typeface="Times New Roman" pitchFamily="18" charset="0"/>
                <a:cs typeface="Times New Roman" pitchFamily="18" charset="0"/>
              </a:rPr>
              <a:t>High availability in HDFS is crucial to maintaining the reliability of data processing and storage in a Hadoop cluster.</a:t>
            </a:r>
            <a:r>
              <a:rPr lang="en-US" sz="1800" dirty="0" smtClean="0">
                <a:latin typeface="Times New Roman" pitchFamily="18" charset="0"/>
                <a:cs typeface="Times New Roman" pitchFamily="18" charset="0"/>
              </a:rPr>
              <a:t> </a:t>
            </a:r>
          </a:p>
          <a:p>
            <a:endParaRPr lang="en-US" sz="1800" dirty="0" smtClean="0">
              <a:latin typeface="Times New Roman" pitchFamily="18" charset="0"/>
              <a:cs typeface="Times New Roman" pitchFamily="18" charset="0"/>
            </a:endParaRPr>
          </a:p>
          <a:p>
            <a:pPr>
              <a:buNone/>
            </a:pPr>
            <a:r>
              <a:rPr lang="en-US" sz="1800" dirty="0" smtClean="0">
                <a:latin typeface="Times New Roman" pitchFamily="18" charset="0"/>
                <a:cs typeface="Times New Roman" pitchFamily="18" charset="0"/>
              </a:rPr>
              <a:t>HDFS employs several mechanisms to achieve high availability: </a:t>
            </a:r>
          </a:p>
          <a:p>
            <a:pPr>
              <a:buNone/>
            </a:pPr>
            <a:endParaRPr lang="en-US" sz="1800" dirty="0" smtClean="0">
              <a:latin typeface="Times New Roman" pitchFamily="18" charset="0"/>
              <a:cs typeface="Times New Roman" pitchFamily="18" charset="0"/>
            </a:endParaRPr>
          </a:p>
          <a:p>
            <a:pPr>
              <a:buNone/>
            </a:pPr>
            <a:r>
              <a:rPr lang="en-US" sz="1800" b="1" dirty="0" smtClean="0">
                <a:latin typeface="Times New Roman" pitchFamily="18" charset="0"/>
                <a:cs typeface="Times New Roman" pitchFamily="18" charset="0"/>
              </a:rPr>
              <a:t>Name Node High Availability (HA):</a:t>
            </a:r>
            <a:r>
              <a:rPr lang="en-US" sz="1800" dirty="0" smtClean="0">
                <a:latin typeface="Times New Roman" pitchFamily="18" charset="0"/>
                <a:cs typeface="Times New Roman" pitchFamily="18" charset="0"/>
              </a:rPr>
              <a:t> This is achieved using a </a:t>
            </a:r>
            <a:r>
              <a:rPr lang="en-US" sz="1800" b="1" dirty="0" smtClean="0">
                <a:solidFill>
                  <a:srgbClr val="0070C0"/>
                </a:solidFill>
                <a:latin typeface="Times New Roman" pitchFamily="18" charset="0"/>
                <a:cs typeface="Times New Roman" pitchFamily="18" charset="0"/>
              </a:rPr>
              <a:t>Stand-By Name Node </a:t>
            </a:r>
            <a:r>
              <a:rPr lang="en-US" sz="1800" dirty="0" smtClean="0">
                <a:latin typeface="Times New Roman" pitchFamily="18" charset="0"/>
                <a:cs typeface="Times New Roman" pitchFamily="18" charset="0"/>
              </a:rPr>
              <a:t>that keeps a synchronized copy of the active Name Node's metadata. If the active Name Node fails, the standby Name Node can take over almost immediately, minimizing downtime.</a:t>
            </a:r>
          </a:p>
          <a:p>
            <a:pPr>
              <a:buNone/>
            </a:pPr>
            <a:endParaRPr lang="en-US" sz="1800" dirty="0" smtClean="0">
              <a:latin typeface="Times New Roman" pitchFamily="18" charset="0"/>
              <a:cs typeface="Times New Roman" pitchFamily="18" charset="0"/>
            </a:endParaRPr>
          </a:p>
          <a:p>
            <a:pPr>
              <a:buNone/>
            </a:pPr>
            <a:endParaRPr lang="en-US" sz="1800" dirty="0" smtClean="0">
              <a:latin typeface="Times New Roman" pitchFamily="18" charset="0"/>
              <a:cs typeface="Times New Roman" pitchFamily="18" charset="0"/>
            </a:endParaRPr>
          </a:p>
          <a:p>
            <a:endParaRPr lang="en-US" sz="1800" dirty="0" smtClean="0">
              <a:latin typeface="Times New Roman" pitchFamily="18" charset="0"/>
              <a:cs typeface="Times New Roman" pitchFamily="18" charset="0"/>
            </a:endParaRPr>
          </a:p>
          <a:p>
            <a:pPr marL="0" indent="0">
              <a:buNone/>
            </a:pPr>
            <a:r>
              <a:rPr lang="en-US" sz="1800" dirty="0" smtClean="0">
                <a:latin typeface="Times New Roman" pitchFamily="18" charset="0"/>
                <a:cs typeface="Times New Roman" pitchFamily="18" charset="0"/>
              </a:rPr>
              <a:t/>
            </a:r>
            <a:br>
              <a:rPr lang="en-US" sz="1800" dirty="0" smtClean="0">
                <a:latin typeface="Times New Roman" pitchFamily="18" charset="0"/>
                <a:cs typeface="Times New Roman" pitchFamily="18" charset="0"/>
              </a:rPr>
            </a:br>
            <a:endParaRPr lang="en-US" sz="1800" dirty="0">
              <a:latin typeface="Times New Roman" pitchFamily="18" charset="0"/>
              <a:cs typeface="Times New Roman"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HDFS - Availability</a:t>
            </a:r>
            <a:endParaRPr lang="en-US" sz="3600" dirty="0"/>
          </a:p>
        </p:txBody>
      </p:sp>
      <p:sp>
        <p:nvSpPr>
          <p:cNvPr id="3" name="Content Placeholder 2"/>
          <p:cNvSpPr>
            <a:spLocks noGrp="1"/>
          </p:cNvSpPr>
          <p:nvPr>
            <p:ph idx="1"/>
          </p:nvPr>
        </p:nvSpPr>
        <p:spPr/>
        <p:txBody>
          <a:bodyPr>
            <a:normAutofit lnSpcReduction="10000"/>
          </a:bodyPr>
          <a:lstStyle/>
          <a:p>
            <a:pPr marL="0" indent="0">
              <a:buNone/>
            </a:pPr>
            <a:r>
              <a:rPr lang="en-US" sz="2000" b="1" dirty="0" smtClean="0">
                <a:latin typeface="Times New Roman" pitchFamily="18" charset="0"/>
                <a:cs typeface="Times New Roman" pitchFamily="18" charset="0"/>
              </a:rPr>
              <a:t>Data Node Replication:</a:t>
            </a:r>
            <a:r>
              <a:rPr lang="en-US" sz="2000" dirty="0" smtClean="0">
                <a:latin typeface="Times New Roman" pitchFamily="18" charset="0"/>
                <a:cs typeface="Times New Roman" pitchFamily="18" charset="0"/>
              </a:rPr>
              <a:t> By default, it maintains three replicas of each block in the cluster. </a:t>
            </a:r>
          </a:p>
          <a:p>
            <a:r>
              <a:rPr lang="en-US" sz="2000" dirty="0" smtClean="0">
                <a:latin typeface="Times New Roman" pitchFamily="18" charset="0"/>
                <a:cs typeface="Times New Roman" pitchFamily="18" charset="0"/>
              </a:rPr>
              <a:t>If a Data Node goes down, the data can still be accessed from other available replicas.</a:t>
            </a:r>
          </a:p>
          <a:p>
            <a:endParaRPr lang="en-US" sz="2000" dirty="0" smtClean="0">
              <a:latin typeface="Times New Roman" pitchFamily="18" charset="0"/>
              <a:cs typeface="Times New Roman" pitchFamily="18" charset="0"/>
            </a:endParaRPr>
          </a:p>
          <a:p>
            <a:pPr marL="0" indent="0">
              <a:buNone/>
            </a:pPr>
            <a:r>
              <a:rPr lang="en-US" sz="2000" b="1" dirty="0" smtClean="0">
                <a:latin typeface="Times New Roman" pitchFamily="18" charset="0"/>
                <a:cs typeface="Times New Roman" pitchFamily="18" charset="0"/>
              </a:rPr>
              <a:t>Rack Awareness:</a:t>
            </a:r>
            <a:r>
              <a:rPr lang="en-US" sz="2000" dirty="0" smtClean="0">
                <a:latin typeface="Times New Roman" pitchFamily="18" charset="0"/>
                <a:cs typeface="Times New Roman" pitchFamily="18" charset="0"/>
              </a:rPr>
              <a:t> HDFS takes into account the physical location of Data Nodes using a concept called rack awareness. </a:t>
            </a:r>
          </a:p>
          <a:p>
            <a:r>
              <a:rPr lang="en-US" sz="2000" dirty="0" smtClean="0">
                <a:latin typeface="Times New Roman" pitchFamily="18" charset="0"/>
                <a:cs typeface="Times New Roman" pitchFamily="18" charset="0"/>
              </a:rPr>
              <a:t>This ensures that replicas are distributed across different racks to provide better fault tolerance against rack-level failures.</a:t>
            </a:r>
          </a:p>
          <a:p>
            <a:pPr marL="0" indent="0">
              <a:buNone/>
            </a:pPr>
            <a:endParaRPr lang="en-US" sz="2000" dirty="0" smtClean="0">
              <a:latin typeface="Times New Roman" pitchFamily="18" charset="0"/>
              <a:cs typeface="Times New Roman" pitchFamily="18" charset="0"/>
            </a:endParaRPr>
          </a:p>
          <a:p>
            <a:pPr>
              <a:buNone/>
            </a:pPr>
            <a:r>
              <a:rPr lang="en-US" sz="2000" b="1" dirty="0">
                <a:latin typeface="Times New Roman" pitchFamily="18" charset="0"/>
                <a:cs typeface="Times New Roman" pitchFamily="18" charset="0"/>
              </a:rPr>
              <a:t>Block Scanner:</a:t>
            </a:r>
            <a:r>
              <a:rPr lang="en-US" sz="2000" dirty="0">
                <a:latin typeface="Times New Roman" pitchFamily="18" charset="0"/>
                <a:cs typeface="Times New Roman" pitchFamily="18" charset="0"/>
              </a:rPr>
              <a:t> Periodically verifies the integrity of data blocks. If a corrupt block is detected, HDFS tries to replicate the block from other healthy replicas.</a:t>
            </a:r>
            <a:endParaRPr lang="en-US" sz="2000" dirty="0" smtClean="0">
              <a:latin typeface="Times New Roman" pitchFamily="18" charset="0"/>
              <a:cs typeface="Times New Roman" pitchFamily="18" charset="0"/>
            </a:endParaRPr>
          </a:p>
          <a:p>
            <a:pPr marL="0" indent="0">
              <a:buNone/>
            </a:pP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HDFS - Availability</a:t>
            </a:r>
            <a:endParaRPr lang="en-US" sz="3600" dirty="0"/>
          </a:p>
        </p:txBody>
      </p:sp>
      <p:sp>
        <p:nvSpPr>
          <p:cNvPr id="3" name="Content Placeholder 2"/>
          <p:cNvSpPr>
            <a:spLocks noGrp="1"/>
          </p:cNvSpPr>
          <p:nvPr>
            <p:ph idx="1"/>
          </p:nvPr>
        </p:nvSpPr>
        <p:spPr/>
        <p:txBody>
          <a:bodyPr>
            <a:noAutofit/>
          </a:bodyPr>
          <a:lstStyle/>
          <a:p>
            <a:pPr>
              <a:buNone/>
            </a:pPr>
            <a:endParaRPr lang="en-US" sz="2000" dirty="0" smtClean="0">
              <a:latin typeface="Times New Roman" pitchFamily="18" charset="0"/>
              <a:cs typeface="Times New Roman" pitchFamily="18" charset="0"/>
            </a:endParaRPr>
          </a:p>
          <a:p>
            <a:pPr>
              <a:buNone/>
            </a:pPr>
            <a:r>
              <a:rPr lang="en-US" sz="2000" b="1" dirty="0" smtClean="0">
                <a:latin typeface="Times New Roman" pitchFamily="18" charset="0"/>
                <a:cs typeface="Times New Roman" pitchFamily="18" charset="0"/>
              </a:rPr>
              <a:t>Failure Detection and Handling:</a:t>
            </a:r>
            <a:r>
              <a:rPr lang="en-US" sz="2000" dirty="0" smtClean="0">
                <a:latin typeface="Times New Roman" pitchFamily="18" charset="0"/>
                <a:cs typeface="Times New Roman" pitchFamily="18" charset="0"/>
              </a:rPr>
              <a:t> HDFS quickly detects failures in Data Nodes and takes appropriate actions, such as replicating the data stored on the failed node to other healthy nodes.</a:t>
            </a:r>
          </a:p>
          <a:p>
            <a:pPr>
              <a:buNone/>
            </a:pPr>
            <a:endParaRPr lang="en-US" sz="2000" dirty="0" smtClean="0">
              <a:latin typeface="Times New Roman" pitchFamily="18" charset="0"/>
              <a:cs typeface="Times New Roman" pitchFamily="18" charset="0"/>
            </a:endParaRPr>
          </a:p>
          <a:p>
            <a:pPr>
              <a:buNone/>
            </a:pPr>
            <a:r>
              <a:rPr lang="en-US" sz="2000" b="1" dirty="0" smtClean="0">
                <a:latin typeface="Times New Roman" pitchFamily="18" charset="0"/>
                <a:cs typeface="Times New Roman" pitchFamily="18" charset="0"/>
              </a:rPr>
              <a:t>Monitoring and Alerts:</a:t>
            </a:r>
            <a:r>
              <a:rPr lang="en-US" sz="2000" dirty="0" smtClean="0">
                <a:latin typeface="Times New Roman" pitchFamily="18" charset="0"/>
                <a:cs typeface="Times New Roman" pitchFamily="18" charset="0"/>
              </a:rPr>
              <a:t> HDFS provides various monitoring tools and mechanisms to track the health and performance of the cluster. </a:t>
            </a:r>
          </a:p>
          <a:p>
            <a:r>
              <a:rPr lang="en-US" sz="2000" dirty="0" smtClean="0">
                <a:latin typeface="Times New Roman" pitchFamily="18" charset="0"/>
                <a:cs typeface="Times New Roman" pitchFamily="18" charset="0"/>
              </a:rPr>
              <a:t>Alerts can be set up to notify administrators about potential issues.</a:t>
            </a:r>
          </a:p>
          <a:p>
            <a:pPr>
              <a:buNone/>
            </a:pPr>
            <a:endParaRPr lang="en-US"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These mechanisms collectively work to ensure that HDFS remains highly available and resilient to failures.</a:t>
            </a:r>
          </a:p>
          <a:p>
            <a:endParaRPr lang="en-US" sz="2000" dirty="0">
              <a:latin typeface="Times New Roman" pitchFamily="18" charset="0"/>
              <a:cs typeface="Times New Roman"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HDFS - Basic File System Operations</a:t>
            </a:r>
            <a:endParaRPr lang="en-US" sz="36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Autofit/>
          </a:bodyPr>
          <a:lstStyle/>
          <a:p>
            <a:pPr>
              <a:buNone/>
            </a:pPr>
            <a:r>
              <a:rPr lang="en-US" sz="2000" dirty="0" smtClean="0">
                <a:latin typeface="Times New Roman" pitchFamily="18" charset="0"/>
                <a:cs typeface="Times New Roman" pitchFamily="18" charset="0"/>
              </a:rPr>
              <a:t> Here are some basic file system operations you can perform in HDFS:-</a:t>
            </a:r>
          </a:p>
          <a:p>
            <a:pPr>
              <a:buNone/>
            </a:pPr>
            <a:endParaRPr lang="en-US" sz="2000" dirty="0" smtClean="0">
              <a:latin typeface="Times New Roman" pitchFamily="18" charset="0"/>
              <a:cs typeface="Times New Roman" pitchFamily="18" charset="0"/>
            </a:endParaRPr>
          </a:p>
          <a:p>
            <a:pPr>
              <a:buFont typeface="Wingdings" pitchFamily="2" charset="2"/>
              <a:buChar char="Ø"/>
            </a:pPr>
            <a:r>
              <a:rPr lang="en-US" sz="2000" dirty="0" smtClean="0">
                <a:latin typeface="Times New Roman" pitchFamily="18" charset="0"/>
                <a:cs typeface="Times New Roman" pitchFamily="18" charset="0"/>
              </a:rPr>
              <a:t>Name Space organizes files and directories stored in file system</a:t>
            </a:r>
          </a:p>
          <a:p>
            <a:pPr>
              <a:buFont typeface="Wingdings" pitchFamily="2" charset="2"/>
              <a:buChar char="Ø"/>
            </a:pPr>
            <a:r>
              <a:rPr lang="en-US" sz="2000" dirty="0" smtClean="0">
                <a:latin typeface="Times New Roman" pitchFamily="18" charset="0"/>
                <a:cs typeface="Times New Roman" pitchFamily="18" charset="0"/>
              </a:rPr>
              <a:t>It is the logical representation of how data is organized in HDFS</a:t>
            </a:r>
          </a:p>
          <a:p>
            <a:pPr>
              <a:buFont typeface="Wingdings" pitchFamily="2" charset="2"/>
              <a:buChar char="Ø"/>
            </a:pPr>
            <a:r>
              <a:rPr lang="en-US" sz="2000" dirty="0" smtClean="0">
                <a:latin typeface="Times New Roman" pitchFamily="18" charset="0"/>
                <a:cs typeface="Times New Roman" pitchFamily="18" charset="0"/>
              </a:rPr>
              <a:t>Name space is managed by Name Node</a:t>
            </a:r>
          </a:p>
          <a:p>
            <a:pPr>
              <a:buNone/>
            </a:pPr>
            <a:endParaRPr lang="en-US" sz="2000" dirty="0" smtClean="0">
              <a:latin typeface="Times New Roman" pitchFamily="18" charset="0"/>
              <a:cs typeface="Times New Roman" pitchFamily="18" charset="0"/>
            </a:endParaRPr>
          </a:p>
          <a:p>
            <a:r>
              <a:rPr lang="en-US" sz="2000" b="1" dirty="0" smtClean="0">
                <a:latin typeface="Times New Roman" pitchFamily="18" charset="0"/>
                <a:cs typeface="Times New Roman" pitchFamily="18" charset="0"/>
              </a:rPr>
              <a:t>Creating a Directory:</a:t>
            </a:r>
            <a:r>
              <a:rPr lang="en-US" sz="2000" dirty="0" smtClean="0">
                <a:latin typeface="Times New Roman" pitchFamily="18" charset="0"/>
                <a:cs typeface="Times New Roman" pitchFamily="18" charset="0"/>
              </a:rPr>
              <a:t> You can create a new directory within the HDFS namespace to organize your data.</a:t>
            </a:r>
          </a:p>
          <a:p>
            <a:endParaRPr lang="en-US" sz="2000" dirty="0" smtClean="0">
              <a:latin typeface="Times New Roman" pitchFamily="18" charset="0"/>
              <a:cs typeface="Times New Roman" pitchFamily="18" charset="0"/>
            </a:endParaRPr>
          </a:p>
          <a:p>
            <a:r>
              <a:rPr lang="en-US" sz="2000" b="1" dirty="0" smtClean="0">
                <a:latin typeface="Times New Roman" pitchFamily="18" charset="0"/>
                <a:cs typeface="Times New Roman" pitchFamily="18" charset="0"/>
              </a:rPr>
              <a:t>Copying Files or Directories:</a:t>
            </a:r>
            <a:r>
              <a:rPr lang="en-US" sz="2000" dirty="0" smtClean="0">
                <a:latin typeface="Times New Roman" pitchFamily="18" charset="0"/>
                <a:cs typeface="Times New Roman" pitchFamily="18" charset="0"/>
              </a:rPr>
              <a:t> HDFS provides the ability to copy files or directories from one location to another within the HDFS namespace.</a:t>
            </a:r>
          </a:p>
          <a:p>
            <a:endParaRPr lang="en-US" sz="2000" dirty="0" smtClean="0">
              <a:latin typeface="Times New Roman" pitchFamily="18" charset="0"/>
              <a:cs typeface="Times New Roman" pitchFamily="18" charset="0"/>
            </a:endParaRPr>
          </a:p>
          <a:p>
            <a:r>
              <a:rPr lang="en-US" sz="2000" b="1" dirty="0" smtClean="0">
                <a:latin typeface="Times New Roman" pitchFamily="18" charset="0"/>
                <a:cs typeface="Times New Roman" pitchFamily="18" charset="0"/>
              </a:rPr>
              <a:t>Reading from and Writing to Files</a:t>
            </a:r>
            <a:endParaRPr lang="en-US" sz="2000" dirty="0" smtClean="0">
              <a:latin typeface="Times New Roman" pitchFamily="18" charset="0"/>
              <a:cs typeface="Times New Roman" pitchFamily="18" charset="0"/>
            </a:endParaRPr>
          </a:p>
          <a:p>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endParaRPr lang="en-US" sz="2000" dirty="0">
              <a:latin typeface="Times New Roman" pitchFamily="18" charset="0"/>
              <a:cs typeface="Times New Roman"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HDFS - Basic File System Operations</a:t>
            </a:r>
            <a:endParaRPr lang="en-US" sz="3600" dirty="0"/>
          </a:p>
        </p:txBody>
      </p:sp>
      <p:sp>
        <p:nvSpPr>
          <p:cNvPr id="3" name="Content Placeholder 2"/>
          <p:cNvSpPr>
            <a:spLocks noGrp="1"/>
          </p:cNvSpPr>
          <p:nvPr>
            <p:ph idx="1"/>
          </p:nvPr>
        </p:nvSpPr>
        <p:spPr/>
        <p:txBody>
          <a:bodyPr>
            <a:normAutofit fontScale="92500"/>
          </a:bodyPr>
          <a:lstStyle/>
          <a:p>
            <a:r>
              <a:rPr lang="en-US" sz="2000" b="1" dirty="0" smtClean="0">
                <a:latin typeface="Times New Roman" pitchFamily="18" charset="0"/>
                <a:cs typeface="Times New Roman" pitchFamily="18" charset="0"/>
              </a:rPr>
              <a:t>Checking File Information</a:t>
            </a:r>
          </a:p>
          <a:p>
            <a:r>
              <a:rPr lang="en-US" sz="2000" b="1" dirty="0" smtClean="0">
                <a:latin typeface="Times New Roman" pitchFamily="18" charset="0"/>
                <a:cs typeface="Times New Roman" pitchFamily="18" charset="0"/>
              </a:rPr>
              <a:t>Moving or Renaming Files or Directories</a:t>
            </a:r>
            <a:endParaRPr lang="en-US" sz="2000" dirty="0" smtClean="0">
              <a:latin typeface="Times New Roman" pitchFamily="18" charset="0"/>
              <a:cs typeface="Times New Roman" pitchFamily="18" charset="0"/>
            </a:endParaRPr>
          </a:p>
          <a:p>
            <a:r>
              <a:rPr lang="en-US" sz="2000" b="1" dirty="0" smtClean="0">
                <a:latin typeface="Times New Roman" pitchFamily="18" charset="0"/>
                <a:cs typeface="Times New Roman" pitchFamily="18" charset="0"/>
              </a:rPr>
              <a:t>Deleting Files or Directories</a:t>
            </a:r>
            <a:endParaRPr lang="en-US" sz="2000" dirty="0" smtClean="0">
              <a:latin typeface="Times New Roman" pitchFamily="18" charset="0"/>
              <a:cs typeface="Times New Roman" pitchFamily="18" charset="0"/>
            </a:endParaRPr>
          </a:p>
          <a:p>
            <a:r>
              <a:rPr lang="en-US" sz="2000" b="1" dirty="0" smtClean="0">
                <a:latin typeface="Times New Roman" pitchFamily="18" charset="0"/>
                <a:cs typeface="Times New Roman" pitchFamily="18" charset="0"/>
              </a:rPr>
              <a:t>Listing Contents of a Directory</a:t>
            </a:r>
          </a:p>
          <a:p>
            <a:endParaRPr lang="en-US" sz="2000" b="1" dirty="0" smtClean="0">
              <a:latin typeface="Times New Roman" pitchFamily="18" charset="0"/>
              <a:cs typeface="Times New Roman" pitchFamily="18" charset="0"/>
            </a:endParaRPr>
          </a:p>
          <a:p>
            <a:r>
              <a:rPr lang="en-US" sz="2000" b="1" dirty="0" smtClean="0">
                <a:latin typeface="Times New Roman" pitchFamily="18" charset="0"/>
                <a:cs typeface="Times New Roman" pitchFamily="18" charset="0"/>
              </a:rPr>
              <a:t>Changing Permissions and Ownership:</a:t>
            </a:r>
            <a:r>
              <a:rPr lang="en-US" sz="2000" dirty="0" smtClean="0">
                <a:latin typeface="Times New Roman" pitchFamily="18" charset="0"/>
                <a:cs typeface="Times New Roman" pitchFamily="18" charset="0"/>
              </a:rPr>
              <a:t> You can modify the permissions and ownership of files and directories in HDFS, controlling who can access them.</a:t>
            </a:r>
          </a:p>
          <a:p>
            <a:endParaRPr lang="en-US" sz="2000" dirty="0" smtClean="0">
              <a:latin typeface="Times New Roman" pitchFamily="18" charset="0"/>
              <a:cs typeface="Times New Roman" pitchFamily="18" charset="0"/>
            </a:endParaRPr>
          </a:p>
          <a:p>
            <a:r>
              <a:rPr lang="en-US" sz="2000" b="1" dirty="0" smtClean="0">
                <a:latin typeface="Times New Roman" pitchFamily="18" charset="0"/>
                <a:cs typeface="Times New Roman" pitchFamily="18" charset="0"/>
              </a:rPr>
              <a:t>Checking Disk Space:</a:t>
            </a:r>
            <a:r>
              <a:rPr lang="en-US" sz="2000" dirty="0" smtClean="0">
                <a:latin typeface="Times New Roman" pitchFamily="18" charset="0"/>
                <a:cs typeface="Times New Roman" pitchFamily="18" charset="0"/>
              </a:rPr>
              <a:t> You can check the amount of free and used space in HDFS.</a:t>
            </a:r>
          </a:p>
          <a:p>
            <a:pPr>
              <a:buNone/>
            </a:pPr>
            <a:endParaRPr lang="en-US" sz="2000" dirty="0" smtClean="0">
              <a:latin typeface="Times New Roman" pitchFamily="18" charset="0"/>
              <a:cs typeface="Times New Roman" pitchFamily="18" charset="0"/>
            </a:endParaRPr>
          </a:p>
          <a:p>
            <a:r>
              <a:rPr lang="en-US" sz="2000" b="1" dirty="0" smtClean="0">
                <a:latin typeface="Times New Roman" pitchFamily="18" charset="0"/>
                <a:cs typeface="Times New Roman" pitchFamily="18" charset="0"/>
              </a:rPr>
              <a:t>Setting Replication Factor:</a:t>
            </a:r>
            <a:r>
              <a:rPr lang="en-US" sz="2000" dirty="0" smtClean="0">
                <a:latin typeface="Times New Roman" pitchFamily="18" charset="0"/>
                <a:cs typeface="Times New Roman" pitchFamily="18" charset="0"/>
              </a:rPr>
              <a:t> You can configure the replication factor of files to determine how many copies of the data are stored across the cluster..</a:t>
            </a:r>
          </a:p>
          <a:p>
            <a:endParaRPr lang="en-US" sz="2000" dirty="0" smtClean="0">
              <a:latin typeface="Times New Roman" pitchFamily="18" charset="0"/>
              <a:cs typeface="Times New Roman" pitchFamily="18" charset="0"/>
            </a:endParaRPr>
          </a:p>
          <a:p>
            <a:endParaRPr lang="en-US" sz="2000" dirty="0" smtClean="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HDFS - Basic File System Operations</a:t>
            </a:r>
            <a:endParaRPr lang="en-US" sz="3600" dirty="0"/>
          </a:p>
        </p:txBody>
      </p:sp>
      <p:sp>
        <p:nvSpPr>
          <p:cNvPr id="3" name="Content Placeholder 2"/>
          <p:cNvSpPr>
            <a:spLocks noGrp="1"/>
          </p:cNvSpPr>
          <p:nvPr>
            <p:ph idx="1"/>
          </p:nvPr>
        </p:nvSpPr>
        <p:spPr/>
        <p:txBody>
          <a:bodyPr>
            <a:normAutofit/>
          </a:bodyPr>
          <a:lstStyle/>
          <a:p>
            <a:r>
              <a:rPr lang="en-US" sz="2000" b="1" dirty="0" smtClean="0">
                <a:latin typeface="Times New Roman" pitchFamily="18" charset="0"/>
                <a:cs typeface="Times New Roman" pitchFamily="18" charset="0"/>
              </a:rPr>
              <a:t>Accessing Data by Block ID:</a:t>
            </a:r>
            <a:r>
              <a:rPr lang="en-US" sz="2000" dirty="0" smtClean="0">
                <a:latin typeface="Times New Roman" pitchFamily="18" charset="0"/>
                <a:cs typeface="Times New Roman" pitchFamily="18" charset="0"/>
              </a:rPr>
              <a:t> You can access specific blocks of a file using their block IDs.</a:t>
            </a:r>
          </a:p>
          <a:p>
            <a:endParaRPr lang="en-US" sz="2000" dirty="0" smtClean="0">
              <a:latin typeface="Times New Roman" pitchFamily="18" charset="0"/>
              <a:cs typeface="Times New Roman" pitchFamily="18" charset="0"/>
            </a:endParaRPr>
          </a:p>
          <a:p>
            <a:r>
              <a:rPr lang="en-US" sz="2000" b="1" dirty="0" smtClean="0">
                <a:latin typeface="Times New Roman" pitchFamily="18" charset="0"/>
                <a:cs typeface="Times New Roman" pitchFamily="18" charset="0"/>
              </a:rPr>
              <a:t>Truncating Files:</a:t>
            </a:r>
            <a:r>
              <a:rPr lang="en-US" sz="2000" dirty="0" smtClean="0">
                <a:latin typeface="Times New Roman" pitchFamily="18" charset="0"/>
                <a:cs typeface="Times New Roman" pitchFamily="18" charset="0"/>
              </a:rPr>
              <a:t> You can truncate the content of a file to a specified length.</a:t>
            </a:r>
          </a:p>
          <a:p>
            <a:endParaRPr lang="en-US" sz="2000" dirty="0" smtClean="0">
              <a:latin typeface="Times New Roman" pitchFamily="18" charset="0"/>
              <a:cs typeface="Times New Roman" pitchFamily="18" charset="0"/>
            </a:endParaRPr>
          </a:p>
          <a:p>
            <a:r>
              <a:rPr lang="en-US" sz="2000" b="1" dirty="0" smtClean="0">
                <a:latin typeface="Times New Roman" pitchFamily="18" charset="0"/>
                <a:cs typeface="Times New Roman" pitchFamily="18" charset="0"/>
              </a:rPr>
              <a:t>Setting Quotas:</a:t>
            </a:r>
            <a:r>
              <a:rPr lang="en-US" sz="2000" dirty="0" smtClean="0">
                <a:latin typeface="Times New Roman" pitchFamily="18" charset="0"/>
                <a:cs typeface="Times New Roman" pitchFamily="18" charset="0"/>
              </a:rPr>
              <a:t> You can set quotas on the amount of storage space or the number of files that a user or group can consume in HDFS.</a:t>
            </a:r>
            <a:endParaRPr lang="en-US"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HDFS - Basic File System Operations</a:t>
            </a:r>
            <a:endParaRPr lang="en-US" sz="3600" dirty="0"/>
          </a:p>
        </p:txBody>
      </p:sp>
      <p:sp>
        <p:nvSpPr>
          <p:cNvPr id="3" name="Content Placeholder 2"/>
          <p:cNvSpPr>
            <a:spLocks noGrp="1"/>
          </p:cNvSpPr>
          <p:nvPr>
            <p:ph idx="1"/>
          </p:nvPr>
        </p:nvSpPr>
        <p:spPr/>
        <p:txBody>
          <a:bodyPr>
            <a:normAutofit/>
          </a:bodyPr>
          <a:lstStyle/>
          <a:p>
            <a:r>
              <a:rPr lang="en-US" sz="2000" dirty="0" smtClean="0">
                <a:latin typeface="Times New Roman" pitchFamily="18" charset="0"/>
                <a:cs typeface="Times New Roman" pitchFamily="18" charset="0"/>
              </a:rPr>
              <a:t>These operations are often performed using Hadoop command-line utilities such as hdfs dfs, </a:t>
            </a:r>
          </a:p>
          <a:p>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Interact with HDFS using commands similar to those used with a traditional file system. </a:t>
            </a:r>
          </a:p>
          <a:p>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HDFS is designed for distributed storage, so the behavior and considerations for these operations might differ from those in traditional single-node file systems.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HDFS - INTERFACES</a:t>
            </a:r>
            <a:endParaRPr lang="en-US" sz="36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Autofit/>
          </a:bodyPr>
          <a:lstStyle/>
          <a:p>
            <a:pPr>
              <a:buFont typeface="Wingdings" pitchFamily="2" charset="2"/>
              <a:buChar char="Ø"/>
            </a:pPr>
            <a:r>
              <a:rPr lang="en-US" sz="2000" dirty="0" smtClean="0">
                <a:latin typeface="Times New Roman" pitchFamily="18" charset="0"/>
                <a:cs typeface="Times New Roman" pitchFamily="18" charset="0"/>
              </a:rPr>
              <a:t>Interface – A Device or a program enabling the user to communicate with a computer.</a:t>
            </a:r>
          </a:p>
          <a:p>
            <a:pPr>
              <a:buFont typeface="Wingdings" pitchFamily="2" charset="2"/>
              <a:buChar char="Ø"/>
            </a:pPr>
            <a:r>
              <a:rPr lang="en-US" sz="2000" dirty="0" smtClean="0">
                <a:latin typeface="Times New Roman" pitchFamily="18" charset="0"/>
                <a:cs typeface="Times New Roman" pitchFamily="18" charset="0"/>
              </a:rPr>
              <a:t>Hadoop Distributed File System (HDFS) provides several interfaces that allow users and applications to interact with the file system. </a:t>
            </a:r>
          </a:p>
          <a:p>
            <a:endParaRPr lang="en-US"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These interfaces cater to different user needs and levels of expertise. </a:t>
            </a:r>
          </a:p>
          <a:p>
            <a:r>
              <a:rPr lang="en-US" sz="2000" dirty="0" smtClean="0">
                <a:latin typeface="Times New Roman" pitchFamily="18" charset="0"/>
                <a:cs typeface="Times New Roman" pitchFamily="18" charset="0"/>
              </a:rPr>
              <a:t>The </a:t>
            </a:r>
            <a:r>
              <a:rPr lang="en-US" sz="2000" b="1" dirty="0" smtClean="0">
                <a:solidFill>
                  <a:srgbClr val="0070C0"/>
                </a:solidFill>
                <a:latin typeface="Times New Roman" pitchFamily="18" charset="0"/>
                <a:cs typeface="Times New Roman" pitchFamily="18" charset="0"/>
              </a:rPr>
              <a:t>command-line interface</a:t>
            </a:r>
            <a:r>
              <a:rPr lang="en-US" sz="2000" dirty="0" smtClean="0">
                <a:latin typeface="Times New Roman" pitchFamily="18" charset="0"/>
                <a:cs typeface="Times New Roman" pitchFamily="18" charset="0"/>
              </a:rPr>
              <a:t> is useful for administrators and users who prefer working from a terminal.</a:t>
            </a:r>
          </a:p>
          <a:p>
            <a:r>
              <a:rPr lang="en-US" sz="2000" dirty="0" smtClean="0">
                <a:latin typeface="Times New Roman" pitchFamily="18" charset="0"/>
                <a:cs typeface="Times New Roman" pitchFamily="18" charset="0"/>
              </a:rPr>
              <a:t> while the</a:t>
            </a:r>
            <a:r>
              <a:rPr lang="en-US" sz="2000" dirty="0" smtClean="0">
                <a:solidFill>
                  <a:srgbClr val="0070C0"/>
                </a:solidFill>
                <a:latin typeface="Times New Roman" pitchFamily="18" charset="0"/>
                <a:cs typeface="Times New Roman" pitchFamily="18" charset="0"/>
              </a:rPr>
              <a:t> </a:t>
            </a:r>
            <a:r>
              <a:rPr lang="en-US" sz="2000" b="1" dirty="0" smtClean="0">
                <a:solidFill>
                  <a:srgbClr val="0070C0"/>
                </a:solidFill>
                <a:latin typeface="Times New Roman" pitchFamily="18" charset="0"/>
                <a:cs typeface="Times New Roman" pitchFamily="18" charset="0"/>
              </a:rPr>
              <a:t>programming APIs</a:t>
            </a:r>
            <a:r>
              <a:rPr lang="en-US" sz="2000" dirty="0" smtClean="0">
                <a:solidFill>
                  <a:srgbClr val="FF0000"/>
                </a:solidFill>
                <a:latin typeface="Times New Roman" pitchFamily="18" charset="0"/>
                <a:cs typeface="Times New Roman" pitchFamily="18" charset="0"/>
              </a:rPr>
              <a:t> </a:t>
            </a:r>
            <a:r>
              <a:rPr lang="en-US" sz="2000" dirty="0" smtClean="0">
                <a:latin typeface="Times New Roman" pitchFamily="18" charset="0"/>
                <a:cs typeface="Times New Roman" pitchFamily="18" charset="0"/>
              </a:rPr>
              <a:t>are essential for application developers who want to integrate HDFS operations into their software. </a:t>
            </a:r>
          </a:p>
          <a:p>
            <a:r>
              <a:rPr lang="en-US" sz="2000" dirty="0" smtClean="0">
                <a:latin typeface="Times New Roman" pitchFamily="18" charset="0"/>
                <a:cs typeface="Times New Roman" pitchFamily="18" charset="0"/>
              </a:rPr>
              <a:t>The </a:t>
            </a:r>
            <a:r>
              <a:rPr lang="en-US" sz="2000" b="1" dirty="0" smtClean="0">
                <a:solidFill>
                  <a:srgbClr val="0070C0"/>
                </a:solidFill>
                <a:latin typeface="Times New Roman" pitchFamily="18" charset="0"/>
                <a:cs typeface="Times New Roman" pitchFamily="18" charset="0"/>
              </a:rPr>
              <a:t>web interface</a:t>
            </a:r>
            <a:r>
              <a:rPr lang="en-US" sz="2000" dirty="0" smtClean="0">
                <a:latin typeface="Times New Roman" pitchFamily="18" charset="0"/>
                <a:cs typeface="Times New Roman" pitchFamily="18" charset="0"/>
              </a:rPr>
              <a:t> provides a convenient way to monitor and manage the HDFS cluster's health and performance.</a:t>
            </a:r>
          </a:p>
          <a:p>
            <a:pPr>
              <a:buFont typeface="Wingdings" pitchFamily="2" charset="2"/>
              <a:buChar char="Ø"/>
            </a:pPr>
            <a:endParaRPr lang="en-US" sz="2000" dirty="0" smtClean="0">
              <a:latin typeface="Times New Roman" pitchFamily="18" charset="0"/>
              <a:cs typeface="Times New Roman" pitchFamily="18" charset="0"/>
            </a:endParaRPr>
          </a:p>
          <a:p>
            <a:pPr>
              <a:buNone/>
            </a:pPr>
            <a:endParaRPr lang="en-US" sz="2000" dirty="0" smtClean="0">
              <a:latin typeface="Times New Roman" pitchFamily="18" charset="0"/>
              <a:cs typeface="Times New Roman" pitchFamily="18" charset="0"/>
            </a:endParaRPr>
          </a:p>
          <a:p>
            <a:endParaRPr lang="en-US" sz="2000" dirty="0" smtClean="0">
              <a:latin typeface="Times New Roman" pitchFamily="18" charset="0"/>
              <a:cs typeface="Times New Roman" pitchFamily="18" charset="0"/>
            </a:endParaRPr>
          </a:p>
          <a:p>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endParaRPr lang="en-US" sz="2000" dirty="0">
              <a:latin typeface="Times New Roman" pitchFamily="18" charset="0"/>
              <a:cs typeface="Times New Roman"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HDFS - INTERFACES</a:t>
            </a:r>
            <a:endParaRPr lang="en-US" sz="3600" dirty="0"/>
          </a:p>
        </p:txBody>
      </p:sp>
      <p:sp>
        <p:nvSpPr>
          <p:cNvPr id="3" name="Content Placeholder 2"/>
          <p:cNvSpPr>
            <a:spLocks noGrp="1"/>
          </p:cNvSpPr>
          <p:nvPr>
            <p:ph idx="1"/>
          </p:nvPr>
        </p:nvSpPr>
        <p:spPr/>
        <p:txBody>
          <a:bodyPr>
            <a:normAutofit/>
          </a:bodyPr>
          <a:lstStyle/>
          <a:p>
            <a:pPr>
              <a:buFont typeface="Wingdings" pitchFamily="2" charset="2"/>
              <a:buChar char="Ø"/>
            </a:pPr>
            <a:r>
              <a:rPr lang="en-US" sz="2000" dirty="0" smtClean="0">
                <a:latin typeface="Times New Roman" pitchFamily="18" charset="0"/>
                <a:cs typeface="Times New Roman" pitchFamily="18" charset="0"/>
              </a:rPr>
              <a:t>Here are some of the main interfaces for interacting with HDFS:-</a:t>
            </a:r>
          </a:p>
          <a:p>
            <a:pPr>
              <a:buNone/>
            </a:pPr>
            <a:endParaRPr lang="en-US" sz="2000" dirty="0" smtClean="0">
              <a:latin typeface="Times New Roman" pitchFamily="18" charset="0"/>
              <a:cs typeface="Times New Roman" pitchFamily="18" charset="0"/>
            </a:endParaRPr>
          </a:p>
          <a:p>
            <a:pPr>
              <a:buNone/>
            </a:pPr>
            <a:r>
              <a:rPr lang="en-US" sz="2000" b="1" dirty="0" smtClean="0">
                <a:latin typeface="Times New Roman" pitchFamily="18" charset="0"/>
                <a:cs typeface="Times New Roman" pitchFamily="18" charset="0"/>
              </a:rPr>
              <a:t>Command-Line Interface (CLI):</a:t>
            </a:r>
            <a:endParaRPr lang="en-US" sz="2000" dirty="0" smtClean="0">
              <a:latin typeface="Times New Roman" pitchFamily="18" charset="0"/>
              <a:cs typeface="Times New Roman" pitchFamily="18" charset="0"/>
            </a:endParaRPr>
          </a:p>
          <a:p>
            <a:pPr lvl="1"/>
            <a:r>
              <a:rPr lang="en-US" sz="2000" dirty="0" smtClean="0">
                <a:latin typeface="Times New Roman" pitchFamily="18" charset="0"/>
                <a:cs typeface="Times New Roman" pitchFamily="18" charset="0"/>
              </a:rPr>
              <a:t>HDFS provides a set of command-line utilities that allow you to perform various file system operations.</a:t>
            </a:r>
          </a:p>
          <a:p>
            <a:pPr lvl="1">
              <a:buNone/>
            </a:pPr>
            <a:endParaRPr lang="en-US" sz="2000" dirty="0" smtClean="0">
              <a:latin typeface="Times New Roman" pitchFamily="18" charset="0"/>
              <a:cs typeface="Times New Roman" pitchFamily="18" charset="0"/>
            </a:endParaRPr>
          </a:p>
          <a:p>
            <a:pPr lvl="1"/>
            <a:r>
              <a:rPr lang="en-US" sz="2000" dirty="0" smtClean="0">
                <a:latin typeface="Times New Roman" pitchFamily="18" charset="0"/>
                <a:cs typeface="Times New Roman" pitchFamily="18" charset="0"/>
              </a:rPr>
              <a:t> The most commonly used utility is </a:t>
            </a:r>
            <a:r>
              <a:rPr lang="en-US" sz="2000" b="1" dirty="0" smtClean="0">
                <a:solidFill>
                  <a:srgbClr val="0070C0"/>
                </a:solidFill>
                <a:latin typeface="Times New Roman" pitchFamily="18" charset="0"/>
                <a:cs typeface="Times New Roman" pitchFamily="18" charset="0"/>
              </a:rPr>
              <a:t>hdfs dfs</a:t>
            </a:r>
            <a:r>
              <a:rPr lang="en-US" sz="2000" dirty="0" smtClean="0">
                <a:latin typeface="Times New Roman" pitchFamily="18" charset="0"/>
                <a:cs typeface="Times New Roman" pitchFamily="18" charset="0"/>
              </a:rPr>
              <a:t>, which provides commands for managing files and directories, copying data, listing contents, changing permissions, and more.</a:t>
            </a:r>
          </a:p>
          <a:p>
            <a:endParaRPr lang="en-US" sz="2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HDFS - INTERFACES</a:t>
            </a:r>
            <a:endParaRPr lang="en-US" sz="3600" dirty="0"/>
          </a:p>
        </p:txBody>
      </p:sp>
      <p:sp>
        <p:nvSpPr>
          <p:cNvPr id="3" name="Content Placeholder 2"/>
          <p:cNvSpPr>
            <a:spLocks noGrp="1"/>
          </p:cNvSpPr>
          <p:nvPr>
            <p:ph idx="1"/>
          </p:nvPr>
        </p:nvSpPr>
        <p:spPr/>
        <p:txBody>
          <a:bodyPr>
            <a:noAutofit/>
          </a:bodyPr>
          <a:lstStyle/>
          <a:p>
            <a:pPr>
              <a:buNone/>
            </a:pPr>
            <a:r>
              <a:rPr lang="en-US" sz="2000" b="1" dirty="0" smtClean="0">
                <a:latin typeface="Times New Roman" pitchFamily="18" charset="0"/>
                <a:cs typeface="Times New Roman" pitchFamily="18" charset="0"/>
              </a:rPr>
              <a:t>Web User Interface (HDFS Web UI):</a:t>
            </a:r>
            <a:endParaRPr lang="en-US" sz="2000" dirty="0" smtClean="0">
              <a:latin typeface="Times New Roman" pitchFamily="18" charset="0"/>
              <a:cs typeface="Times New Roman" pitchFamily="18" charset="0"/>
            </a:endParaRPr>
          </a:p>
          <a:p>
            <a:pPr lvl="1"/>
            <a:r>
              <a:rPr lang="en-US" sz="2000" dirty="0" smtClean="0">
                <a:latin typeface="Times New Roman" pitchFamily="18" charset="0"/>
                <a:cs typeface="Times New Roman" pitchFamily="18" charset="0"/>
              </a:rPr>
              <a:t>HDFS provides a web-based user interface that can be accessed through a web browser. </a:t>
            </a:r>
          </a:p>
          <a:p>
            <a:pPr lvl="1"/>
            <a:r>
              <a:rPr lang="en-US" sz="2000" dirty="0" smtClean="0">
                <a:latin typeface="Times New Roman" pitchFamily="18" charset="0"/>
                <a:cs typeface="Times New Roman" pitchFamily="18" charset="0"/>
              </a:rPr>
              <a:t>It allows you to browse the file system, view file information, and check the status of the HDFS cluster. </a:t>
            </a:r>
          </a:p>
          <a:p>
            <a:pPr lvl="1"/>
            <a:r>
              <a:rPr lang="en-US" sz="2000" dirty="0" smtClean="0">
                <a:latin typeface="Times New Roman" pitchFamily="18" charset="0"/>
                <a:cs typeface="Times New Roman" pitchFamily="18" charset="0"/>
              </a:rPr>
              <a:t>You can also access information about data nodes, block locations, and more.</a:t>
            </a:r>
          </a:p>
          <a:p>
            <a:pPr>
              <a:buNone/>
            </a:pPr>
            <a:r>
              <a:rPr lang="en-US" sz="2000" b="1" dirty="0" smtClean="0">
                <a:latin typeface="Times New Roman" pitchFamily="18" charset="0"/>
                <a:cs typeface="Times New Roman" pitchFamily="18" charset="0"/>
              </a:rPr>
              <a:t>Hadoop Java API:</a:t>
            </a:r>
            <a:endParaRPr lang="en-US" sz="2000" dirty="0" smtClean="0">
              <a:latin typeface="Times New Roman" pitchFamily="18" charset="0"/>
              <a:cs typeface="Times New Roman" pitchFamily="18" charset="0"/>
            </a:endParaRPr>
          </a:p>
          <a:p>
            <a:pPr lvl="1"/>
            <a:r>
              <a:rPr lang="en-US" sz="2000" dirty="0" smtClean="0">
                <a:latin typeface="Times New Roman" pitchFamily="18" charset="0"/>
                <a:cs typeface="Times New Roman" pitchFamily="18" charset="0"/>
              </a:rPr>
              <a:t>HDFS provides a Java API that allows developers to programmatically interact with the file system. </a:t>
            </a:r>
          </a:p>
          <a:p>
            <a:pPr lvl="1"/>
            <a:r>
              <a:rPr lang="en-US" sz="2000" dirty="0" smtClean="0">
                <a:latin typeface="Times New Roman" pitchFamily="18" charset="0"/>
                <a:cs typeface="Times New Roman" pitchFamily="18" charset="0"/>
              </a:rPr>
              <a:t>This API is part of the Apache Hadoop project and enables you to perform a wide range of operations, from basic file I/O to more advanced tasks such as setting replication factors, managing permissions, and handling file metadata.</a:t>
            </a:r>
            <a:endParaRPr lang="en-US" sz="2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HDFS - INTERFACES</a:t>
            </a:r>
            <a:endParaRPr lang="en-US" sz="3600" dirty="0"/>
          </a:p>
        </p:txBody>
      </p:sp>
      <p:sp>
        <p:nvSpPr>
          <p:cNvPr id="3" name="Content Placeholder 2"/>
          <p:cNvSpPr>
            <a:spLocks noGrp="1"/>
          </p:cNvSpPr>
          <p:nvPr>
            <p:ph idx="1"/>
          </p:nvPr>
        </p:nvSpPr>
        <p:spPr/>
        <p:txBody>
          <a:bodyPr>
            <a:normAutofit/>
          </a:bodyPr>
          <a:lstStyle/>
          <a:p>
            <a:pPr>
              <a:buNone/>
            </a:pPr>
            <a:r>
              <a:rPr lang="en-US" sz="2000" b="1" dirty="0" smtClean="0">
                <a:latin typeface="Times New Roman" pitchFamily="18" charset="0"/>
                <a:cs typeface="Times New Roman" pitchFamily="18" charset="0"/>
              </a:rPr>
              <a:t>Hadoop Streaming:</a:t>
            </a:r>
            <a:endParaRPr lang="en-US" sz="2000" dirty="0" smtClean="0">
              <a:latin typeface="Times New Roman" pitchFamily="18" charset="0"/>
              <a:cs typeface="Times New Roman" pitchFamily="18" charset="0"/>
            </a:endParaRPr>
          </a:p>
          <a:p>
            <a:pPr lvl="1"/>
            <a:r>
              <a:rPr lang="en-US" sz="2000" dirty="0" smtClean="0">
                <a:latin typeface="Times New Roman" pitchFamily="18" charset="0"/>
                <a:cs typeface="Times New Roman" pitchFamily="18" charset="0"/>
              </a:rPr>
              <a:t>Hadoop Streaming is an interface that allows you to write Map Reduce programs using languages other than Java (e.g., Python, Ruby, Perl). </a:t>
            </a:r>
          </a:p>
          <a:p>
            <a:pPr lvl="1"/>
            <a:r>
              <a:rPr lang="en-US" sz="2000" smtClean="0">
                <a:latin typeface="Times New Roman" pitchFamily="18" charset="0"/>
                <a:cs typeface="Times New Roman" pitchFamily="18" charset="0"/>
              </a:rPr>
              <a:t>It </a:t>
            </a:r>
            <a:r>
              <a:rPr lang="en-US" sz="2000" dirty="0" smtClean="0">
                <a:latin typeface="Times New Roman" pitchFamily="18" charset="0"/>
                <a:cs typeface="Times New Roman" pitchFamily="18" charset="0"/>
              </a:rPr>
              <a:t>enables you to process data stored in HDFS using custom scripts and command-line tools.</a:t>
            </a:r>
          </a:p>
          <a:p>
            <a:pPr lvl="1">
              <a:buNone/>
            </a:pPr>
            <a:endParaRPr lang="en-US" sz="2000" dirty="0" smtClean="0">
              <a:latin typeface="Times New Roman" pitchFamily="18" charset="0"/>
              <a:cs typeface="Times New Roman" pitchFamily="18" charset="0"/>
            </a:endParaRPr>
          </a:p>
          <a:p>
            <a:pPr>
              <a:buNone/>
            </a:pPr>
            <a:r>
              <a:rPr lang="en-US" sz="2000" b="1" dirty="0" smtClean="0">
                <a:latin typeface="Times New Roman" pitchFamily="18" charset="0"/>
                <a:cs typeface="Times New Roman" pitchFamily="18" charset="0"/>
              </a:rPr>
              <a:t>Hadoop HBase API:</a:t>
            </a:r>
            <a:endParaRPr lang="en-US" sz="2000" dirty="0" smtClean="0">
              <a:latin typeface="Times New Roman" pitchFamily="18" charset="0"/>
              <a:cs typeface="Times New Roman" pitchFamily="18" charset="0"/>
            </a:endParaRPr>
          </a:p>
          <a:p>
            <a:pPr lvl="1"/>
            <a:r>
              <a:rPr lang="en-US" sz="2000" dirty="0" smtClean="0">
                <a:latin typeface="Times New Roman" pitchFamily="18" charset="0"/>
                <a:cs typeface="Times New Roman" pitchFamily="18" charset="0"/>
              </a:rPr>
              <a:t>If you're using HBase, a No-SQL database built on top of HDFS, you can use the HBase API to interact with the database tables stored in HDFS.</a:t>
            </a:r>
          </a:p>
          <a:p>
            <a:pPr lvl="1"/>
            <a:endParaRPr lang="en-US" sz="2000" dirty="0" smtClean="0">
              <a:latin typeface="Times New Roman" pitchFamily="18" charset="0"/>
              <a:cs typeface="Times New Roman" pitchFamily="18" charset="0"/>
            </a:endParaRPr>
          </a:p>
          <a:p>
            <a:pPr>
              <a:buNone/>
            </a:pPr>
            <a:r>
              <a:rPr lang="en-US" sz="2000" b="1" dirty="0" smtClean="0">
                <a:latin typeface="Times New Roman" pitchFamily="18" charset="0"/>
                <a:cs typeface="Times New Roman" pitchFamily="18" charset="0"/>
              </a:rPr>
              <a:t>Third-Party Tools and Libraries</a:t>
            </a:r>
            <a:endParaRPr lang="en-US" sz="2000" dirty="0" smtClean="0">
              <a:latin typeface="Times New Roman" pitchFamily="18" charset="0"/>
              <a:cs typeface="Times New Roman" pitchFamily="18" charset="0"/>
            </a:endParaRPr>
          </a:p>
          <a:p>
            <a:pPr lvl="1"/>
            <a:endParaRPr lang="en-US" sz="2000" dirty="0" smtClean="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HDFS – Data Flow</a:t>
            </a:r>
            <a:endParaRPr lang="en-US" sz="36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Autofit/>
          </a:bodyPr>
          <a:lstStyle/>
          <a:p>
            <a:r>
              <a:rPr lang="en-US" sz="2000" dirty="0" smtClean="0">
                <a:latin typeface="Times New Roman" pitchFamily="18" charset="0"/>
                <a:cs typeface="Times New Roman" pitchFamily="18" charset="0"/>
              </a:rPr>
              <a:t>In Hadoop Distributed File System (HDFS), data flow involves how data is stored, distributed, and processed within the Hadoop cluster. </a:t>
            </a:r>
          </a:p>
          <a:p>
            <a:pPr>
              <a:buNone/>
            </a:pPr>
            <a:endParaRPr lang="en-US"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Here's a high-level overview of how data flows in HDFS:</a:t>
            </a:r>
          </a:p>
          <a:p>
            <a:pPr>
              <a:buNone/>
            </a:pPr>
            <a:endParaRPr lang="en-US"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Data Ingestion:</a:t>
            </a:r>
          </a:p>
          <a:p>
            <a:pPr lvl="1"/>
            <a:r>
              <a:rPr lang="en-US" sz="2000" dirty="0" smtClean="0">
                <a:latin typeface="Times New Roman" pitchFamily="18" charset="0"/>
                <a:cs typeface="Times New Roman" pitchFamily="18" charset="0"/>
              </a:rPr>
              <a:t>Data is ingested into HDFS from </a:t>
            </a:r>
            <a:r>
              <a:rPr lang="en-US" sz="2000" b="1" dirty="0" smtClean="0">
                <a:solidFill>
                  <a:srgbClr val="0070C0"/>
                </a:solidFill>
                <a:latin typeface="Times New Roman" pitchFamily="18" charset="0"/>
                <a:cs typeface="Times New Roman" pitchFamily="18" charset="0"/>
              </a:rPr>
              <a:t>Various Sources</a:t>
            </a:r>
            <a:r>
              <a:rPr lang="en-US" sz="2000" dirty="0" smtClean="0">
                <a:latin typeface="Times New Roman" pitchFamily="18" charset="0"/>
                <a:cs typeface="Times New Roman" pitchFamily="18" charset="0"/>
              </a:rPr>
              <a:t>. This can include log files, sensor data, application-generated data, and more.</a:t>
            </a:r>
          </a:p>
          <a:p>
            <a:pPr lvl="1"/>
            <a:r>
              <a:rPr lang="en-US" sz="2000" dirty="0" smtClean="0">
                <a:latin typeface="Times New Roman" pitchFamily="18" charset="0"/>
                <a:cs typeface="Times New Roman" pitchFamily="18" charset="0"/>
              </a:rPr>
              <a:t>The data is typically </a:t>
            </a:r>
            <a:r>
              <a:rPr lang="en-US" sz="2000" b="1" dirty="0" smtClean="0">
                <a:solidFill>
                  <a:srgbClr val="0070C0"/>
                </a:solidFill>
                <a:latin typeface="Times New Roman" pitchFamily="18" charset="0"/>
                <a:cs typeface="Times New Roman" pitchFamily="18" charset="0"/>
              </a:rPr>
              <a:t>Divided Into Smaller Blocks</a:t>
            </a:r>
            <a:r>
              <a:rPr lang="en-US" sz="2000" dirty="0" smtClean="0">
                <a:latin typeface="Times New Roman" pitchFamily="18" charset="0"/>
                <a:cs typeface="Times New Roman" pitchFamily="18" charset="0"/>
              </a:rPr>
              <a:t>, each of a fixed size (e.g., 128 MB or 256 MB by default). These blocks are the basic unit of storage in HDFS.</a:t>
            </a:r>
          </a:p>
          <a:p>
            <a:pPr lvl="1">
              <a:buNone/>
            </a:pPr>
            <a:endParaRPr lang="en-US" sz="2000" dirty="0" smtClean="0">
              <a:latin typeface="Times New Roman" pitchFamily="18" charset="0"/>
              <a:cs typeface="Times New Roman" pitchFamily="18" charset="0"/>
            </a:endParaRPr>
          </a:p>
          <a:p>
            <a:pPr>
              <a:buNone/>
            </a:pPr>
            <a:endParaRPr lang="en-US" sz="2000" dirty="0" smtClean="0">
              <a:latin typeface="Times New Roman" pitchFamily="18" charset="0"/>
              <a:cs typeface="Times New Roman" pitchFamily="18" charset="0"/>
            </a:endParaRPr>
          </a:p>
          <a:p>
            <a:pPr>
              <a:buNone/>
            </a:pPr>
            <a:endParaRPr lang="en-US" sz="2000" dirty="0" smtClean="0">
              <a:latin typeface="Times New Roman" pitchFamily="18" charset="0"/>
              <a:cs typeface="Times New Roman" pitchFamily="18" charset="0"/>
            </a:endParaRPr>
          </a:p>
          <a:p>
            <a:endParaRPr lang="en-US" sz="2000" dirty="0" smtClean="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HDFS – Data Flow</a:t>
            </a:r>
            <a:endParaRPr lang="en-US" sz="3600" dirty="0"/>
          </a:p>
        </p:txBody>
      </p:sp>
      <p:sp>
        <p:nvSpPr>
          <p:cNvPr id="3" name="Content Placeholder 2"/>
          <p:cNvSpPr>
            <a:spLocks noGrp="1"/>
          </p:cNvSpPr>
          <p:nvPr>
            <p:ph idx="1"/>
          </p:nvPr>
        </p:nvSpPr>
        <p:spPr/>
        <p:txBody>
          <a:bodyPr>
            <a:normAutofit lnSpcReduction="10000"/>
          </a:bodyPr>
          <a:lstStyle/>
          <a:p>
            <a:pPr>
              <a:buNone/>
            </a:pPr>
            <a:r>
              <a:rPr lang="en-US" sz="2000" dirty="0" smtClean="0">
                <a:latin typeface="Times New Roman" pitchFamily="18" charset="0"/>
                <a:cs typeface="Times New Roman" pitchFamily="18" charset="0"/>
              </a:rPr>
              <a:t>Data Splitting and Replication:</a:t>
            </a:r>
          </a:p>
          <a:p>
            <a:pPr lvl="1"/>
            <a:r>
              <a:rPr lang="en-US" sz="2000" dirty="0" smtClean="0">
                <a:latin typeface="Times New Roman" pitchFamily="18" charset="0"/>
                <a:cs typeface="Times New Roman" pitchFamily="18" charset="0"/>
              </a:rPr>
              <a:t>Once data is ingested, it is </a:t>
            </a:r>
            <a:r>
              <a:rPr lang="en-US" sz="2000" b="1" dirty="0" smtClean="0">
                <a:solidFill>
                  <a:srgbClr val="0070C0"/>
                </a:solidFill>
                <a:latin typeface="Times New Roman" pitchFamily="18" charset="0"/>
                <a:cs typeface="Times New Roman" pitchFamily="18" charset="0"/>
              </a:rPr>
              <a:t>Split Into Blocks</a:t>
            </a:r>
            <a:r>
              <a:rPr lang="en-US" sz="2000" dirty="0" smtClean="0">
                <a:latin typeface="Times New Roman" pitchFamily="18" charset="0"/>
                <a:cs typeface="Times New Roman" pitchFamily="18" charset="0"/>
              </a:rPr>
              <a:t> and distributed across the nodes in the Hadoop cluster.</a:t>
            </a:r>
          </a:p>
          <a:p>
            <a:pPr lvl="1"/>
            <a:r>
              <a:rPr lang="en-US" sz="2000" dirty="0" smtClean="0">
                <a:latin typeface="Times New Roman" pitchFamily="18" charset="0"/>
                <a:cs typeface="Times New Roman" pitchFamily="18" charset="0"/>
              </a:rPr>
              <a:t>Data replication  - Each </a:t>
            </a:r>
            <a:r>
              <a:rPr lang="en-US" sz="2000" b="1" dirty="0" smtClean="0">
                <a:solidFill>
                  <a:srgbClr val="0070C0"/>
                </a:solidFill>
                <a:latin typeface="Times New Roman" pitchFamily="18" charset="0"/>
                <a:cs typeface="Times New Roman" pitchFamily="18" charset="0"/>
              </a:rPr>
              <a:t>Block Is Replicated Multiple Times</a:t>
            </a:r>
            <a:r>
              <a:rPr lang="en-US" sz="2000" dirty="0" smtClean="0">
                <a:latin typeface="Times New Roman" pitchFamily="18" charset="0"/>
                <a:cs typeface="Times New Roman" pitchFamily="18" charset="0"/>
              </a:rPr>
              <a:t> (typically three) to provide fault tolerance. </a:t>
            </a:r>
          </a:p>
          <a:p>
            <a:pPr lvl="1"/>
            <a:r>
              <a:rPr lang="en-US" sz="2000" dirty="0" smtClean="0">
                <a:latin typeface="Times New Roman" pitchFamily="18" charset="0"/>
                <a:cs typeface="Times New Roman" pitchFamily="18" charset="0"/>
              </a:rPr>
              <a:t>These replicas are </a:t>
            </a:r>
            <a:r>
              <a:rPr lang="en-US" sz="2000" b="1" dirty="0" smtClean="0">
                <a:solidFill>
                  <a:srgbClr val="0070C0"/>
                </a:solidFill>
                <a:latin typeface="Times New Roman" pitchFamily="18" charset="0"/>
                <a:cs typeface="Times New Roman" pitchFamily="18" charset="0"/>
              </a:rPr>
              <a:t>Stored On Different Nodes</a:t>
            </a:r>
            <a:r>
              <a:rPr lang="en-US" sz="2000" dirty="0" smtClean="0">
                <a:latin typeface="Times New Roman" pitchFamily="18" charset="0"/>
                <a:cs typeface="Times New Roman" pitchFamily="18" charset="0"/>
              </a:rPr>
              <a:t> to ensure data availability even in the case of node failures.</a:t>
            </a:r>
          </a:p>
          <a:p>
            <a:pPr>
              <a:buNone/>
            </a:pPr>
            <a:endParaRPr lang="en-US"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Block Placement:</a:t>
            </a:r>
          </a:p>
          <a:p>
            <a:pPr lvl="1"/>
            <a:r>
              <a:rPr lang="en-US" sz="2000" dirty="0" smtClean="0">
                <a:latin typeface="Times New Roman" pitchFamily="18" charset="0"/>
                <a:cs typeface="Times New Roman" pitchFamily="18" charset="0"/>
              </a:rPr>
              <a:t>HDFS ensures that replicas of a block are placed on different nodes in the cluster. </a:t>
            </a:r>
          </a:p>
          <a:p>
            <a:pPr lvl="1"/>
            <a:r>
              <a:rPr lang="en-US" sz="2000" dirty="0" smtClean="0">
                <a:latin typeface="Times New Roman" pitchFamily="18" charset="0"/>
                <a:cs typeface="Times New Roman" pitchFamily="18" charset="0"/>
              </a:rPr>
              <a:t>This is done to distribute the data and its </a:t>
            </a:r>
            <a:r>
              <a:rPr lang="en-US" sz="2000" b="1" dirty="0" smtClean="0">
                <a:solidFill>
                  <a:srgbClr val="0070C0"/>
                </a:solidFill>
                <a:latin typeface="Times New Roman" pitchFamily="18" charset="0"/>
                <a:cs typeface="Times New Roman" pitchFamily="18" charset="0"/>
              </a:rPr>
              <a:t>Processing Load Evenly Across The Cluster.</a:t>
            </a:r>
            <a:endParaRPr lang="en-US" sz="2000" b="1" dirty="0">
              <a:solidFill>
                <a:srgbClr val="0070C0"/>
              </a:solidFill>
              <a:latin typeface="Times New Roman" pitchFamily="18" charset="0"/>
              <a:cs typeface="Times New Roman"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HDFS – Data Flow</a:t>
            </a:r>
            <a:endParaRPr lang="en-US" sz="3600" dirty="0"/>
          </a:p>
        </p:txBody>
      </p:sp>
      <p:sp>
        <p:nvSpPr>
          <p:cNvPr id="3" name="Content Placeholder 2"/>
          <p:cNvSpPr>
            <a:spLocks noGrp="1"/>
          </p:cNvSpPr>
          <p:nvPr>
            <p:ph idx="1"/>
          </p:nvPr>
        </p:nvSpPr>
        <p:spPr/>
        <p:txBody>
          <a:bodyPr>
            <a:noAutofit/>
          </a:bodyPr>
          <a:lstStyle/>
          <a:p>
            <a:pPr>
              <a:buNone/>
            </a:pPr>
            <a:r>
              <a:rPr lang="en-US" sz="2000" dirty="0" smtClean="0">
                <a:latin typeface="Times New Roman" pitchFamily="18" charset="0"/>
                <a:cs typeface="Times New Roman" pitchFamily="18" charset="0"/>
              </a:rPr>
              <a:t>Data Access:</a:t>
            </a:r>
          </a:p>
          <a:p>
            <a:pPr lvl="1"/>
            <a:r>
              <a:rPr lang="en-US" sz="2000" dirty="0" smtClean="0">
                <a:latin typeface="Times New Roman" pitchFamily="18" charset="0"/>
                <a:cs typeface="Times New Roman" pitchFamily="18" charset="0"/>
              </a:rPr>
              <a:t>When a </a:t>
            </a:r>
            <a:r>
              <a:rPr lang="en-US" sz="2000" b="1" dirty="0" smtClean="0">
                <a:solidFill>
                  <a:srgbClr val="0070C0"/>
                </a:solidFill>
                <a:latin typeface="Times New Roman" pitchFamily="18" charset="0"/>
                <a:cs typeface="Times New Roman" pitchFamily="18" charset="0"/>
              </a:rPr>
              <a:t>User</a:t>
            </a:r>
            <a:r>
              <a:rPr lang="en-US" sz="2000" dirty="0" smtClean="0">
                <a:latin typeface="Times New Roman" pitchFamily="18" charset="0"/>
                <a:cs typeface="Times New Roman" pitchFamily="18" charset="0"/>
              </a:rPr>
              <a:t> or application wants to </a:t>
            </a:r>
            <a:r>
              <a:rPr lang="en-US" sz="2000" b="1" dirty="0" smtClean="0">
                <a:solidFill>
                  <a:srgbClr val="0070C0"/>
                </a:solidFill>
                <a:latin typeface="Times New Roman" pitchFamily="18" charset="0"/>
                <a:cs typeface="Times New Roman" pitchFamily="18" charset="0"/>
              </a:rPr>
              <a:t>Read Or Process Data</a:t>
            </a:r>
            <a:r>
              <a:rPr lang="en-US" sz="2000" dirty="0" smtClean="0">
                <a:latin typeface="Times New Roman" pitchFamily="18" charset="0"/>
                <a:cs typeface="Times New Roman" pitchFamily="18" charset="0"/>
              </a:rPr>
              <a:t> stored in HDFS, they interact with the </a:t>
            </a:r>
            <a:r>
              <a:rPr lang="en-US" sz="2000" b="1" dirty="0" smtClean="0">
                <a:solidFill>
                  <a:srgbClr val="0070C0"/>
                </a:solidFill>
                <a:latin typeface="Times New Roman" pitchFamily="18" charset="0"/>
                <a:cs typeface="Times New Roman" pitchFamily="18" charset="0"/>
              </a:rPr>
              <a:t>HDFS Client </a:t>
            </a:r>
            <a:r>
              <a:rPr lang="en-US" sz="2000" dirty="0" smtClean="0">
                <a:latin typeface="Times New Roman" pitchFamily="18" charset="0"/>
                <a:cs typeface="Times New Roman" pitchFamily="18" charset="0"/>
              </a:rPr>
              <a:t>(Library that allows user to interact with Hadoop cluster).</a:t>
            </a:r>
          </a:p>
          <a:p>
            <a:pPr lvl="1"/>
            <a:r>
              <a:rPr lang="en-US" sz="2000" dirty="0" smtClean="0">
                <a:latin typeface="Times New Roman" pitchFamily="18" charset="0"/>
                <a:cs typeface="Times New Roman" pitchFamily="18" charset="0"/>
              </a:rPr>
              <a:t>The HDFS client knows the location of the data blocks, and it contacts the </a:t>
            </a:r>
            <a:r>
              <a:rPr lang="en-US" sz="2000" b="1" dirty="0" smtClean="0">
                <a:solidFill>
                  <a:srgbClr val="0070C0"/>
                </a:solidFill>
                <a:latin typeface="Times New Roman" pitchFamily="18" charset="0"/>
                <a:cs typeface="Times New Roman" pitchFamily="18" charset="0"/>
              </a:rPr>
              <a:t>Data Nodes To Retrieve The Data</a:t>
            </a:r>
            <a:r>
              <a:rPr lang="en-US" sz="2000" dirty="0" smtClean="0">
                <a:latin typeface="Times New Roman" pitchFamily="18" charset="0"/>
                <a:cs typeface="Times New Roman" pitchFamily="18" charset="0"/>
              </a:rPr>
              <a:t>.</a:t>
            </a:r>
          </a:p>
          <a:p>
            <a:pPr lvl="1"/>
            <a:r>
              <a:rPr lang="en-US" sz="2000" dirty="0" smtClean="0">
                <a:latin typeface="Times New Roman" pitchFamily="18" charset="0"/>
                <a:cs typeface="Times New Roman" pitchFamily="18" charset="0"/>
              </a:rPr>
              <a:t>If one Data Node is slow or </a:t>
            </a:r>
            <a:r>
              <a:rPr lang="en-US" sz="2000" b="1" dirty="0" smtClean="0">
                <a:solidFill>
                  <a:srgbClr val="0070C0"/>
                </a:solidFill>
                <a:latin typeface="Times New Roman" pitchFamily="18" charset="0"/>
                <a:cs typeface="Times New Roman" pitchFamily="18" charset="0"/>
              </a:rPr>
              <a:t>Unresponsive</a:t>
            </a:r>
            <a:r>
              <a:rPr lang="en-US" sz="2000" dirty="0" smtClean="0">
                <a:latin typeface="Times New Roman" pitchFamily="18" charset="0"/>
                <a:cs typeface="Times New Roman" pitchFamily="18" charset="0"/>
              </a:rPr>
              <a:t>, the client can fetch the data from one of the other replicas.</a:t>
            </a:r>
          </a:p>
          <a:p>
            <a:pPr>
              <a:buNone/>
            </a:pPr>
            <a:r>
              <a:rPr lang="en-US" sz="2000" dirty="0" smtClean="0">
                <a:latin typeface="Times New Roman" pitchFamily="18" charset="0"/>
                <a:cs typeface="Times New Roman" pitchFamily="18" charset="0"/>
              </a:rPr>
              <a:t>Data Processing:</a:t>
            </a:r>
          </a:p>
          <a:p>
            <a:pPr lvl="1"/>
            <a:r>
              <a:rPr lang="en-US" sz="2000" dirty="0" smtClean="0">
                <a:latin typeface="Times New Roman" pitchFamily="18" charset="0"/>
                <a:cs typeface="Times New Roman" pitchFamily="18" charset="0"/>
              </a:rPr>
              <a:t>Hadoop applications, such as</a:t>
            </a:r>
            <a:r>
              <a:rPr lang="en-US" sz="2000" b="1" dirty="0" smtClean="0">
                <a:solidFill>
                  <a:srgbClr val="0070C0"/>
                </a:solidFill>
                <a:latin typeface="Times New Roman" pitchFamily="18" charset="0"/>
                <a:cs typeface="Times New Roman" pitchFamily="18" charset="0"/>
              </a:rPr>
              <a:t> Map Reduce, Hive, Pig, and Spark</a:t>
            </a:r>
            <a:r>
              <a:rPr lang="en-US" sz="2000" dirty="0" smtClean="0">
                <a:latin typeface="Times New Roman" pitchFamily="18" charset="0"/>
                <a:cs typeface="Times New Roman" pitchFamily="18" charset="0"/>
              </a:rPr>
              <a:t>, process the data stored in HDFS.</a:t>
            </a:r>
          </a:p>
          <a:p>
            <a:pPr lvl="1"/>
            <a:endParaRPr lang="en-US" sz="2000" dirty="0" smtClean="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HDFS – Data Flow</a:t>
            </a:r>
            <a:endParaRPr lang="en-US" sz="3600" dirty="0"/>
          </a:p>
        </p:txBody>
      </p:sp>
      <p:sp>
        <p:nvSpPr>
          <p:cNvPr id="3" name="Content Placeholder 2"/>
          <p:cNvSpPr>
            <a:spLocks noGrp="1"/>
          </p:cNvSpPr>
          <p:nvPr>
            <p:ph idx="1"/>
          </p:nvPr>
        </p:nvSpPr>
        <p:spPr/>
        <p:txBody>
          <a:bodyPr>
            <a:normAutofit/>
          </a:bodyPr>
          <a:lstStyle/>
          <a:p>
            <a:pPr>
              <a:buNone/>
            </a:pPr>
            <a:r>
              <a:rPr lang="en-US" sz="2000" dirty="0" smtClean="0">
                <a:latin typeface="Times New Roman" pitchFamily="18" charset="0"/>
                <a:cs typeface="Times New Roman" pitchFamily="18" charset="0"/>
              </a:rPr>
              <a:t>Data Movement and Replication Maintenance:</a:t>
            </a:r>
          </a:p>
          <a:p>
            <a:pPr lvl="1"/>
            <a:r>
              <a:rPr lang="en-US" sz="2000" dirty="0" smtClean="0">
                <a:latin typeface="Times New Roman" pitchFamily="18" charset="0"/>
                <a:cs typeface="Times New Roman" pitchFamily="18" charset="0"/>
              </a:rPr>
              <a:t>HDFS continuously </a:t>
            </a:r>
            <a:r>
              <a:rPr lang="en-US" sz="2000" b="1" dirty="0" smtClean="0">
                <a:solidFill>
                  <a:srgbClr val="0070C0"/>
                </a:solidFill>
                <a:latin typeface="Times New Roman" pitchFamily="18" charset="0"/>
                <a:cs typeface="Times New Roman" pitchFamily="18" charset="0"/>
              </a:rPr>
              <a:t>Monitors The Health</a:t>
            </a:r>
            <a:r>
              <a:rPr lang="en-US" sz="2000" dirty="0" smtClean="0">
                <a:latin typeface="Times New Roman" pitchFamily="18" charset="0"/>
                <a:cs typeface="Times New Roman" pitchFamily="18" charset="0"/>
              </a:rPr>
              <a:t> of the cluster.</a:t>
            </a:r>
          </a:p>
          <a:p>
            <a:pPr lvl="1"/>
            <a:r>
              <a:rPr lang="en-US" sz="2000" dirty="0" smtClean="0">
                <a:latin typeface="Times New Roman" pitchFamily="18" charset="0"/>
                <a:cs typeface="Times New Roman" pitchFamily="18" charset="0"/>
              </a:rPr>
              <a:t> Data Node or a block becomes </a:t>
            </a:r>
            <a:r>
              <a:rPr lang="en-US" sz="2000" b="1" dirty="0" smtClean="0">
                <a:solidFill>
                  <a:srgbClr val="0070C0"/>
                </a:solidFill>
                <a:latin typeface="Times New Roman" pitchFamily="18" charset="0"/>
                <a:cs typeface="Times New Roman" pitchFamily="18" charset="0"/>
              </a:rPr>
              <a:t>Unavailable</a:t>
            </a:r>
            <a:r>
              <a:rPr lang="en-US" sz="2000" dirty="0" smtClean="0">
                <a:latin typeface="Times New Roman" pitchFamily="18" charset="0"/>
                <a:cs typeface="Times New Roman" pitchFamily="18" charset="0"/>
              </a:rPr>
              <a:t>, HDFS </a:t>
            </a:r>
            <a:r>
              <a:rPr lang="en-US" sz="2000" b="1" dirty="0" smtClean="0">
                <a:solidFill>
                  <a:srgbClr val="0070C0"/>
                </a:solidFill>
                <a:latin typeface="Times New Roman" pitchFamily="18" charset="0"/>
                <a:cs typeface="Times New Roman" pitchFamily="18" charset="0"/>
              </a:rPr>
              <a:t>Automatically Replicates The Data</a:t>
            </a:r>
            <a:r>
              <a:rPr lang="en-US" sz="2000" dirty="0" smtClean="0">
                <a:latin typeface="Times New Roman" pitchFamily="18" charset="0"/>
                <a:cs typeface="Times New Roman" pitchFamily="18" charset="0"/>
              </a:rPr>
              <a:t> to maintain the desired replication factor.</a:t>
            </a:r>
          </a:p>
          <a:p>
            <a:pPr lvl="1"/>
            <a:r>
              <a:rPr lang="en-US" sz="2000" dirty="0" smtClean="0">
                <a:latin typeface="Times New Roman" pitchFamily="18" charset="0"/>
                <a:cs typeface="Times New Roman" pitchFamily="18" charset="0"/>
              </a:rPr>
              <a:t>Similarly, if </a:t>
            </a:r>
            <a:r>
              <a:rPr lang="en-US" sz="2000" b="1" dirty="0" smtClean="0">
                <a:solidFill>
                  <a:srgbClr val="0070C0"/>
                </a:solidFill>
                <a:latin typeface="Times New Roman" pitchFamily="18" charset="0"/>
                <a:cs typeface="Times New Roman" pitchFamily="18" charset="0"/>
              </a:rPr>
              <a:t>New Nodes</a:t>
            </a:r>
            <a:r>
              <a:rPr lang="en-US" sz="2000" dirty="0" smtClean="0">
                <a:latin typeface="Times New Roman" pitchFamily="18" charset="0"/>
                <a:cs typeface="Times New Roman" pitchFamily="18" charset="0"/>
              </a:rPr>
              <a:t> are added to the cluster, HDFS will </a:t>
            </a:r>
            <a:r>
              <a:rPr lang="en-US" sz="2000" b="1" dirty="0" smtClean="0">
                <a:solidFill>
                  <a:srgbClr val="0070C0"/>
                </a:solidFill>
                <a:latin typeface="Times New Roman" pitchFamily="18" charset="0"/>
                <a:cs typeface="Times New Roman" pitchFamily="18" charset="0"/>
              </a:rPr>
              <a:t>Rebalance</a:t>
            </a:r>
            <a:r>
              <a:rPr lang="en-US" sz="2000" dirty="0" smtClean="0">
                <a:latin typeface="Times New Roman" pitchFamily="18" charset="0"/>
                <a:cs typeface="Times New Roman" pitchFamily="18" charset="0"/>
              </a:rPr>
              <a:t> data blocks to ensure even distribution.</a:t>
            </a:r>
          </a:p>
          <a:p>
            <a:pPr lvl="1">
              <a:buNone/>
            </a:pPr>
            <a:endParaRPr lang="en-US"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Data Ejection:</a:t>
            </a:r>
          </a:p>
          <a:p>
            <a:pPr lvl="1"/>
            <a:r>
              <a:rPr lang="en-US" sz="2000" dirty="0" smtClean="0">
                <a:latin typeface="Times New Roman" pitchFamily="18" charset="0"/>
                <a:cs typeface="Times New Roman" pitchFamily="18" charset="0"/>
              </a:rPr>
              <a:t>Data in HDFS can be </a:t>
            </a:r>
            <a:r>
              <a:rPr lang="en-US" sz="2000" b="1" dirty="0" smtClean="0">
                <a:solidFill>
                  <a:srgbClr val="0070C0"/>
                </a:solidFill>
                <a:latin typeface="Times New Roman" pitchFamily="18" charset="0"/>
                <a:cs typeface="Times New Roman" pitchFamily="18" charset="0"/>
              </a:rPr>
              <a:t>Deleted</a:t>
            </a:r>
            <a:r>
              <a:rPr lang="en-US" sz="2000" dirty="0" smtClean="0">
                <a:latin typeface="Times New Roman" pitchFamily="18" charset="0"/>
                <a:cs typeface="Times New Roman" pitchFamily="18" charset="0"/>
              </a:rPr>
              <a:t> when it is no longer needed. </a:t>
            </a:r>
            <a:endParaRPr lang="en-US" sz="2000" dirty="0" smtClean="0">
              <a:latin typeface="Times New Roman" pitchFamily="18" charset="0"/>
              <a:cs typeface="Times New Roman" pitchFamily="18" charset="0"/>
            </a:endParaRPr>
          </a:p>
          <a:p>
            <a:pPr lvl="1"/>
            <a:r>
              <a:rPr lang="en-US" sz="2000" dirty="0" smtClean="0">
                <a:latin typeface="Times New Roman" pitchFamily="18" charset="0"/>
                <a:cs typeface="Times New Roman" pitchFamily="18" charset="0"/>
              </a:rPr>
              <a:t>HDFS </a:t>
            </a:r>
            <a:r>
              <a:rPr lang="en-US" sz="2000" dirty="0" smtClean="0">
                <a:latin typeface="Times New Roman" pitchFamily="18" charset="0"/>
                <a:cs typeface="Times New Roman" pitchFamily="18" charset="0"/>
              </a:rPr>
              <a:t>automatically </a:t>
            </a:r>
            <a:r>
              <a:rPr lang="en-US" sz="2000" b="1" dirty="0" smtClean="0">
                <a:solidFill>
                  <a:srgbClr val="0070C0"/>
                </a:solidFill>
                <a:latin typeface="Times New Roman" pitchFamily="18" charset="0"/>
                <a:cs typeface="Times New Roman" pitchFamily="18" charset="0"/>
              </a:rPr>
              <a:t>Reclaims Storage Space</a:t>
            </a:r>
            <a:r>
              <a:rPr lang="en-US" sz="2000" dirty="0" smtClean="0">
                <a:latin typeface="Times New Roman" pitchFamily="18" charset="0"/>
                <a:cs typeface="Times New Roman" pitchFamily="18" charset="0"/>
              </a:rPr>
              <a:t> by removing the corresponding blocks and their replicas.</a:t>
            </a:r>
          </a:p>
          <a:p>
            <a:pPr lvl="1"/>
            <a:endParaRPr lang="en-US" sz="2000" dirty="0" smtClean="0">
              <a:latin typeface="Times New Roman" pitchFamily="18" charset="0"/>
              <a:cs typeface="Times New Roman" pitchFamily="18" charset="0"/>
            </a:endParaRPr>
          </a:p>
          <a:p>
            <a:endParaRPr lang="en-US" sz="2000" dirty="0" smtClean="0">
              <a:latin typeface="Times New Roman" pitchFamily="18" charset="0"/>
              <a:cs typeface="Times New Roman" pitchFamily="18" charset="0"/>
            </a:endParaRPr>
          </a:p>
          <a:p>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smtClean="0">
                <a:latin typeface="Times New Roman" pitchFamily="18" charset="0"/>
                <a:cs typeface="Times New Roman" pitchFamily="18" charset="0"/>
              </a:rPr>
              <a:t>Hadoop I/O</a:t>
            </a:r>
            <a:endParaRPr lang="en-US" dirty="0">
              <a:latin typeface="Times New Roman" pitchFamily="18" charset="0"/>
              <a:cs typeface="Times New Roman" pitchFamily="18" charset="0"/>
            </a:endParaRPr>
          </a:p>
        </p:txBody>
      </p:sp>
      <p:sp>
        <p:nvSpPr>
          <p:cNvPr id="3" name="Text Placeholder 2"/>
          <p:cNvSpPr>
            <a:spLocks noGrp="1"/>
          </p:cNvSpPr>
          <p:nvPr>
            <p:ph type="body" idx="1"/>
          </p:nvPr>
        </p:nvSpPr>
        <p:spPr/>
        <p:txBody>
          <a:bodyPr>
            <a:noAutofit/>
          </a:bodyPr>
          <a:lstStyle/>
          <a:p>
            <a:pPr algn="ctr"/>
            <a:endParaRPr lang="en-US" sz="3200" dirty="0" smtClean="0">
              <a:latin typeface="Times New Roman" pitchFamily="18" charset="0"/>
              <a:cs typeface="Times New Roman" pitchFamily="18" charset="0"/>
            </a:endParaRPr>
          </a:p>
          <a:p>
            <a:pPr algn="ctr"/>
            <a:r>
              <a:rPr lang="en-US" sz="3200" dirty="0" smtClean="0">
                <a:latin typeface="Times New Roman" pitchFamily="18" charset="0"/>
                <a:cs typeface="Times New Roman" pitchFamily="18" charset="0"/>
              </a:rPr>
              <a:t>Hadoop Input / output – Data Integrity, Compression, Serialization, File Based Data Structures.</a:t>
            </a:r>
            <a:endParaRPr lang="en-US" sz="3200" dirty="0">
              <a:latin typeface="Times New Roman" pitchFamily="18" charset="0"/>
              <a:cs typeface="Times New Roman"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Hadoop I/O</a:t>
            </a:r>
            <a:endParaRPr lang="en-US" sz="36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sz="2000" dirty="0" smtClean="0"/>
              <a:t>Hadoop I/O is a </a:t>
            </a:r>
            <a:r>
              <a:rPr lang="en-US" sz="2000" b="1" dirty="0" smtClean="0">
                <a:solidFill>
                  <a:srgbClr val="0070C0"/>
                </a:solidFill>
              </a:rPr>
              <a:t>Crucial Component </a:t>
            </a:r>
            <a:r>
              <a:rPr lang="en-US" sz="2000" dirty="0" smtClean="0"/>
              <a:t>of the Hadoop ecosystem.</a:t>
            </a:r>
          </a:p>
          <a:p>
            <a:endParaRPr lang="en-US" sz="2000" dirty="0" smtClean="0"/>
          </a:p>
          <a:p>
            <a:r>
              <a:rPr lang="en-US" sz="2000" dirty="0" smtClean="0"/>
              <a:t>Responsible for reading data from various sources &amp; processing it using distributed data processing frameworks, and writing results back to storage. </a:t>
            </a:r>
          </a:p>
          <a:p>
            <a:pPr>
              <a:buNone/>
            </a:pPr>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Once you have data in Hadoop, you may need to get it out for further analysis or to use it in another system. </a:t>
            </a:r>
          </a:p>
          <a:p>
            <a:pPr>
              <a:buNone/>
            </a:pPr>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One way to get data out of Hadoop is to use </a:t>
            </a:r>
            <a:r>
              <a:rPr lang="en-US" sz="2000" b="1" dirty="0" smtClean="0">
                <a:solidFill>
                  <a:srgbClr val="0070C0"/>
                </a:solidFill>
                <a:latin typeface="Times New Roman" pitchFamily="18" charset="0"/>
                <a:cs typeface="Times New Roman" pitchFamily="18" charset="0"/>
              </a:rPr>
              <a:t>HDFS Commands.</a:t>
            </a:r>
            <a:endParaRPr lang="en-US" sz="2000" b="1" dirty="0">
              <a:solidFill>
                <a:srgbClr val="0070C0"/>
              </a:solidFill>
              <a:latin typeface="Times New Roman" pitchFamily="18" charset="0"/>
              <a:cs typeface="Times New Roman"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Hadoop I/O – Data Integrity</a:t>
            </a:r>
            <a:endParaRPr lang="en-US" sz="36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Autofit/>
          </a:bodyPr>
          <a:lstStyle/>
          <a:p>
            <a:r>
              <a:rPr lang="en-US" sz="2000" dirty="0" smtClean="0">
                <a:latin typeface="Times New Roman" pitchFamily="18" charset="0"/>
                <a:cs typeface="Times New Roman" pitchFamily="18" charset="0"/>
              </a:rPr>
              <a:t>Data remains </a:t>
            </a:r>
            <a:r>
              <a:rPr lang="en-US" sz="2000" b="1" dirty="0" smtClean="0">
                <a:solidFill>
                  <a:srgbClr val="0070C0"/>
                </a:solidFill>
                <a:latin typeface="Times New Roman" pitchFamily="18" charset="0"/>
                <a:cs typeface="Times New Roman" pitchFamily="18" charset="0"/>
              </a:rPr>
              <a:t>Accurate and Consistent</a:t>
            </a:r>
            <a:r>
              <a:rPr lang="en-US" sz="2000" dirty="0" smtClean="0">
                <a:latin typeface="Times New Roman" pitchFamily="18" charset="0"/>
                <a:cs typeface="Times New Roman" pitchFamily="18" charset="0"/>
              </a:rPr>
              <a:t> throughout its lifecycle within the Hadoop ecosystem. </a:t>
            </a:r>
          </a:p>
          <a:p>
            <a:r>
              <a:rPr lang="en-US" sz="2000" dirty="0" smtClean="0">
                <a:latin typeface="Times New Roman" pitchFamily="18" charset="0"/>
                <a:cs typeface="Times New Roman" pitchFamily="18" charset="0"/>
              </a:rPr>
              <a:t>Hadoop is primarily used for processing large volumes of data across distributed clusters, and ensuring data integrity is crucial to</a:t>
            </a:r>
            <a:r>
              <a:rPr lang="en-US" sz="2000" b="1" dirty="0" smtClean="0">
                <a:solidFill>
                  <a:srgbClr val="0070C0"/>
                </a:solidFill>
                <a:latin typeface="Times New Roman" pitchFamily="18" charset="0"/>
                <a:cs typeface="Times New Roman" pitchFamily="18" charset="0"/>
              </a:rPr>
              <a:t> Avoid Errors</a:t>
            </a:r>
            <a:r>
              <a:rPr lang="en-US" sz="2000" dirty="0" smtClean="0">
                <a:latin typeface="Times New Roman" pitchFamily="18" charset="0"/>
                <a:cs typeface="Times New Roman" pitchFamily="18" charset="0"/>
              </a:rPr>
              <a:t>, corruption, or data loss. </a:t>
            </a:r>
          </a:p>
          <a:p>
            <a:pPr>
              <a:buNone/>
            </a:pPr>
            <a:endParaRPr lang="en-US"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Here are some key aspects and techniques for maintaining data integrity in Hadoop I/O:</a:t>
            </a:r>
          </a:p>
          <a:p>
            <a:pPr>
              <a:buNone/>
            </a:pPr>
            <a:r>
              <a:rPr lang="en-US" sz="2000" b="1" dirty="0" smtClean="0">
                <a:latin typeface="Times New Roman" pitchFamily="18" charset="0"/>
                <a:cs typeface="Times New Roman" pitchFamily="18" charset="0"/>
              </a:rPr>
              <a:t>Replication</a:t>
            </a:r>
            <a:r>
              <a:rPr lang="en-US" sz="2000" dirty="0" smtClean="0">
                <a:latin typeface="Times New Roman" pitchFamily="18" charset="0"/>
                <a:cs typeface="Times New Roman" pitchFamily="18" charset="0"/>
              </a:rPr>
              <a:t>: Hadoop replicates data across multiple nodes in the cluster by default. </a:t>
            </a:r>
          </a:p>
          <a:p>
            <a:pPr>
              <a:buNone/>
            </a:pPr>
            <a:r>
              <a:rPr lang="en-US" sz="2000" b="1" dirty="0" smtClean="0">
                <a:latin typeface="Times New Roman" pitchFamily="18" charset="0"/>
                <a:cs typeface="Times New Roman" pitchFamily="18" charset="0"/>
              </a:rPr>
              <a:t>Checksums</a:t>
            </a:r>
            <a:r>
              <a:rPr lang="en-US" sz="2000" dirty="0" smtClean="0">
                <a:latin typeface="Times New Roman" pitchFamily="18" charset="0"/>
                <a:cs typeface="Times New Roman" pitchFamily="18" charset="0"/>
              </a:rPr>
              <a:t>: A checksum is a value that represents the </a:t>
            </a:r>
            <a:r>
              <a:rPr lang="en-US" sz="2000" b="1" dirty="0" smtClean="0">
                <a:solidFill>
                  <a:srgbClr val="0070C0"/>
                </a:solidFill>
                <a:latin typeface="Times New Roman" pitchFamily="18" charset="0"/>
                <a:cs typeface="Times New Roman" pitchFamily="18" charset="0"/>
              </a:rPr>
              <a:t>Number Of Bits</a:t>
            </a:r>
            <a:r>
              <a:rPr lang="en-US" sz="2000" dirty="0" smtClean="0">
                <a:latin typeface="Times New Roman" pitchFamily="18" charset="0"/>
                <a:cs typeface="Times New Roman" pitchFamily="18" charset="0"/>
              </a:rPr>
              <a:t> in a transmission message.</a:t>
            </a:r>
          </a:p>
          <a:p>
            <a:r>
              <a:rPr lang="en-US" sz="2000" dirty="0" smtClean="0">
                <a:latin typeface="Times New Roman" pitchFamily="18" charset="0"/>
                <a:cs typeface="Times New Roman" pitchFamily="18" charset="0"/>
              </a:rPr>
              <a:t> Hadoop uses checksums to verify the integrity of data during both read and write operations. </a:t>
            </a:r>
          </a:p>
          <a:p>
            <a:pPr>
              <a:buNone/>
            </a:pPr>
            <a:endParaRPr lang="en-US" sz="2000" dirty="0" smtClean="0">
              <a:latin typeface="Times New Roman" pitchFamily="18" charset="0"/>
              <a:cs typeface="Times New Roman" pitchFamily="18" charset="0"/>
            </a:endParaRPr>
          </a:p>
          <a:p>
            <a:endParaRPr lang="en-US" sz="2000" dirty="0" smtClean="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Hadoop I/O – Data Integrity</a:t>
            </a:r>
            <a:endParaRPr lang="en-US" sz="3600" dirty="0"/>
          </a:p>
        </p:txBody>
      </p:sp>
      <p:sp>
        <p:nvSpPr>
          <p:cNvPr id="3" name="Content Placeholder 2"/>
          <p:cNvSpPr>
            <a:spLocks noGrp="1"/>
          </p:cNvSpPr>
          <p:nvPr>
            <p:ph idx="1"/>
          </p:nvPr>
        </p:nvSpPr>
        <p:spPr/>
        <p:txBody>
          <a:bodyPr>
            <a:noAutofit/>
          </a:bodyPr>
          <a:lstStyle/>
          <a:p>
            <a:pPr>
              <a:buNone/>
            </a:pPr>
            <a:r>
              <a:rPr lang="en-US" sz="2000" b="1" dirty="0" smtClean="0">
                <a:latin typeface="Times New Roman" pitchFamily="18" charset="0"/>
                <a:cs typeface="Times New Roman" pitchFamily="18" charset="0"/>
              </a:rPr>
              <a:t>Data Validation</a:t>
            </a:r>
            <a:r>
              <a:rPr lang="en-US" sz="2000" dirty="0" smtClean="0">
                <a:latin typeface="Times New Roman" pitchFamily="18" charset="0"/>
                <a:cs typeface="Times New Roman" pitchFamily="18" charset="0"/>
              </a:rPr>
              <a:t>: Before storing data in Hadoop, it's a good practice to validate it for </a:t>
            </a:r>
            <a:r>
              <a:rPr lang="en-US" sz="2000" b="1" dirty="0" smtClean="0">
                <a:solidFill>
                  <a:srgbClr val="0070C0"/>
                </a:solidFill>
                <a:latin typeface="Times New Roman" pitchFamily="18" charset="0"/>
                <a:cs typeface="Times New Roman" pitchFamily="18" charset="0"/>
              </a:rPr>
              <a:t>correctness and completeness</a:t>
            </a:r>
            <a:r>
              <a:rPr lang="en-US" sz="2000" dirty="0" smtClean="0">
                <a:latin typeface="Times New Roman" pitchFamily="18" charset="0"/>
                <a:cs typeface="Times New Roman" pitchFamily="18" charset="0"/>
              </a:rPr>
              <a:t>. </a:t>
            </a:r>
          </a:p>
          <a:p>
            <a:r>
              <a:rPr lang="en-US" sz="2000" dirty="0" smtClean="0">
                <a:latin typeface="Times New Roman" pitchFamily="18" charset="0"/>
                <a:cs typeface="Times New Roman" pitchFamily="18" charset="0"/>
              </a:rPr>
              <a:t>This can be done using data </a:t>
            </a:r>
            <a:r>
              <a:rPr lang="en-US" sz="2000" b="1" dirty="0" smtClean="0">
                <a:solidFill>
                  <a:srgbClr val="0070C0"/>
                </a:solidFill>
                <a:latin typeface="Times New Roman" pitchFamily="18" charset="0"/>
                <a:cs typeface="Times New Roman" pitchFamily="18" charset="0"/>
              </a:rPr>
              <a:t>Validation Scripts Or Custom Code</a:t>
            </a:r>
            <a:r>
              <a:rPr lang="en-US" sz="2000" dirty="0" smtClean="0">
                <a:latin typeface="Times New Roman" pitchFamily="18" charset="0"/>
                <a:cs typeface="Times New Roman" pitchFamily="18" charset="0"/>
              </a:rPr>
              <a:t> to ensure that only high-quality data is ingested into the Hadoop ecosystem.</a:t>
            </a:r>
          </a:p>
          <a:p>
            <a:pPr>
              <a:buNone/>
            </a:pPr>
            <a:endParaRPr lang="en-US" sz="2000" dirty="0" smtClean="0">
              <a:latin typeface="Times New Roman" pitchFamily="18" charset="0"/>
              <a:cs typeface="Times New Roman" pitchFamily="18" charset="0"/>
            </a:endParaRPr>
          </a:p>
          <a:p>
            <a:pPr>
              <a:buNone/>
            </a:pPr>
            <a:r>
              <a:rPr lang="en-US" sz="2000" b="1" dirty="0" smtClean="0">
                <a:latin typeface="Times New Roman" pitchFamily="18" charset="0"/>
                <a:cs typeface="Times New Roman" pitchFamily="18" charset="0"/>
              </a:rPr>
              <a:t>Compression</a:t>
            </a:r>
            <a:r>
              <a:rPr lang="en-US" sz="2000" dirty="0" smtClean="0">
                <a:latin typeface="Times New Roman" pitchFamily="18" charset="0"/>
                <a:cs typeface="Times New Roman" pitchFamily="18" charset="0"/>
              </a:rPr>
              <a:t>: It can save storage space and reduce data transfer times</a:t>
            </a:r>
            <a:r>
              <a:rPr lang="en-US" sz="2000" dirty="0">
                <a:latin typeface="Times New Roman" pitchFamily="18" charset="0"/>
                <a:cs typeface="Times New Roman" pitchFamily="18" charset="0"/>
              </a:rPr>
              <a:t>.</a:t>
            </a:r>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Ensure that you use </a:t>
            </a:r>
            <a:r>
              <a:rPr lang="en-US" sz="2000" b="1" dirty="0" smtClean="0">
                <a:solidFill>
                  <a:srgbClr val="0070C0"/>
                </a:solidFill>
                <a:latin typeface="Times New Roman" pitchFamily="18" charset="0"/>
                <a:cs typeface="Times New Roman" pitchFamily="18" charset="0"/>
              </a:rPr>
              <a:t>codecs</a:t>
            </a:r>
            <a:r>
              <a:rPr lang="en-US" sz="2000" dirty="0" smtClean="0">
                <a:latin typeface="Times New Roman" pitchFamily="18" charset="0"/>
                <a:cs typeface="Times New Roman" pitchFamily="18" charset="0"/>
              </a:rPr>
              <a:t> (A codec is a software-based process that compresses and decompresses large amounts of data ).</a:t>
            </a:r>
          </a:p>
          <a:p>
            <a:pPr>
              <a:buNone/>
            </a:pPr>
            <a:endParaRPr lang="en-US" sz="2000" dirty="0" smtClean="0">
              <a:latin typeface="Times New Roman" pitchFamily="18" charset="0"/>
              <a:cs typeface="Times New Roman" pitchFamily="18" charset="0"/>
            </a:endParaRPr>
          </a:p>
          <a:p>
            <a:pPr>
              <a:buNone/>
            </a:pPr>
            <a:r>
              <a:rPr lang="en-US" sz="2000" b="1" dirty="0" smtClean="0">
                <a:latin typeface="Times New Roman" pitchFamily="18" charset="0"/>
                <a:cs typeface="Times New Roman" pitchFamily="18" charset="0"/>
              </a:rPr>
              <a:t>Checksum Validation</a:t>
            </a:r>
            <a:r>
              <a:rPr lang="en-US" sz="2000" dirty="0" smtClean="0">
                <a:latin typeface="Times New Roman" pitchFamily="18" charset="0"/>
                <a:cs typeface="Times New Roman" pitchFamily="18" charset="0"/>
              </a:rPr>
              <a:t>: Hadoop provides tools like</a:t>
            </a:r>
            <a:r>
              <a:rPr lang="en-US" sz="2000" b="1" dirty="0" smtClean="0">
                <a:solidFill>
                  <a:srgbClr val="0070C0"/>
                </a:solidFill>
                <a:latin typeface="Times New Roman" pitchFamily="18" charset="0"/>
                <a:cs typeface="Times New Roman" pitchFamily="18" charset="0"/>
              </a:rPr>
              <a:t> Hadoop fsck and hdfs fsck</a:t>
            </a:r>
            <a:r>
              <a:rPr lang="en-US" sz="2000" dirty="0" smtClean="0">
                <a:latin typeface="Times New Roman" pitchFamily="18" charset="0"/>
                <a:cs typeface="Times New Roman" pitchFamily="18" charset="0"/>
              </a:rPr>
              <a:t> that allow you to check the health and integrity of your HDFS data. </a:t>
            </a:r>
          </a:p>
          <a:p>
            <a:pPr>
              <a:buNone/>
            </a:pPr>
            <a:endParaRPr lang="en-US" sz="2000" dirty="0">
              <a:latin typeface="Times New Roman" pitchFamily="18" charset="0"/>
              <a:cs typeface="Times New Roman"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normAutofit/>
          </a:bodyPr>
          <a:lstStyle/>
          <a:p>
            <a:r>
              <a:rPr lang="en-US" sz="3600" b="1" dirty="0">
                <a:solidFill>
                  <a:srgbClr val="FF0000"/>
                </a:solidFill>
                <a:latin typeface="Times New Roman" pitchFamily="18" charset="0"/>
                <a:cs typeface="Times New Roman" pitchFamily="18" charset="0"/>
              </a:rPr>
              <a:t>Hadoop I/O – Data Integrity</a:t>
            </a:r>
            <a:endParaRPr lang="en-US" sz="3600" dirty="0"/>
          </a:p>
        </p:txBody>
      </p:sp>
      <p:sp>
        <p:nvSpPr>
          <p:cNvPr id="3" name="Content Placeholder 2"/>
          <p:cNvSpPr>
            <a:spLocks noGrp="1"/>
          </p:cNvSpPr>
          <p:nvPr>
            <p:ph idx="1"/>
          </p:nvPr>
        </p:nvSpPr>
        <p:spPr/>
        <p:txBody>
          <a:bodyPr>
            <a:noAutofit/>
          </a:bodyPr>
          <a:lstStyle/>
          <a:p>
            <a:endParaRPr lang="en-US" sz="2000" dirty="0" smtClean="0">
              <a:latin typeface="Times New Roman" pitchFamily="18" charset="0"/>
              <a:cs typeface="Times New Roman" pitchFamily="18" charset="0"/>
            </a:endParaRPr>
          </a:p>
          <a:p>
            <a:pPr>
              <a:buNone/>
            </a:pPr>
            <a:r>
              <a:rPr lang="en-US" sz="2000" b="1" dirty="0" smtClean="0">
                <a:latin typeface="Times New Roman" pitchFamily="18" charset="0"/>
                <a:cs typeface="Times New Roman" pitchFamily="18" charset="0"/>
              </a:rPr>
              <a:t>Monitoring and Logging</a:t>
            </a:r>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T</a:t>
            </a:r>
            <a:r>
              <a:rPr lang="en-US" sz="2000" dirty="0" smtClean="0">
                <a:latin typeface="Times New Roman" pitchFamily="18" charset="0"/>
                <a:cs typeface="Times New Roman" pitchFamily="18" charset="0"/>
              </a:rPr>
              <a:t>o keep track of any </a:t>
            </a:r>
            <a:r>
              <a:rPr lang="en-US" sz="2000" b="1" dirty="0">
                <a:solidFill>
                  <a:srgbClr val="0070C0"/>
                </a:solidFill>
                <a:latin typeface="Times New Roman" pitchFamily="18" charset="0"/>
                <a:cs typeface="Times New Roman" pitchFamily="18" charset="0"/>
              </a:rPr>
              <a:t>A</a:t>
            </a:r>
            <a:r>
              <a:rPr lang="en-US" sz="2000" b="1" dirty="0" smtClean="0">
                <a:solidFill>
                  <a:srgbClr val="0070C0"/>
                </a:solidFill>
                <a:latin typeface="Times New Roman" pitchFamily="18" charset="0"/>
                <a:cs typeface="Times New Roman" pitchFamily="18" charset="0"/>
              </a:rPr>
              <a:t>nomalies</a:t>
            </a:r>
            <a:r>
              <a:rPr lang="en-US" sz="2000" dirty="0" smtClean="0">
                <a:latin typeface="Times New Roman" pitchFamily="18" charset="0"/>
                <a:cs typeface="Times New Roman" pitchFamily="18" charset="0"/>
              </a:rPr>
              <a:t> </a:t>
            </a:r>
            <a:r>
              <a:rPr lang="en-US" sz="2000" b="1" dirty="0" smtClean="0">
                <a:solidFill>
                  <a:srgbClr val="0070C0"/>
                </a:solidFill>
                <a:latin typeface="Times New Roman" pitchFamily="18" charset="0"/>
                <a:cs typeface="Times New Roman" pitchFamily="18" charset="0"/>
              </a:rPr>
              <a:t>Or Issues </a:t>
            </a:r>
            <a:r>
              <a:rPr lang="en-US" sz="2000" dirty="0" smtClean="0">
                <a:latin typeface="Times New Roman" pitchFamily="18" charset="0"/>
                <a:cs typeface="Times New Roman" pitchFamily="18" charset="0"/>
              </a:rPr>
              <a:t>within the Hadoop cluster. </a:t>
            </a:r>
          </a:p>
          <a:p>
            <a:r>
              <a:rPr lang="en-US" sz="2000" dirty="0" smtClean="0">
                <a:latin typeface="Times New Roman" pitchFamily="18" charset="0"/>
                <a:cs typeface="Times New Roman" pitchFamily="18" charset="0"/>
              </a:rPr>
              <a:t>Alerts and notifications can help you detect data integrity problems in real-time.</a:t>
            </a:r>
          </a:p>
          <a:p>
            <a:endParaRPr lang="en-US" sz="2000" dirty="0" smtClean="0">
              <a:latin typeface="Times New Roman" pitchFamily="18" charset="0"/>
              <a:cs typeface="Times New Roman" pitchFamily="18" charset="0"/>
            </a:endParaRPr>
          </a:p>
          <a:p>
            <a:pPr>
              <a:buNone/>
            </a:pPr>
            <a:r>
              <a:rPr lang="en-US" sz="2000" b="1" dirty="0" smtClean="0">
                <a:latin typeface="Times New Roman" pitchFamily="18" charset="0"/>
                <a:cs typeface="Times New Roman" pitchFamily="18" charset="0"/>
              </a:rPr>
              <a:t>Data Auditing</a:t>
            </a:r>
            <a:r>
              <a:rPr lang="en-US" sz="2000" dirty="0" smtClean="0">
                <a:latin typeface="Times New Roman" pitchFamily="18" charset="0"/>
                <a:cs typeface="Times New Roman" pitchFamily="18" charset="0"/>
              </a:rPr>
              <a:t>: Perform periodic data audits to ensure </a:t>
            </a:r>
            <a:r>
              <a:rPr lang="en-US" sz="2000" b="1" dirty="0" smtClean="0">
                <a:solidFill>
                  <a:srgbClr val="0070C0"/>
                </a:solidFill>
                <a:latin typeface="Times New Roman" pitchFamily="18" charset="0"/>
                <a:cs typeface="Times New Roman" pitchFamily="18" charset="0"/>
              </a:rPr>
              <a:t>Data Integrity</a:t>
            </a:r>
            <a:r>
              <a:rPr lang="en-US" sz="2000" dirty="0" smtClean="0">
                <a:latin typeface="Times New Roman" pitchFamily="18" charset="0"/>
                <a:cs typeface="Times New Roman" pitchFamily="18" charset="0"/>
              </a:rPr>
              <a:t>. </a:t>
            </a:r>
          </a:p>
          <a:p>
            <a:r>
              <a:rPr lang="en-US" sz="2000" dirty="0" smtClean="0">
                <a:latin typeface="Times New Roman" pitchFamily="18" charset="0"/>
                <a:cs typeface="Times New Roman" pitchFamily="18" charset="0"/>
              </a:rPr>
              <a:t>This involves running checks and validations on data stored in Hadoop to identify and rectify any inconsistencies or corruption.</a:t>
            </a:r>
          </a:p>
          <a:p>
            <a:pPr>
              <a:buNone/>
            </a:pPr>
            <a:endParaRPr lang="en-US" sz="2000" dirty="0" smtClean="0">
              <a:latin typeface="Times New Roman" pitchFamily="18" charset="0"/>
              <a:cs typeface="Times New Roman" pitchFamily="18" charset="0"/>
            </a:endParaRPr>
          </a:p>
          <a:p>
            <a:pPr>
              <a:buNone/>
            </a:pPr>
            <a:r>
              <a:rPr lang="en-US" sz="2000" b="1" dirty="0" smtClean="0">
                <a:latin typeface="Times New Roman" pitchFamily="18" charset="0"/>
                <a:cs typeface="Times New Roman" pitchFamily="18" charset="0"/>
              </a:rPr>
              <a:t>Data Encryption</a:t>
            </a:r>
            <a:r>
              <a:rPr lang="en-US" sz="2000" dirty="0" smtClean="0">
                <a:latin typeface="Times New Roman" pitchFamily="18" charset="0"/>
                <a:cs typeface="Times New Roman" pitchFamily="18" charset="0"/>
              </a:rPr>
              <a:t>: Encryption is the method by which information is converted into</a:t>
            </a:r>
            <a:r>
              <a:rPr lang="en-US" sz="2000" b="1" dirty="0" smtClean="0">
                <a:solidFill>
                  <a:srgbClr val="0070C0"/>
                </a:solidFill>
                <a:latin typeface="Times New Roman" pitchFamily="18" charset="0"/>
                <a:cs typeface="Times New Roman" pitchFamily="18" charset="0"/>
              </a:rPr>
              <a:t> Secret Code</a:t>
            </a:r>
            <a:r>
              <a:rPr lang="en-US" sz="2000" dirty="0" smtClean="0">
                <a:latin typeface="Times New Roman" pitchFamily="18" charset="0"/>
                <a:cs typeface="Times New Roman" pitchFamily="18" charset="0"/>
              </a:rPr>
              <a:t> that hides the information's true meaning. </a:t>
            </a:r>
          </a:p>
          <a:p>
            <a:r>
              <a:rPr lang="en-US" sz="2000" dirty="0" smtClean="0">
                <a:latin typeface="Times New Roman" pitchFamily="18" charset="0"/>
                <a:cs typeface="Times New Roman" pitchFamily="18" charset="0"/>
              </a:rPr>
              <a:t>In cases where data security is a concern, consider encrypting data at rest and in transit within the Hadoop cluster. </a:t>
            </a:r>
          </a:p>
          <a:p>
            <a:pPr>
              <a:buNone/>
            </a:pPr>
            <a:r>
              <a:rPr lang="en-US" sz="2000" dirty="0" smtClean="0">
                <a:latin typeface="Times New Roman" pitchFamily="18" charset="0"/>
                <a:cs typeface="Times New Roman" pitchFamily="18" charset="0"/>
              </a:rPr>
              <a:t>.</a:t>
            </a:r>
          </a:p>
          <a:p>
            <a:endParaRPr lang="en-US" sz="2000" dirty="0">
              <a:latin typeface="Times New Roman" pitchFamily="18" charset="0"/>
              <a:cs typeface="Times New Roman"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3600" b="1" dirty="0">
                <a:solidFill>
                  <a:srgbClr val="FF0000"/>
                </a:solidFill>
                <a:latin typeface="Times New Roman" pitchFamily="18" charset="0"/>
                <a:cs typeface="Times New Roman" pitchFamily="18" charset="0"/>
              </a:rPr>
              <a:t>Hadoop I/O – Data Integrity</a:t>
            </a:r>
            <a:endParaRPr lang="en-US" sz="3600" dirty="0"/>
          </a:p>
        </p:txBody>
      </p:sp>
      <p:sp>
        <p:nvSpPr>
          <p:cNvPr id="3" name="Content Placeholder 2"/>
          <p:cNvSpPr>
            <a:spLocks noGrp="1"/>
          </p:cNvSpPr>
          <p:nvPr>
            <p:ph idx="1"/>
          </p:nvPr>
        </p:nvSpPr>
        <p:spPr/>
        <p:txBody>
          <a:bodyPr>
            <a:normAutofit/>
          </a:bodyPr>
          <a:lstStyle/>
          <a:p>
            <a:pPr>
              <a:buNone/>
            </a:pPr>
            <a:r>
              <a:rPr lang="en-US" sz="2000" b="1" dirty="0" smtClean="0">
                <a:latin typeface="Times New Roman" pitchFamily="18" charset="0"/>
                <a:cs typeface="Times New Roman" pitchFamily="18" charset="0"/>
              </a:rPr>
              <a:t>Regular Backups</a:t>
            </a:r>
            <a:r>
              <a:rPr lang="en-US" sz="2000" dirty="0" smtClean="0">
                <a:latin typeface="Times New Roman" pitchFamily="18" charset="0"/>
                <a:cs typeface="Times New Roman" pitchFamily="18" charset="0"/>
              </a:rPr>
              <a:t>: Safeguard against data loss due to </a:t>
            </a:r>
            <a:r>
              <a:rPr lang="en-US" sz="2000" b="1" dirty="0" smtClean="0">
                <a:solidFill>
                  <a:srgbClr val="0070C0"/>
                </a:solidFill>
                <a:latin typeface="Times New Roman" pitchFamily="18" charset="0"/>
                <a:cs typeface="Times New Roman" pitchFamily="18" charset="0"/>
              </a:rPr>
              <a:t>Corruption, Accidental Deletion, Or Other Unforeseen Events</a:t>
            </a:r>
            <a:r>
              <a:rPr lang="en-US" sz="2000" dirty="0" smtClean="0">
                <a:latin typeface="Times New Roman" pitchFamily="18" charset="0"/>
                <a:cs typeface="Times New Roman" pitchFamily="18" charset="0"/>
              </a:rPr>
              <a:t>. </a:t>
            </a:r>
          </a:p>
          <a:p>
            <a:r>
              <a:rPr lang="en-US" sz="2000" dirty="0" smtClean="0">
                <a:latin typeface="Times New Roman" pitchFamily="18" charset="0"/>
                <a:cs typeface="Times New Roman" pitchFamily="18" charset="0"/>
              </a:rPr>
              <a:t>This is not only a data integrity measure but also a part of disaster recovery planning</a:t>
            </a:r>
          </a:p>
          <a:p>
            <a:pPr marL="0" indent="0">
              <a:buNone/>
            </a:pPr>
            <a:endParaRPr lang="en-US" sz="2000" dirty="0" smtClean="0">
              <a:latin typeface="Times New Roman" pitchFamily="18" charset="0"/>
              <a:cs typeface="Times New Roman" pitchFamily="18" charset="0"/>
            </a:endParaRPr>
          </a:p>
          <a:p>
            <a:pPr>
              <a:buNone/>
            </a:pPr>
            <a:r>
              <a:rPr lang="en-US" sz="2000" b="1" dirty="0" smtClean="0">
                <a:latin typeface="Times New Roman" pitchFamily="18" charset="0"/>
                <a:cs typeface="Times New Roman" pitchFamily="18" charset="0"/>
              </a:rPr>
              <a:t>Replication Factor</a:t>
            </a:r>
            <a:r>
              <a:rPr lang="en-US" sz="2000" dirty="0" smtClean="0">
                <a:latin typeface="Times New Roman" pitchFamily="18" charset="0"/>
                <a:cs typeface="Times New Roman" pitchFamily="18" charset="0"/>
              </a:rPr>
              <a:t>: Adjusting the replication factor of your Hadoop cluster can impact data integrity. </a:t>
            </a:r>
          </a:p>
          <a:p>
            <a:r>
              <a:rPr lang="en-US" sz="2000" dirty="0" smtClean="0">
                <a:latin typeface="Times New Roman" pitchFamily="18" charset="0"/>
                <a:cs typeface="Times New Roman" pitchFamily="18" charset="0"/>
              </a:rPr>
              <a:t>Higher replication factors provide better fault tolerance but require more storage space. </a:t>
            </a:r>
          </a:p>
          <a:p>
            <a:r>
              <a:rPr lang="en-US" sz="2000" dirty="0" smtClean="0">
                <a:latin typeface="Times New Roman" pitchFamily="18" charset="0"/>
                <a:cs typeface="Times New Roman" pitchFamily="18" charset="0"/>
              </a:rPr>
              <a:t>Choose a replication factor that aligns with your data integrity and storage requirements.</a:t>
            </a:r>
          </a:p>
          <a:p>
            <a:endParaRPr lang="en-US" sz="2000" dirty="0">
              <a:latin typeface="Times New Roman" pitchFamily="18" charset="0"/>
              <a:cs typeface="Times New Roman"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Hadoop I/O - Compression</a:t>
            </a:r>
            <a:endParaRPr lang="en-US" sz="36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Autofit/>
          </a:bodyPr>
          <a:lstStyle/>
          <a:p>
            <a:r>
              <a:rPr lang="en-US" sz="2000" dirty="0" smtClean="0">
                <a:latin typeface="Times New Roman" pitchFamily="18" charset="0"/>
                <a:cs typeface="Times New Roman" pitchFamily="18" charset="0"/>
              </a:rPr>
              <a:t>Technique used to </a:t>
            </a:r>
            <a:r>
              <a:rPr lang="en-US" sz="2000" b="1" dirty="0" smtClean="0">
                <a:solidFill>
                  <a:srgbClr val="0070C0"/>
                </a:solidFill>
                <a:latin typeface="Times New Roman" pitchFamily="18" charset="0"/>
                <a:cs typeface="Times New Roman" pitchFamily="18" charset="0"/>
              </a:rPr>
              <a:t>Reduce The Storage Space Required For Data Storage</a:t>
            </a:r>
            <a:r>
              <a:rPr lang="en-US" sz="2000" dirty="0" smtClean="0">
                <a:latin typeface="Times New Roman" pitchFamily="18" charset="0"/>
                <a:cs typeface="Times New Roman" pitchFamily="18" charset="0"/>
              </a:rPr>
              <a:t> and to minimize data transfer times between nodes in a Hadoop cluster.</a:t>
            </a:r>
          </a:p>
          <a:p>
            <a:r>
              <a:rPr lang="en-US" sz="2000" dirty="0" smtClean="0">
                <a:latin typeface="Times New Roman" pitchFamily="18" charset="0"/>
                <a:cs typeface="Times New Roman" pitchFamily="18" charset="0"/>
              </a:rPr>
              <a:t> Since Hadoop is often used for processing and storing massive amounts of data, compression can significantly benefit the overall efficiency of the system. </a:t>
            </a:r>
          </a:p>
          <a:p>
            <a:endParaRPr lang="en-US"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Here are some key points about compression in Hadoop I/O:</a:t>
            </a:r>
          </a:p>
          <a:p>
            <a:pPr>
              <a:buNone/>
            </a:pPr>
            <a:r>
              <a:rPr lang="en-US" sz="2000" b="1" dirty="0" smtClean="0">
                <a:latin typeface="Times New Roman" pitchFamily="18" charset="0"/>
                <a:cs typeface="Times New Roman" pitchFamily="18" charset="0"/>
              </a:rPr>
              <a:t>Compression Codecs</a:t>
            </a:r>
            <a:r>
              <a:rPr lang="en-US" sz="2000" dirty="0" smtClean="0">
                <a:latin typeface="Times New Roman" pitchFamily="18" charset="0"/>
                <a:cs typeface="Times New Roman" pitchFamily="18" charset="0"/>
              </a:rPr>
              <a:t>: A codec is a software-based process that compresses and decompresses large amounts of data.</a:t>
            </a:r>
          </a:p>
          <a:p>
            <a:r>
              <a:rPr lang="en-US" sz="2000" dirty="0" smtClean="0">
                <a:latin typeface="Times New Roman" pitchFamily="18" charset="0"/>
                <a:cs typeface="Times New Roman" pitchFamily="18" charset="0"/>
              </a:rPr>
              <a:t>Hadoop supports various compression codecs, such as </a:t>
            </a:r>
            <a:r>
              <a:rPr lang="en-US" sz="2000" b="1" dirty="0" smtClean="0">
                <a:solidFill>
                  <a:srgbClr val="0070C0"/>
                </a:solidFill>
                <a:latin typeface="Times New Roman" pitchFamily="18" charset="0"/>
                <a:cs typeface="Times New Roman" pitchFamily="18" charset="0"/>
              </a:rPr>
              <a:t>Gzip, Snappy, LZO</a:t>
            </a:r>
            <a:r>
              <a:rPr lang="en-US" sz="2000" dirty="0" smtClean="0">
                <a:latin typeface="Times New Roman" pitchFamily="18" charset="0"/>
                <a:cs typeface="Times New Roman" pitchFamily="18" charset="0"/>
              </a:rPr>
              <a:t> (Limited to certain distributions due to licensing), and more. </a:t>
            </a:r>
          </a:p>
          <a:p>
            <a:r>
              <a:rPr lang="en-US" sz="2000" dirty="0" smtClean="0">
                <a:latin typeface="Times New Roman" pitchFamily="18" charset="0"/>
                <a:cs typeface="Times New Roman" pitchFamily="18" charset="0"/>
              </a:rPr>
              <a:t>Choosing the right codec depends on factors like </a:t>
            </a:r>
            <a:r>
              <a:rPr lang="en-US" sz="2000" b="1" dirty="0" smtClean="0">
                <a:solidFill>
                  <a:srgbClr val="0070C0"/>
                </a:solidFill>
                <a:latin typeface="Times New Roman" pitchFamily="18" charset="0"/>
                <a:cs typeface="Times New Roman" pitchFamily="18" charset="0"/>
              </a:rPr>
              <a:t>data type, compression ratio, and CPU usage.</a:t>
            </a:r>
          </a:p>
          <a:p>
            <a:pPr>
              <a:buNone/>
            </a:pPr>
            <a:endParaRPr lang="en-US" sz="2000" b="1" dirty="0" smtClean="0">
              <a:latin typeface="Times New Roman" pitchFamily="18" charset="0"/>
              <a:cs typeface="Times New Roman" pitchFamily="18" charset="0"/>
            </a:endParaRPr>
          </a:p>
          <a:p>
            <a:pPr>
              <a:buNone/>
            </a:pPr>
            <a:endParaRPr lang="en-US" sz="2000" b="1" dirty="0" smtClean="0">
              <a:latin typeface="Times New Roman" pitchFamily="18" charset="0"/>
              <a:cs typeface="Times New Roman" pitchFamily="18" charset="0"/>
            </a:endParaRPr>
          </a:p>
          <a:p>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endParaRPr lang="en-US" sz="2000" dirty="0">
              <a:latin typeface="Times New Roman" pitchFamily="18" charset="0"/>
              <a:cs typeface="Times New Roman"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normAutofit/>
          </a:bodyPr>
          <a:lstStyle/>
          <a:p>
            <a:r>
              <a:rPr lang="en-US" sz="3600" b="1" dirty="0">
                <a:solidFill>
                  <a:srgbClr val="FF0000"/>
                </a:solidFill>
                <a:latin typeface="Times New Roman" pitchFamily="18" charset="0"/>
                <a:cs typeface="Times New Roman" pitchFamily="18" charset="0"/>
              </a:rPr>
              <a:t>Hadoop I/O - Compression</a:t>
            </a:r>
            <a:endParaRPr lang="en-US" sz="3600" dirty="0"/>
          </a:p>
        </p:txBody>
      </p:sp>
      <p:sp>
        <p:nvSpPr>
          <p:cNvPr id="3" name="Content Placeholder 2"/>
          <p:cNvSpPr>
            <a:spLocks noGrp="1"/>
          </p:cNvSpPr>
          <p:nvPr>
            <p:ph idx="1"/>
          </p:nvPr>
        </p:nvSpPr>
        <p:spPr/>
        <p:txBody>
          <a:bodyPr>
            <a:normAutofit fontScale="92500" lnSpcReduction="10000"/>
          </a:bodyPr>
          <a:lstStyle/>
          <a:p>
            <a:pPr>
              <a:buNone/>
            </a:pPr>
            <a:r>
              <a:rPr lang="en-US" sz="2000" b="1" dirty="0" smtClean="0">
                <a:latin typeface="Times New Roman" pitchFamily="18" charset="0"/>
                <a:cs typeface="Times New Roman" pitchFamily="18" charset="0"/>
              </a:rPr>
              <a:t>Codec Selection</a:t>
            </a:r>
            <a:r>
              <a:rPr lang="en-US" sz="2000" dirty="0" smtClean="0">
                <a:latin typeface="Times New Roman" pitchFamily="18" charset="0"/>
                <a:cs typeface="Times New Roman" pitchFamily="18" charset="0"/>
              </a:rPr>
              <a:t>: Choose the compression codec that best suits your use case. </a:t>
            </a:r>
          </a:p>
          <a:p>
            <a:r>
              <a:rPr lang="en-US" sz="2000" b="1" dirty="0" smtClean="0">
                <a:solidFill>
                  <a:srgbClr val="0070C0"/>
                </a:solidFill>
                <a:latin typeface="Times New Roman" pitchFamily="18" charset="0"/>
                <a:cs typeface="Times New Roman" pitchFamily="18" charset="0"/>
              </a:rPr>
              <a:t>Snappy</a:t>
            </a:r>
            <a:r>
              <a:rPr lang="en-US" sz="2000" dirty="0" smtClean="0">
                <a:latin typeface="Times New Roman" pitchFamily="18" charset="0"/>
                <a:cs typeface="Times New Roman" pitchFamily="18" charset="0"/>
              </a:rPr>
              <a:t> is known for its fast compression and decompression speed but may not achieve the highest compression ratios. </a:t>
            </a:r>
          </a:p>
          <a:p>
            <a:r>
              <a:rPr lang="en-US" sz="2000" b="1" dirty="0" smtClean="0">
                <a:solidFill>
                  <a:srgbClr val="0070C0"/>
                </a:solidFill>
                <a:latin typeface="Times New Roman" pitchFamily="18" charset="0"/>
                <a:cs typeface="Times New Roman" pitchFamily="18" charset="0"/>
              </a:rPr>
              <a:t>Gzip</a:t>
            </a:r>
            <a:r>
              <a:rPr lang="en-US" sz="2000" dirty="0" smtClean="0">
                <a:latin typeface="Times New Roman" pitchFamily="18" charset="0"/>
                <a:cs typeface="Times New Roman" pitchFamily="18" charset="0"/>
              </a:rPr>
              <a:t> offers better compression ratios but is  slower in terms of CPU usage.</a:t>
            </a:r>
          </a:p>
          <a:p>
            <a:pPr>
              <a:buNone/>
            </a:pPr>
            <a:endParaRPr lang="en-US" sz="2000" dirty="0" smtClean="0">
              <a:latin typeface="Times New Roman" pitchFamily="18" charset="0"/>
              <a:cs typeface="Times New Roman" pitchFamily="18" charset="0"/>
            </a:endParaRPr>
          </a:p>
          <a:p>
            <a:pPr>
              <a:buNone/>
            </a:pPr>
            <a:r>
              <a:rPr lang="en-US" sz="2000" b="1" dirty="0" smtClean="0"/>
              <a:t>Compatibility</a:t>
            </a:r>
            <a:r>
              <a:rPr lang="en-US" sz="2000" dirty="0" smtClean="0"/>
              <a:t>: Ensure that your chosen compression </a:t>
            </a:r>
            <a:r>
              <a:rPr lang="en-US" sz="2000" b="1" dirty="0" smtClean="0">
                <a:solidFill>
                  <a:srgbClr val="0070C0"/>
                </a:solidFill>
              </a:rPr>
              <a:t>Codec Is Supported By The Hadoop Distribution</a:t>
            </a:r>
            <a:r>
              <a:rPr lang="en-US" sz="2000" dirty="0" smtClean="0"/>
              <a:t> and the tools or frameworks you plan to use for data processing (e.g., Map Reduce, Spark, Hive).</a:t>
            </a:r>
          </a:p>
          <a:p>
            <a:pPr>
              <a:buNone/>
            </a:pPr>
            <a:endParaRPr lang="en-US" sz="2000" dirty="0" smtClean="0"/>
          </a:p>
          <a:p>
            <a:pPr>
              <a:buNone/>
            </a:pPr>
            <a:r>
              <a:rPr lang="en-US" sz="2000" b="1" dirty="0" smtClean="0"/>
              <a:t>Dynamic Compression</a:t>
            </a:r>
            <a:r>
              <a:rPr lang="en-US" sz="2000" dirty="0" smtClean="0"/>
              <a:t>: In some cases, you can enable dynamic compression, which allows Hadoop to decide whether to </a:t>
            </a:r>
            <a:r>
              <a:rPr lang="en-US" sz="2000" b="1" dirty="0" smtClean="0">
                <a:solidFill>
                  <a:srgbClr val="0070C0"/>
                </a:solidFill>
              </a:rPr>
              <a:t>compress data based on file size, data type, or other factors</a:t>
            </a:r>
            <a:r>
              <a:rPr lang="en-US" sz="2000" dirty="0" smtClean="0"/>
              <a:t>. This can be useful when dealing with heterogeneous data (data with high variability of data types and formats).</a:t>
            </a:r>
            <a:endParaRPr lang="en-US" sz="2000" dirty="0">
              <a:latin typeface="Times New Roman" pitchFamily="18" charset="0"/>
              <a:cs typeface="Times New Roman"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normAutofit/>
          </a:bodyPr>
          <a:lstStyle/>
          <a:p>
            <a:r>
              <a:rPr lang="en-US" sz="3600" b="1" dirty="0">
                <a:solidFill>
                  <a:srgbClr val="FF0000"/>
                </a:solidFill>
                <a:latin typeface="Times New Roman" pitchFamily="18" charset="0"/>
                <a:cs typeface="Times New Roman" pitchFamily="18" charset="0"/>
              </a:rPr>
              <a:t>Hadoop I/O - Compression</a:t>
            </a:r>
            <a:endParaRPr lang="en-US" sz="3600" dirty="0"/>
          </a:p>
        </p:txBody>
      </p:sp>
      <p:sp>
        <p:nvSpPr>
          <p:cNvPr id="3" name="Content Placeholder 2"/>
          <p:cNvSpPr>
            <a:spLocks noGrp="1"/>
          </p:cNvSpPr>
          <p:nvPr>
            <p:ph idx="1"/>
          </p:nvPr>
        </p:nvSpPr>
        <p:spPr/>
        <p:txBody>
          <a:bodyPr>
            <a:noAutofit/>
          </a:bodyPr>
          <a:lstStyle/>
          <a:p>
            <a:pPr>
              <a:buNone/>
            </a:pPr>
            <a:r>
              <a:rPr lang="en-US" sz="2000" b="1" dirty="0" smtClean="0">
                <a:latin typeface="Times New Roman" pitchFamily="18" charset="0"/>
                <a:cs typeface="Times New Roman" pitchFamily="18" charset="0"/>
              </a:rPr>
              <a:t>Benefits</a:t>
            </a:r>
            <a:r>
              <a:rPr lang="en-US" sz="2000" dirty="0" smtClean="0">
                <a:latin typeface="Times New Roman" pitchFamily="18" charset="0"/>
                <a:cs typeface="Times New Roman" pitchFamily="18" charset="0"/>
              </a:rPr>
              <a:t>:</a:t>
            </a:r>
          </a:p>
          <a:p>
            <a:pPr lvl="1"/>
            <a:r>
              <a:rPr lang="en-US" sz="2000" b="1" dirty="0" smtClean="0">
                <a:latin typeface="Times New Roman" pitchFamily="18" charset="0"/>
                <a:cs typeface="Times New Roman" pitchFamily="18" charset="0"/>
              </a:rPr>
              <a:t>Storage Savings</a:t>
            </a:r>
            <a:r>
              <a:rPr lang="en-US" sz="2000" dirty="0" smtClean="0">
                <a:latin typeface="Times New Roman" pitchFamily="18" charset="0"/>
                <a:cs typeface="Times New Roman" pitchFamily="18" charset="0"/>
              </a:rPr>
              <a:t>: Cost Savings, especially when dealing with large datasets.</a:t>
            </a:r>
          </a:p>
          <a:p>
            <a:pPr lvl="1"/>
            <a:r>
              <a:rPr lang="en-US" sz="2000" b="1" dirty="0" smtClean="0">
                <a:latin typeface="Times New Roman" pitchFamily="18" charset="0"/>
                <a:cs typeface="Times New Roman" pitchFamily="18" charset="0"/>
              </a:rPr>
              <a:t>Data Transfer Efficiency</a:t>
            </a:r>
            <a:r>
              <a:rPr lang="en-US" sz="2000" dirty="0" smtClean="0">
                <a:latin typeface="Times New Roman" pitchFamily="18" charset="0"/>
                <a:cs typeface="Times New Roman" pitchFamily="18" charset="0"/>
              </a:rPr>
              <a:t>: Compressed data takes less time to transfer between nodes in a Hadoop cluster, improving overall job performance.</a:t>
            </a:r>
          </a:p>
          <a:p>
            <a:pPr lvl="1"/>
            <a:r>
              <a:rPr lang="en-US" sz="2000" b="1" dirty="0" smtClean="0">
                <a:latin typeface="Times New Roman" pitchFamily="18" charset="0"/>
                <a:cs typeface="Times New Roman" pitchFamily="18" charset="0"/>
              </a:rPr>
              <a:t>I/O Performance</a:t>
            </a:r>
            <a:r>
              <a:rPr lang="en-US" sz="2000" dirty="0" smtClean="0">
                <a:latin typeface="Times New Roman" pitchFamily="18" charset="0"/>
                <a:cs typeface="Times New Roman" pitchFamily="18" charset="0"/>
              </a:rPr>
              <a:t>: Reading and writing compressed data can reduce I/O operations, as less data is read from or written to disk.</a:t>
            </a:r>
          </a:p>
          <a:p>
            <a:pPr lvl="1">
              <a:buNone/>
            </a:pPr>
            <a:endParaRPr lang="en-US" sz="2000" dirty="0" smtClean="0">
              <a:latin typeface="Times New Roman" pitchFamily="18" charset="0"/>
              <a:cs typeface="Times New Roman" pitchFamily="18" charset="0"/>
            </a:endParaRPr>
          </a:p>
          <a:p>
            <a:pPr>
              <a:buNone/>
            </a:pPr>
            <a:r>
              <a:rPr lang="en-US" sz="2000" b="1" dirty="0" smtClean="0">
                <a:latin typeface="Times New Roman" pitchFamily="18" charset="0"/>
                <a:cs typeface="Times New Roman" pitchFamily="18" charset="0"/>
              </a:rPr>
              <a:t>File Formats</a:t>
            </a:r>
            <a:r>
              <a:rPr lang="en-US" sz="2000" dirty="0" smtClean="0">
                <a:latin typeface="Times New Roman" pitchFamily="18" charset="0"/>
                <a:cs typeface="Times New Roman" pitchFamily="18" charset="0"/>
              </a:rPr>
              <a:t>: Different Hadoop-compatible file formats support compression. For example:- </a:t>
            </a:r>
            <a:r>
              <a:rPr lang="en-US" sz="2000" b="1" dirty="0" smtClean="0">
                <a:solidFill>
                  <a:srgbClr val="0070C0"/>
                </a:solidFill>
                <a:latin typeface="Times New Roman" pitchFamily="18" charset="0"/>
                <a:cs typeface="Times New Roman" pitchFamily="18" charset="0"/>
              </a:rPr>
              <a:t>The Sequence File, ORC</a:t>
            </a:r>
            <a:r>
              <a:rPr lang="en-US" sz="2000" dirty="0" smtClean="0">
                <a:latin typeface="Times New Roman" pitchFamily="18" charset="0"/>
                <a:cs typeface="Times New Roman" pitchFamily="18" charset="0"/>
              </a:rPr>
              <a:t> (Optimized Row Columnar), and </a:t>
            </a:r>
            <a:r>
              <a:rPr lang="en-US" sz="2000" b="1" dirty="0" smtClean="0">
                <a:solidFill>
                  <a:srgbClr val="0070C0"/>
                </a:solidFill>
                <a:latin typeface="Times New Roman" pitchFamily="18" charset="0"/>
                <a:cs typeface="Times New Roman" pitchFamily="18" charset="0"/>
              </a:rPr>
              <a:t>Parquet</a:t>
            </a:r>
            <a:r>
              <a:rPr lang="en-US" sz="2000" dirty="0" smtClean="0">
                <a:latin typeface="Times New Roman" pitchFamily="18" charset="0"/>
                <a:cs typeface="Times New Roman" pitchFamily="18" charset="0"/>
              </a:rPr>
              <a:t> formats support built-in compression options. </a:t>
            </a:r>
          </a:p>
          <a:p>
            <a:r>
              <a:rPr lang="en-US" sz="2000" dirty="0" smtClean="0">
                <a:latin typeface="Times New Roman" pitchFamily="18" charset="0"/>
                <a:cs typeface="Times New Roman" pitchFamily="18" charset="0"/>
              </a:rPr>
              <a:t>When choosing a file format, consider its </a:t>
            </a:r>
            <a:r>
              <a:rPr lang="en-US" sz="2000" b="1" dirty="0" smtClean="0">
                <a:solidFill>
                  <a:srgbClr val="0070C0"/>
                </a:solidFill>
                <a:latin typeface="Times New Roman" pitchFamily="18" charset="0"/>
                <a:cs typeface="Times New Roman" pitchFamily="18" charset="0"/>
              </a:rPr>
              <a:t>compatibility</a:t>
            </a:r>
            <a:r>
              <a:rPr lang="en-US" sz="2000" dirty="0" smtClean="0">
                <a:latin typeface="Times New Roman" pitchFamily="18" charset="0"/>
                <a:cs typeface="Times New Roman" pitchFamily="18" charset="0"/>
              </a:rPr>
              <a:t> with compression codecs.</a:t>
            </a:r>
          </a:p>
          <a:p>
            <a:pPr>
              <a:buNone/>
            </a:pPr>
            <a:endParaRPr lang="en-US" sz="2000" dirty="0" smtClean="0">
              <a:latin typeface="Times New Roman" pitchFamily="18" charset="0"/>
              <a:cs typeface="Times New Roman" pitchFamily="18" charset="0"/>
            </a:endParaRPr>
          </a:p>
          <a:p>
            <a:pPr>
              <a:buNone/>
            </a:pPr>
            <a:endParaRPr lang="en-US" sz="2000" dirty="0" smtClean="0">
              <a:latin typeface="Times New Roman" pitchFamily="18" charset="0"/>
              <a:cs typeface="Times New Roman" pitchFamily="18" charset="0"/>
            </a:endParaRPr>
          </a:p>
          <a:p>
            <a:endParaRPr lang="en-US" sz="2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3600" b="1" dirty="0">
                <a:solidFill>
                  <a:srgbClr val="FF0000"/>
                </a:solidFill>
                <a:latin typeface="Times New Roman" pitchFamily="18" charset="0"/>
                <a:cs typeface="Times New Roman" pitchFamily="18" charset="0"/>
              </a:rPr>
              <a:t>Hadoop I/O - Compression</a:t>
            </a:r>
            <a:endParaRPr lang="en-US" sz="3600" dirty="0"/>
          </a:p>
        </p:txBody>
      </p:sp>
      <p:sp>
        <p:nvSpPr>
          <p:cNvPr id="3" name="Content Placeholder 2"/>
          <p:cNvSpPr>
            <a:spLocks noGrp="1"/>
          </p:cNvSpPr>
          <p:nvPr>
            <p:ph idx="1"/>
          </p:nvPr>
        </p:nvSpPr>
        <p:spPr/>
        <p:txBody>
          <a:bodyPr>
            <a:normAutofit/>
          </a:bodyPr>
          <a:lstStyle/>
          <a:p>
            <a:pPr>
              <a:buNone/>
            </a:pPr>
            <a:r>
              <a:rPr lang="en-US" sz="2000" b="1" dirty="0" smtClean="0">
                <a:latin typeface="Times New Roman" pitchFamily="18" charset="0"/>
                <a:cs typeface="Times New Roman" pitchFamily="18" charset="0"/>
              </a:rPr>
              <a:t>Compression Configuration</a:t>
            </a:r>
            <a:r>
              <a:rPr lang="en-US" sz="2000" dirty="0" smtClean="0">
                <a:latin typeface="Times New Roman" pitchFamily="18" charset="0"/>
                <a:cs typeface="Times New Roman" pitchFamily="18" charset="0"/>
              </a:rPr>
              <a:t>: Compression can be configured at various levels with-in Hadoop, including at the </a:t>
            </a:r>
          </a:p>
          <a:p>
            <a:pPr>
              <a:buNone/>
            </a:pPr>
            <a:r>
              <a:rPr lang="en-US" sz="2000" dirty="0" smtClean="0">
                <a:latin typeface="Times New Roman" pitchFamily="18" charset="0"/>
                <a:cs typeface="Times New Roman" pitchFamily="18" charset="0"/>
              </a:rPr>
              <a:t>			file level, </a:t>
            </a:r>
          </a:p>
          <a:p>
            <a:pPr>
              <a:buNone/>
            </a:pPr>
            <a:r>
              <a:rPr lang="en-US" sz="2000" dirty="0" smtClean="0">
                <a:latin typeface="Times New Roman" pitchFamily="18" charset="0"/>
                <a:cs typeface="Times New Roman" pitchFamily="18" charset="0"/>
              </a:rPr>
              <a:t>			job level, or cluster level. </a:t>
            </a:r>
          </a:p>
          <a:p>
            <a:r>
              <a:rPr lang="en-US" sz="2000" dirty="0" smtClean="0">
                <a:latin typeface="Times New Roman" pitchFamily="18" charset="0"/>
                <a:cs typeface="Times New Roman" pitchFamily="18" charset="0"/>
              </a:rPr>
              <a:t>You can specify compression codecs and settings when writing data to HDFS (Hadoop Distributed File System) or when running Map Reduce or Spark jobs.</a:t>
            </a:r>
          </a:p>
          <a:p>
            <a:endParaRPr lang="en-US" sz="2000" dirty="0">
              <a:latin typeface="Times New Roman" pitchFamily="18" charset="0"/>
              <a:cs typeface="Times New Roman" pitchFamily="18" charset="0"/>
            </a:endParaRPr>
          </a:p>
          <a:p>
            <a:r>
              <a:rPr lang="en-US" sz="2400" b="1" dirty="0">
                <a:solidFill>
                  <a:srgbClr val="FF0000"/>
                </a:solidFill>
              </a:rPr>
              <a:t>Conclusion</a:t>
            </a:r>
            <a:r>
              <a:rPr lang="en-US" sz="2000" dirty="0"/>
              <a:t>:- Compression in Hadoop offers storage savings and faster data processing, but it requires careful consideration of </a:t>
            </a:r>
            <a:r>
              <a:rPr lang="en-US" sz="2000" b="1" dirty="0">
                <a:solidFill>
                  <a:srgbClr val="0070C0"/>
                </a:solidFill>
              </a:rPr>
              <a:t>codec selection</a:t>
            </a:r>
            <a:r>
              <a:rPr lang="en-US" sz="2000" dirty="0"/>
              <a:t> and </a:t>
            </a:r>
            <a:r>
              <a:rPr lang="en-US" sz="2000" b="1" dirty="0">
                <a:solidFill>
                  <a:srgbClr val="0070C0"/>
                </a:solidFill>
              </a:rPr>
              <a:t>configuration settings</a:t>
            </a:r>
            <a:r>
              <a:rPr lang="en-US" sz="2000" dirty="0"/>
              <a:t> to balance compression benefits with CPU overhead.</a:t>
            </a:r>
            <a:endParaRPr lang="en-US" sz="2000" dirty="0" smtClean="0">
              <a:latin typeface="Times New Roman" pitchFamily="18" charset="0"/>
              <a:cs typeface="Times New Roman" pitchFamily="18" charset="0"/>
            </a:endParaRPr>
          </a:p>
          <a:p>
            <a:pPr>
              <a:buNone/>
            </a:pPr>
            <a:endParaRPr lang="en-US" sz="2000" dirty="0" smtClean="0">
              <a:latin typeface="Times New Roman" pitchFamily="18" charset="0"/>
              <a:cs typeface="Times New Roman" pitchFamily="18" charset="0"/>
            </a:endParaRPr>
          </a:p>
          <a:p>
            <a:pPr>
              <a:buNone/>
            </a:pPr>
            <a:endParaRPr lang="en-US" sz="2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Hadoop I/O - Serialization</a:t>
            </a:r>
            <a:endParaRPr lang="en-US" sz="36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Autofit/>
          </a:bodyPr>
          <a:lstStyle/>
          <a:p>
            <a:pPr algn="just"/>
            <a:r>
              <a:rPr lang="en-US" sz="2000" dirty="0" smtClean="0">
                <a:latin typeface="Times New Roman" pitchFamily="18" charset="0"/>
                <a:cs typeface="Times New Roman" pitchFamily="18" charset="0"/>
              </a:rPr>
              <a:t>Process of converting data structures or objects into a format that can be easily </a:t>
            </a:r>
            <a:r>
              <a:rPr lang="en-US" sz="2000" b="1" dirty="0" smtClean="0">
                <a:solidFill>
                  <a:srgbClr val="0070C0"/>
                </a:solidFill>
                <a:latin typeface="Times New Roman" pitchFamily="18" charset="0"/>
                <a:cs typeface="Times New Roman" pitchFamily="18" charset="0"/>
              </a:rPr>
              <a:t>stored, transmitted, and reconstructed later</a:t>
            </a:r>
            <a:r>
              <a:rPr lang="en-US" sz="2000" dirty="0" smtClean="0">
                <a:latin typeface="Times New Roman" pitchFamily="18" charset="0"/>
                <a:cs typeface="Times New Roman" pitchFamily="18" charset="0"/>
              </a:rPr>
              <a:t>. </a:t>
            </a:r>
          </a:p>
          <a:p>
            <a:pPr algn="just">
              <a:buNone/>
            </a:pPr>
            <a:endParaRPr lang="en-US"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Here are some key points about serialization in Hadoop I/O:</a:t>
            </a:r>
          </a:p>
          <a:p>
            <a:pPr>
              <a:buNone/>
            </a:pPr>
            <a:r>
              <a:rPr lang="en-US" sz="2000" b="1" dirty="0" smtClean="0">
                <a:latin typeface="Times New Roman" pitchFamily="18" charset="0"/>
                <a:cs typeface="Times New Roman" pitchFamily="18" charset="0"/>
              </a:rPr>
              <a:t>Why Serialization is Important</a:t>
            </a:r>
            <a:r>
              <a:rPr lang="en-US" sz="2000" dirty="0" smtClean="0">
                <a:latin typeface="Times New Roman" pitchFamily="18" charset="0"/>
                <a:cs typeface="Times New Roman" pitchFamily="18" charset="0"/>
              </a:rPr>
              <a:t>:</a:t>
            </a:r>
          </a:p>
          <a:p>
            <a:pPr>
              <a:buNone/>
            </a:pPr>
            <a:endParaRPr lang="en-US" sz="2000" dirty="0" smtClean="0">
              <a:latin typeface="Times New Roman" pitchFamily="18" charset="0"/>
              <a:cs typeface="Times New Roman" pitchFamily="18" charset="0"/>
            </a:endParaRPr>
          </a:p>
          <a:p>
            <a:pPr lvl="1"/>
            <a:r>
              <a:rPr lang="en-US" sz="2000" b="1" dirty="0" smtClean="0">
                <a:solidFill>
                  <a:srgbClr val="FF0000"/>
                </a:solidFill>
                <a:latin typeface="Times New Roman" pitchFamily="18" charset="0"/>
                <a:cs typeface="Times New Roman" pitchFamily="18" charset="0"/>
              </a:rPr>
              <a:t>Data Transfer</a:t>
            </a:r>
            <a:r>
              <a:rPr lang="en-US" sz="2000" dirty="0" smtClean="0">
                <a:latin typeface="Times New Roman" pitchFamily="18" charset="0"/>
                <a:cs typeface="Times New Roman" pitchFamily="18" charset="0"/>
              </a:rPr>
              <a:t>: Data is transferred between nodes &amp; Serialization reduces the volume of data transferred, improving efficiency.</a:t>
            </a:r>
          </a:p>
          <a:p>
            <a:pPr lvl="1"/>
            <a:r>
              <a:rPr lang="en-US" sz="2000" b="1" dirty="0" smtClean="0">
                <a:solidFill>
                  <a:srgbClr val="FF0000"/>
                </a:solidFill>
                <a:latin typeface="Times New Roman" pitchFamily="18" charset="0"/>
                <a:cs typeface="Times New Roman" pitchFamily="18" charset="0"/>
              </a:rPr>
              <a:t>Data Storage</a:t>
            </a:r>
            <a:r>
              <a:rPr lang="en-US" sz="2000" dirty="0" smtClean="0">
                <a:latin typeface="Times New Roman" pitchFamily="18" charset="0"/>
                <a:cs typeface="Times New Roman" pitchFamily="18" charset="0"/>
              </a:rPr>
              <a:t>: Data stored in Hadoop's HDFS is often serialized to reduce storage space requirements.</a:t>
            </a:r>
          </a:p>
          <a:p>
            <a:pPr lvl="1"/>
            <a:r>
              <a:rPr lang="en-US" sz="2000" b="1" dirty="0" smtClean="0">
                <a:solidFill>
                  <a:srgbClr val="FF0000"/>
                </a:solidFill>
                <a:latin typeface="Times New Roman" pitchFamily="18" charset="0"/>
                <a:cs typeface="Times New Roman" pitchFamily="18" charset="0"/>
              </a:rPr>
              <a:t>Data Processing</a:t>
            </a:r>
            <a:r>
              <a:rPr lang="en-US" sz="2000" dirty="0" smtClean="0">
                <a:latin typeface="Times New Roman" pitchFamily="18" charset="0"/>
                <a:cs typeface="Times New Roman" pitchFamily="18" charset="0"/>
              </a:rPr>
              <a:t>: Serialization enables the efficient processing of data using Map Reduce, Spark, Hive, and other Hadoop-based frameworks.</a:t>
            </a:r>
          </a:p>
          <a:p>
            <a:endParaRPr lang="en-US"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endParaRPr lang="en-US" sz="2000" dirty="0">
              <a:latin typeface="Times New Roman" pitchFamily="18" charset="0"/>
              <a:cs typeface="Times New Roman"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normAutofit/>
          </a:bodyPr>
          <a:lstStyle/>
          <a:p>
            <a:r>
              <a:rPr lang="en-US" sz="3600" b="1" dirty="0">
                <a:solidFill>
                  <a:srgbClr val="FF0000"/>
                </a:solidFill>
                <a:latin typeface="Times New Roman" pitchFamily="18" charset="0"/>
                <a:cs typeface="Times New Roman" pitchFamily="18" charset="0"/>
              </a:rPr>
              <a:t>Hadoop I/O - Serialization</a:t>
            </a:r>
            <a:endParaRPr lang="en-US" sz="3600" dirty="0"/>
          </a:p>
        </p:txBody>
      </p:sp>
      <p:sp>
        <p:nvSpPr>
          <p:cNvPr id="3" name="Content Placeholder 2"/>
          <p:cNvSpPr>
            <a:spLocks noGrp="1"/>
          </p:cNvSpPr>
          <p:nvPr>
            <p:ph idx="1"/>
          </p:nvPr>
        </p:nvSpPr>
        <p:spPr/>
        <p:txBody>
          <a:bodyPr>
            <a:noAutofit/>
          </a:bodyPr>
          <a:lstStyle/>
          <a:p>
            <a:pPr>
              <a:buNone/>
            </a:pPr>
            <a:r>
              <a:rPr lang="en-US" sz="2000" b="1" dirty="0" smtClean="0">
                <a:latin typeface="Times New Roman" pitchFamily="18" charset="0"/>
                <a:cs typeface="Times New Roman" pitchFamily="18" charset="0"/>
              </a:rPr>
              <a:t>Data Serialization Formats</a:t>
            </a:r>
            <a:r>
              <a:rPr lang="en-US" sz="2000" dirty="0" smtClean="0">
                <a:latin typeface="Times New Roman" pitchFamily="18" charset="0"/>
                <a:cs typeface="Times New Roman" pitchFamily="18" charset="0"/>
              </a:rPr>
              <a:t>:</a:t>
            </a:r>
          </a:p>
          <a:p>
            <a:pPr lvl="1"/>
            <a:r>
              <a:rPr lang="en-US" sz="2000" b="1" dirty="0" smtClean="0">
                <a:latin typeface="Times New Roman" pitchFamily="18" charset="0"/>
                <a:cs typeface="Times New Roman" pitchFamily="18" charset="0"/>
              </a:rPr>
              <a:t>Java Serialization</a:t>
            </a:r>
            <a:r>
              <a:rPr lang="en-US" sz="2000" dirty="0" smtClean="0">
                <a:latin typeface="Times New Roman" pitchFamily="18" charset="0"/>
                <a:cs typeface="Times New Roman" pitchFamily="18" charset="0"/>
              </a:rPr>
              <a:t>: Hadoop can use Java's built-in object serialization, but it's generally </a:t>
            </a:r>
            <a:r>
              <a:rPr lang="en-US" sz="2000" b="1" dirty="0" smtClean="0">
                <a:solidFill>
                  <a:srgbClr val="0070C0"/>
                </a:solidFill>
                <a:latin typeface="Times New Roman" pitchFamily="18" charset="0"/>
                <a:cs typeface="Times New Roman" pitchFamily="18" charset="0"/>
              </a:rPr>
              <a:t>Not Recommended</a:t>
            </a:r>
            <a:r>
              <a:rPr lang="en-US" sz="2000" dirty="0" smtClean="0">
                <a:latin typeface="Times New Roman" pitchFamily="18" charset="0"/>
                <a:cs typeface="Times New Roman" pitchFamily="18" charset="0"/>
              </a:rPr>
              <a:t> due to its inefficiency and lack of compatibility with other languages.</a:t>
            </a:r>
          </a:p>
          <a:p>
            <a:pPr lvl="1"/>
            <a:r>
              <a:rPr lang="en-US" sz="2000" b="1" dirty="0" smtClean="0">
                <a:latin typeface="Times New Roman" pitchFamily="18" charset="0"/>
                <a:cs typeface="Times New Roman" pitchFamily="18" charset="0"/>
              </a:rPr>
              <a:t>Writable</a:t>
            </a:r>
            <a:r>
              <a:rPr lang="en-US" sz="2000" dirty="0" smtClean="0">
                <a:latin typeface="Times New Roman" pitchFamily="18" charset="0"/>
                <a:cs typeface="Times New Roman" pitchFamily="18" charset="0"/>
              </a:rPr>
              <a:t>: Hadoop provides its own </a:t>
            </a:r>
            <a:r>
              <a:rPr lang="en-US" sz="2000" b="1" dirty="0" smtClean="0">
                <a:solidFill>
                  <a:srgbClr val="0070C0"/>
                </a:solidFill>
                <a:latin typeface="Times New Roman" pitchFamily="18" charset="0"/>
                <a:cs typeface="Times New Roman" pitchFamily="18" charset="0"/>
              </a:rPr>
              <a:t>Serialization framework</a:t>
            </a:r>
            <a:r>
              <a:rPr lang="en-US" sz="2000" dirty="0" smtClean="0">
                <a:latin typeface="Times New Roman" pitchFamily="18" charset="0"/>
                <a:cs typeface="Times New Roman" pitchFamily="18" charset="0"/>
              </a:rPr>
              <a:t> called "</a:t>
            </a:r>
            <a:r>
              <a:rPr lang="en-US" sz="2000" b="1" dirty="0" smtClean="0">
                <a:solidFill>
                  <a:srgbClr val="0070C0"/>
                </a:solidFill>
                <a:latin typeface="Times New Roman" pitchFamily="18" charset="0"/>
                <a:cs typeface="Times New Roman" pitchFamily="18" charset="0"/>
              </a:rPr>
              <a:t>Writable</a:t>
            </a:r>
            <a:r>
              <a:rPr lang="en-US" sz="2000" dirty="0" smtClean="0">
                <a:latin typeface="Times New Roman" pitchFamily="18" charset="0"/>
                <a:cs typeface="Times New Roman" pitchFamily="18" charset="0"/>
              </a:rPr>
              <a:t>." Custom data types can implement the Writable interface to define their serialization and de-serialization methods.</a:t>
            </a:r>
          </a:p>
          <a:p>
            <a:pPr lvl="1"/>
            <a:r>
              <a:rPr lang="en-US" sz="2000" b="1" dirty="0" smtClean="0">
                <a:latin typeface="Times New Roman" pitchFamily="18" charset="0"/>
                <a:cs typeface="Times New Roman" pitchFamily="18" charset="0"/>
              </a:rPr>
              <a:t>Avro</a:t>
            </a:r>
            <a:r>
              <a:rPr lang="en-US" sz="2000" dirty="0" smtClean="0">
                <a:latin typeface="Times New Roman" pitchFamily="18" charset="0"/>
                <a:cs typeface="Times New Roman" pitchFamily="18" charset="0"/>
              </a:rPr>
              <a:t>: Apache Avro is a popular </a:t>
            </a:r>
            <a:r>
              <a:rPr lang="en-US" sz="2000" b="1" dirty="0" smtClean="0">
                <a:solidFill>
                  <a:srgbClr val="0070C0"/>
                </a:solidFill>
                <a:latin typeface="Times New Roman" pitchFamily="18" charset="0"/>
                <a:cs typeface="Times New Roman" pitchFamily="18" charset="0"/>
              </a:rPr>
              <a:t>Serialization Framework</a:t>
            </a:r>
            <a:r>
              <a:rPr lang="en-US" sz="2000" dirty="0" smtClean="0">
                <a:latin typeface="Times New Roman" pitchFamily="18" charset="0"/>
                <a:cs typeface="Times New Roman" pitchFamily="18" charset="0"/>
              </a:rPr>
              <a:t> used in Hadoop. It provides a schema-based serialization format that </a:t>
            </a:r>
            <a:r>
              <a:rPr lang="en-US" sz="2000" b="1" dirty="0" smtClean="0">
                <a:solidFill>
                  <a:srgbClr val="0070C0"/>
                </a:solidFill>
                <a:latin typeface="Times New Roman" pitchFamily="18" charset="0"/>
                <a:cs typeface="Times New Roman" pitchFamily="18" charset="0"/>
              </a:rPr>
              <a:t>Supports Multiple Programming Languages</a:t>
            </a:r>
            <a:r>
              <a:rPr lang="en-US" sz="2000" dirty="0" smtClean="0">
                <a:latin typeface="Times New Roman" pitchFamily="18" charset="0"/>
                <a:cs typeface="Times New Roman" pitchFamily="18" charset="0"/>
              </a:rPr>
              <a:t> and is efficient for both storage and data transfer.</a:t>
            </a:r>
          </a:p>
          <a:p>
            <a:pPr lvl="1"/>
            <a:r>
              <a:rPr lang="en-US" sz="2000" b="1" dirty="0" smtClean="0">
                <a:latin typeface="Times New Roman" pitchFamily="18" charset="0"/>
                <a:cs typeface="Times New Roman" pitchFamily="18" charset="0"/>
              </a:rPr>
              <a:t>Parquet</a:t>
            </a:r>
            <a:r>
              <a:rPr lang="en-US" sz="2000" dirty="0" smtClean="0">
                <a:latin typeface="Times New Roman" pitchFamily="18" charset="0"/>
                <a:cs typeface="Times New Roman" pitchFamily="18" charset="0"/>
              </a:rPr>
              <a:t>: Apache Parquet is a columnar</a:t>
            </a:r>
            <a:r>
              <a:rPr lang="en-US" sz="2000" b="1" dirty="0" smtClean="0">
                <a:solidFill>
                  <a:srgbClr val="0070C0"/>
                </a:solidFill>
                <a:latin typeface="Times New Roman" pitchFamily="18" charset="0"/>
                <a:cs typeface="Times New Roman" pitchFamily="18" charset="0"/>
              </a:rPr>
              <a:t> Storage Format</a:t>
            </a:r>
            <a:r>
              <a:rPr lang="en-US" sz="2000" dirty="0" smtClean="0">
                <a:latin typeface="Times New Roman" pitchFamily="18" charset="0"/>
                <a:cs typeface="Times New Roman" pitchFamily="18" charset="0"/>
              </a:rPr>
              <a:t> that includes its own serialization mechanisms. It's well-suited for </a:t>
            </a:r>
            <a:r>
              <a:rPr lang="en-US" sz="2000" b="1" dirty="0" smtClean="0">
                <a:solidFill>
                  <a:srgbClr val="0070C0"/>
                </a:solidFill>
                <a:latin typeface="Times New Roman" pitchFamily="18" charset="0"/>
                <a:cs typeface="Times New Roman" pitchFamily="18" charset="0"/>
              </a:rPr>
              <a:t>Analytics</a:t>
            </a:r>
            <a:r>
              <a:rPr lang="en-US" sz="2000" dirty="0" smtClean="0">
                <a:latin typeface="Times New Roman" pitchFamily="18" charset="0"/>
                <a:cs typeface="Times New Roman" pitchFamily="18" charset="0"/>
              </a:rPr>
              <a:t> and is often used with tools like </a:t>
            </a:r>
            <a:r>
              <a:rPr lang="en-US" sz="2000" b="1" dirty="0" smtClean="0">
                <a:solidFill>
                  <a:srgbClr val="0070C0"/>
                </a:solidFill>
                <a:latin typeface="Times New Roman" pitchFamily="18" charset="0"/>
                <a:cs typeface="Times New Roman" pitchFamily="18" charset="0"/>
              </a:rPr>
              <a:t>Apache Hive and Apache Impala.</a:t>
            </a:r>
          </a:p>
          <a:p>
            <a:pPr>
              <a:buNone/>
            </a:pPr>
            <a:endParaRPr lang="en-US" sz="2000" dirty="0">
              <a:latin typeface="Times New Roman" pitchFamily="18" charset="0"/>
              <a:cs typeface="Times New Roman"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3600" b="1" dirty="0">
                <a:solidFill>
                  <a:srgbClr val="FF0000"/>
                </a:solidFill>
                <a:latin typeface="Times New Roman" pitchFamily="18" charset="0"/>
                <a:cs typeface="Times New Roman" pitchFamily="18" charset="0"/>
              </a:rPr>
              <a:t>Hadoop I/O - Serialization</a:t>
            </a:r>
            <a:endParaRPr lang="en-US" sz="3600" dirty="0"/>
          </a:p>
        </p:txBody>
      </p:sp>
      <p:sp>
        <p:nvSpPr>
          <p:cNvPr id="3" name="Content Placeholder 2"/>
          <p:cNvSpPr>
            <a:spLocks noGrp="1"/>
          </p:cNvSpPr>
          <p:nvPr>
            <p:ph idx="1"/>
          </p:nvPr>
        </p:nvSpPr>
        <p:spPr/>
        <p:txBody>
          <a:bodyPr>
            <a:normAutofit/>
          </a:bodyPr>
          <a:lstStyle/>
          <a:p>
            <a:pPr>
              <a:buNone/>
            </a:pPr>
            <a:r>
              <a:rPr lang="en-US" sz="2000" b="1" dirty="0" smtClean="0">
                <a:latin typeface="Times New Roman" pitchFamily="18" charset="0"/>
                <a:cs typeface="Times New Roman" pitchFamily="18" charset="0"/>
              </a:rPr>
              <a:t>Custom Serialization</a:t>
            </a:r>
            <a:r>
              <a:rPr lang="en-US" sz="2000" dirty="0" smtClean="0">
                <a:latin typeface="Times New Roman" pitchFamily="18" charset="0"/>
                <a:cs typeface="Times New Roman" pitchFamily="18" charset="0"/>
              </a:rPr>
              <a:t>:</a:t>
            </a:r>
          </a:p>
          <a:p>
            <a:pPr lvl="1"/>
            <a:r>
              <a:rPr lang="en-US" sz="2000" dirty="0" smtClean="0">
                <a:latin typeface="Times New Roman" pitchFamily="18" charset="0"/>
                <a:cs typeface="Times New Roman" pitchFamily="18" charset="0"/>
              </a:rPr>
              <a:t>For </a:t>
            </a:r>
            <a:r>
              <a:rPr lang="en-US" sz="2000" b="1" dirty="0" smtClean="0">
                <a:solidFill>
                  <a:srgbClr val="0070C0"/>
                </a:solidFill>
                <a:latin typeface="Times New Roman" pitchFamily="18" charset="0"/>
                <a:cs typeface="Times New Roman" pitchFamily="18" charset="0"/>
              </a:rPr>
              <a:t>Complex Data Types</a:t>
            </a:r>
            <a:r>
              <a:rPr lang="en-US" sz="2000" dirty="0" smtClean="0">
                <a:latin typeface="Times New Roman" pitchFamily="18" charset="0"/>
                <a:cs typeface="Times New Roman" pitchFamily="18" charset="0"/>
              </a:rPr>
              <a:t> or when none of the built-in serialization formats meet your needs, you can create custom serializers and de-serializers. This allows you to define how your data objects should be converted into a binary format and back.</a:t>
            </a:r>
          </a:p>
          <a:p>
            <a:pPr lvl="1">
              <a:buNone/>
            </a:pPr>
            <a:endParaRPr lang="en-US" sz="2000" dirty="0" smtClean="0">
              <a:latin typeface="Times New Roman" pitchFamily="18" charset="0"/>
              <a:cs typeface="Times New Roman" pitchFamily="18" charset="0"/>
            </a:endParaRPr>
          </a:p>
          <a:p>
            <a:pPr>
              <a:buNone/>
            </a:pPr>
            <a:r>
              <a:rPr lang="en-US" sz="2000" b="1" dirty="0" smtClean="0">
                <a:latin typeface="Times New Roman" pitchFamily="18" charset="0"/>
                <a:cs typeface="Times New Roman" pitchFamily="18" charset="0"/>
              </a:rPr>
              <a:t>Compression and Serialization</a:t>
            </a:r>
            <a:r>
              <a:rPr lang="en-US" sz="2000" dirty="0" smtClean="0">
                <a:latin typeface="Times New Roman" pitchFamily="18" charset="0"/>
                <a:cs typeface="Times New Roman" pitchFamily="18" charset="0"/>
              </a:rPr>
              <a:t>:</a:t>
            </a:r>
          </a:p>
          <a:p>
            <a:pPr lvl="1"/>
            <a:r>
              <a:rPr lang="en-US" sz="2000" dirty="0" smtClean="0">
                <a:latin typeface="Times New Roman" pitchFamily="18" charset="0"/>
                <a:cs typeface="Times New Roman" pitchFamily="18" charset="0"/>
              </a:rPr>
              <a:t>Compression and serialization are often used together in Hadoop to further reduce storage and data transfer overhead. Compressed serialized data takes less space and is faster to transfer.</a:t>
            </a:r>
            <a:endParaRPr lang="en-US" sz="2000" dirty="0">
              <a:latin typeface="Times New Roman" pitchFamily="18" charset="0"/>
              <a:cs typeface="Times New Roman"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3600" b="1" dirty="0">
                <a:solidFill>
                  <a:srgbClr val="FF0000"/>
                </a:solidFill>
                <a:latin typeface="Times New Roman" pitchFamily="18" charset="0"/>
                <a:cs typeface="Times New Roman" pitchFamily="18" charset="0"/>
              </a:rPr>
              <a:t>Hadoop I/O - Serialization</a:t>
            </a:r>
            <a:endParaRPr lang="en-US" sz="3600" dirty="0"/>
          </a:p>
        </p:txBody>
      </p:sp>
      <p:sp>
        <p:nvSpPr>
          <p:cNvPr id="3" name="Content Placeholder 2"/>
          <p:cNvSpPr>
            <a:spLocks noGrp="1"/>
          </p:cNvSpPr>
          <p:nvPr>
            <p:ph idx="1"/>
          </p:nvPr>
        </p:nvSpPr>
        <p:spPr/>
        <p:txBody>
          <a:bodyPr>
            <a:normAutofit/>
          </a:bodyPr>
          <a:lstStyle/>
          <a:p>
            <a:pPr>
              <a:buNone/>
            </a:pPr>
            <a:r>
              <a:rPr lang="en-US" sz="2000" b="1" dirty="0" smtClean="0">
                <a:latin typeface="Times New Roman" pitchFamily="18" charset="0"/>
                <a:cs typeface="Times New Roman" pitchFamily="18" charset="0"/>
              </a:rPr>
              <a:t>Efficiency and Performance</a:t>
            </a:r>
            <a:r>
              <a:rPr lang="en-US" sz="2000" dirty="0" smtClean="0">
                <a:latin typeface="Times New Roman" pitchFamily="18" charset="0"/>
                <a:cs typeface="Times New Roman" pitchFamily="18" charset="0"/>
              </a:rPr>
              <a:t>:</a:t>
            </a:r>
          </a:p>
          <a:p>
            <a:pPr lvl="1"/>
            <a:r>
              <a:rPr lang="en-US" sz="2000" dirty="0" smtClean="0">
                <a:latin typeface="Times New Roman" pitchFamily="18" charset="0"/>
                <a:cs typeface="Times New Roman" pitchFamily="18" charset="0"/>
              </a:rPr>
              <a:t>It's important to choose serialization formats and libraries that balance efficiency and performance. </a:t>
            </a:r>
          </a:p>
          <a:p>
            <a:pPr lvl="1"/>
            <a:r>
              <a:rPr lang="en-US" sz="2000" dirty="0" smtClean="0">
                <a:latin typeface="Times New Roman" pitchFamily="18" charset="0"/>
                <a:cs typeface="Times New Roman" pitchFamily="18" charset="0"/>
              </a:rPr>
              <a:t>Apache Avro and Parquet are known for their efficiency in this regard.</a:t>
            </a:r>
          </a:p>
          <a:p>
            <a:pPr lvl="1">
              <a:buNone/>
            </a:pPr>
            <a:endParaRPr lang="en-US" sz="2000" dirty="0" smtClean="0">
              <a:latin typeface="Times New Roman" pitchFamily="18" charset="0"/>
              <a:cs typeface="Times New Roman" pitchFamily="18" charset="0"/>
            </a:endParaRPr>
          </a:p>
          <a:p>
            <a:pPr lvl="1">
              <a:buNone/>
            </a:pPr>
            <a:endParaRPr lang="en-US" sz="2000" dirty="0" smtClean="0">
              <a:latin typeface="Times New Roman" pitchFamily="18" charset="0"/>
              <a:cs typeface="Times New Roman" pitchFamily="18" charset="0"/>
            </a:endParaRPr>
          </a:p>
          <a:p>
            <a:pPr lvl="1">
              <a:buNone/>
            </a:pPr>
            <a:r>
              <a:rPr lang="en-US" sz="2800" b="1" dirty="0" smtClean="0">
                <a:solidFill>
                  <a:srgbClr val="FF0000"/>
                </a:solidFill>
                <a:latin typeface="Times New Roman" pitchFamily="18" charset="0"/>
                <a:cs typeface="Times New Roman" pitchFamily="18" charset="0"/>
              </a:rPr>
              <a:t>Conclusion</a:t>
            </a:r>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S</a:t>
            </a:r>
            <a:r>
              <a:rPr lang="en-US" sz="2000" dirty="0" smtClean="0">
                <a:latin typeface="Times New Roman" pitchFamily="18" charset="0"/>
                <a:cs typeface="Times New Roman" pitchFamily="18" charset="0"/>
              </a:rPr>
              <a:t>erialization in Hadoop I/O is a critical aspect of efficient </a:t>
            </a:r>
          </a:p>
          <a:p>
            <a:pPr lvl="1">
              <a:buNone/>
            </a:pPr>
            <a:r>
              <a:rPr lang="en-US" sz="2000" b="1" dirty="0" smtClean="0">
                <a:solidFill>
                  <a:srgbClr val="0070C0"/>
                </a:solidFill>
                <a:latin typeface="Times New Roman" pitchFamily="18" charset="0"/>
                <a:cs typeface="Times New Roman" pitchFamily="18" charset="0"/>
              </a:rPr>
              <a:t>Data Storage, </a:t>
            </a:r>
          </a:p>
          <a:p>
            <a:pPr lvl="1">
              <a:buNone/>
            </a:pPr>
            <a:r>
              <a:rPr lang="en-US" sz="2000" b="1" dirty="0" smtClean="0">
                <a:solidFill>
                  <a:srgbClr val="0070C0"/>
                </a:solidFill>
                <a:latin typeface="Times New Roman" pitchFamily="18" charset="0"/>
                <a:cs typeface="Times New Roman" pitchFamily="18" charset="0"/>
              </a:rPr>
              <a:t>Transfer, And </a:t>
            </a:r>
          </a:p>
          <a:p>
            <a:pPr lvl="1">
              <a:buNone/>
            </a:pPr>
            <a:r>
              <a:rPr lang="en-US" sz="2000" b="1" dirty="0" smtClean="0">
                <a:solidFill>
                  <a:srgbClr val="0070C0"/>
                </a:solidFill>
                <a:latin typeface="Times New Roman" pitchFamily="18" charset="0"/>
                <a:cs typeface="Times New Roman" pitchFamily="18" charset="0"/>
              </a:rPr>
              <a:t>Processin</a:t>
            </a:r>
            <a:r>
              <a:rPr lang="en-US" sz="2000" dirty="0" smtClean="0">
                <a:latin typeface="Times New Roman" pitchFamily="18" charset="0"/>
                <a:cs typeface="Times New Roman" pitchFamily="18" charset="0"/>
              </a:rPr>
              <a:t>g within the Hadoop ecosystem. </a:t>
            </a:r>
          </a:p>
          <a:p>
            <a:endParaRPr lang="en-US" sz="2000" dirty="0">
              <a:latin typeface="Times New Roman" pitchFamily="18" charset="0"/>
              <a:cs typeface="Times New Roman" pitchFamily="18"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Hadoop I/O – File Based Data Structures.</a:t>
            </a:r>
            <a:endParaRPr lang="en-US" sz="36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Autofit/>
          </a:bodyPr>
          <a:lstStyle/>
          <a:p>
            <a:r>
              <a:rPr lang="en-US" sz="2000" dirty="0" smtClean="0">
                <a:latin typeface="Times New Roman" pitchFamily="18" charset="0"/>
                <a:cs typeface="Times New Roman" pitchFamily="18" charset="0"/>
              </a:rPr>
              <a:t> Hadoop provides various </a:t>
            </a:r>
            <a:r>
              <a:rPr lang="en-US" sz="2000" b="1" dirty="0" smtClean="0">
                <a:solidFill>
                  <a:srgbClr val="0070C0"/>
                </a:solidFill>
                <a:latin typeface="Times New Roman" pitchFamily="18" charset="0"/>
                <a:cs typeface="Times New Roman" pitchFamily="18" charset="0"/>
              </a:rPr>
              <a:t>File Formats And Data Structures</a:t>
            </a:r>
            <a:r>
              <a:rPr lang="en-US" sz="2000" dirty="0" smtClean="0">
                <a:latin typeface="Times New Roman" pitchFamily="18" charset="0"/>
                <a:cs typeface="Times New Roman" pitchFamily="18" charset="0"/>
              </a:rPr>
              <a:t> that are optimized for handling big data efficiently. </a:t>
            </a:r>
          </a:p>
          <a:p>
            <a:r>
              <a:rPr lang="en-US" sz="2000" dirty="0" smtClean="0">
                <a:latin typeface="Times New Roman" pitchFamily="18" charset="0"/>
                <a:cs typeface="Times New Roman" pitchFamily="18" charset="0"/>
              </a:rPr>
              <a:t>These data structures are designed to work seamlessly with Hadoop's distributed processing frameworks like Map Reduce, Spark, and Hive. </a:t>
            </a:r>
          </a:p>
          <a:p>
            <a:pPr marL="0" indent="0">
              <a:buNone/>
            </a:pPr>
            <a:endParaRPr lang="en-US"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Here are some common file-based data structures in Hadoop:</a:t>
            </a:r>
          </a:p>
          <a:p>
            <a:pPr>
              <a:buNone/>
            </a:pPr>
            <a:r>
              <a:rPr lang="en-US" sz="2000" b="1" dirty="0" smtClean="0">
                <a:latin typeface="Times New Roman" pitchFamily="18" charset="0"/>
                <a:cs typeface="Times New Roman" pitchFamily="18" charset="0"/>
              </a:rPr>
              <a:t>Sequence File</a:t>
            </a:r>
            <a:r>
              <a:rPr lang="en-US" sz="2000" dirty="0" smtClean="0">
                <a:latin typeface="Times New Roman" pitchFamily="18" charset="0"/>
                <a:cs typeface="Times New Roman" pitchFamily="18" charset="0"/>
              </a:rPr>
              <a:t>:</a:t>
            </a:r>
          </a:p>
          <a:p>
            <a:pPr lvl="1"/>
            <a:r>
              <a:rPr lang="en-US" sz="2000" dirty="0" smtClean="0">
                <a:latin typeface="Times New Roman" pitchFamily="18" charset="0"/>
                <a:cs typeface="Times New Roman" pitchFamily="18" charset="0"/>
              </a:rPr>
              <a:t>It is a </a:t>
            </a:r>
            <a:r>
              <a:rPr lang="en-US" sz="2000" b="1" dirty="0" smtClean="0">
                <a:solidFill>
                  <a:srgbClr val="0070C0"/>
                </a:solidFill>
                <a:latin typeface="Times New Roman" pitchFamily="18" charset="0"/>
                <a:cs typeface="Times New Roman" pitchFamily="18" charset="0"/>
              </a:rPr>
              <a:t>Hadoop-specific file format </a:t>
            </a:r>
            <a:r>
              <a:rPr lang="en-US" sz="2000" dirty="0" smtClean="0">
                <a:latin typeface="Times New Roman" pitchFamily="18" charset="0"/>
                <a:cs typeface="Times New Roman" pitchFamily="18" charset="0"/>
              </a:rPr>
              <a:t>that is designed for storing binary key-value pairs efficiently. </a:t>
            </a:r>
          </a:p>
          <a:p>
            <a:pPr lvl="1"/>
            <a:r>
              <a:rPr lang="en-US" sz="2000" dirty="0" smtClean="0">
                <a:latin typeface="Times New Roman" pitchFamily="18" charset="0"/>
                <a:cs typeface="Times New Roman" pitchFamily="18" charset="0"/>
              </a:rPr>
              <a:t>Suitable for storing </a:t>
            </a:r>
            <a:r>
              <a:rPr lang="en-US" sz="2000" b="1" dirty="0" smtClean="0">
                <a:solidFill>
                  <a:srgbClr val="0070C0"/>
                </a:solidFill>
                <a:latin typeface="Times New Roman" pitchFamily="18" charset="0"/>
                <a:cs typeface="Times New Roman" pitchFamily="18" charset="0"/>
              </a:rPr>
              <a:t>Structured And Semi-structured Data.</a:t>
            </a:r>
          </a:p>
          <a:p>
            <a:pPr lvl="1"/>
            <a:r>
              <a:rPr lang="en-US" sz="2000" dirty="0" smtClean="0">
                <a:latin typeface="Times New Roman" pitchFamily="18" charset="0"/>
                <a:cs typeface="Times New Roman" pitchFamily="18" charset="0"/>
              </a:rPr>
              <a:t>Sequence Files are commonly used in Hadoop applications to </a:t>
            </a:r>
            <a:r>
              <a:rPr lang="en-US" sz="2000" b="1" dirty="0" smtClean="0">
                <a:solidFill>
                  <a:srgbClr val="0070C0"/>
                </a:solidFill>
                <a:latin typeface="Times New Roman" pitchFamily="18" charset="0"/>
                <a:cs typeface="Times New Roman" pitchFamily="18" charset="0"/>
              </a:rPr>
              <a:t>store intermediate data</a:t>
            </a:r>
            <a:r>
              <a:rPr lang="en-US" sz="2000" dirty="0" smtClean="0">
                <a:latin typeface="Times New Roman" pitchFamily="18" charset="0"/>
                <a:cs typeface="Times New Roman" pitchFamily="18" charset="0"/>
              </a:rPr>
              <a:t> between Map and Reduce phases in Map Reduce jobs.</a:t>
            </a:r>
          </a:p>
          <a:p>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endParaRPr lang="en-US" sz="2000" dirty="0">
              <a:latin typeface="Times New Roman" pitchFamily="18" charset="0"/>
              <a:cs typeface="Times New Roman" pitchFamily="18"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3600" b="1" dirty="0">
                <a:solidFill>
                  <a:srgbClr val="FF0000"/>
                </a:solidFill>
                <a:latin typeface="Times New Roman" pitchFamily="18" charset="0"/>
                <a:cs typeface="Times New Roman" pitchFamily="18" charset="0"/>
              </a:rPr>
              <a:t>Hadoop I/O – File Based Data Structures.</a:t>
            </a:r>
            <a:endParaRPr lang="en-US" sz="3600" dirty="0"/>
          </a:p>
        </p:txBody>
      </p:sp>
      <p:sp>
        <p:nvSpPr>
          <p:cNvPr id="3" name="Content Placeholder 2"/>
          <p:cNvSpPr>
            <a:spLocks noGrp="1"/>
          </p:cNvSpPr>
          <p:nvPr>
            <p:ph idx="1"/>
          </p:nvPr>
        </p:nvSpPr>
        <p:spPr/>
        <p:txBody>
          <a:bodyPr>
            <a:normAutofit lnSpcReduction="10000"/>
          </a:bodyPr>
          <a:lstStyle/>
          <a:p>
            <a:pPr>
              <a:buNone/>
            </a:pPr>
            <a:r>
              <a:rPr lang="en-US" sz="2000" b="1" dirty="0" smtClean="0">
                <a:latin typeface="Times New Roman" pitchFamily="18" charset="0"/>
                <a:cs typeface="Times New Roman" pitchFamily="18" charset="0"/>
              </a:rPr>
              <a:t>Text File</a:t>
            </a:r>
            <a:r>
              <a:rPr lang="en-US" sz="2000" dirty="0" smtClean="0">
                <a:latin typeface="Times New Roman" pitchFamily="18" charset="0"/>
                <a:cs typeface="Times New Roman" pitchFamily="18" charset="0"/>
              </a:rPr>
              <a:t>:</a:t>
            </a:r>
          </a:p>
          <a:p>
            <a:pPr lvl="1"/>
            <a:r>
              <a:rPr lang="en-US" sz="2000" dirty="0" smtClean="0">
                <a:latin typeface="Times New Roman" pitchFamily="18" charset="0"/>
                <a:cs typeface="Times New Roman" pitchFamily="18" charset="0"/>
              </a:rPr>
              <a:t>It is a simple file format that stores data as plain text. Each line of text typically corresponds to a record.</a:t>
            </a:r>
          </a:p>
          <a:p>
            <a:pPr lvl="1"/>
            <a:r>
              <a:rPr lang="en-US" sz="2000" dirty="0" smtClean="0">
                <a:latin typeface="Times New Roman" pitchFamily="18" charset="0"/>
                <a:cs typeface="Times New Roman" pitchFamily="18" charset="0"/>
              </a:rPr>
              <a:t>Text Files are suitable for storing </a:t>
            </a:r>
            <a:r>
              <a:rPr lang="en-US" sz="2000" b="1" dirty="0" smtClean="0">
                <a:solidFill>
                  <a:srgbClr val="0070C0"/>
                </a:solidFill>
                <a:latin typeface="Times New Roman" pitchFamily="18" charset="0"/>
                <a:cs typeface="Times New Roman" pitchFamily="18" charset="0"/>
              </a:rPr>
              <a:t>Unstructured Or Text-based Data</a:t>
            </a:r>
            <a:r>
              <a:rPr lang="en-US" sz="2000" dirty="0" smtClean="0">
                <a:latin typeface="Times New Roman" pitchFamily="18" charset="0"/>
                <a:cs typeface="Times New Roman" pitchFamily="18" charset="0"/>
              </a:rPr>
              <a:t>. </a:t>
            </a:r>
          </a:p>
          <a:p>
            <a:pPr lvl="1">
              <a:buNone/>
            </a:pPr>
            <a:endParaRPr lang="en-US" sz="2000" dirty="0" smtClean="0">
              <a:latin typeface="Times New Roman" pitchFamily="18" charset="0"/>
              <a:cs typeface="Times New Roman" pitchFamily="18" charset="0"/>
            </a:endParaRPr>
          </a:p>
          <a:p>
            <a:pPr>
              <a:buNone/>
            </a:pPr>
            <a:r>
              <a:rPr lang="en-US" sz="2000" b="1" dirty="0" smtClean="0">
                <a:latin typeface="Times New Roman" pitchFamily="18" charset="0"/>
                <a:cs typeface="Times New Roman" pitchFamily="18" charset="0"/>
              </a:rPr>
              <a:t>Avro</a:t>
            </a:r>
            <a:r>
              <a:rPr lang="en-US" sz="2000" dirty="0" smtClean="0">
                <a:latin typeface="Times New Roman" pitchFamily="18" charset="0"/>
                <a:cs typeface="Times New Roman" pitchFamily="18" charset="0"/>
              </a:rPr>
              <a:t>:</a:t>
            </a:r>
          </a:p>
          <a:p>
            <a:pPr lvl="1"/>
            <a:r>
              <a:rPr lang="en-US" sz="2000" dirty="0" smtClean="0">
                <a:latin typeface="Times New Roman" pitchFamily="18" charset="0"/>
                <a:cs typeface="Times New Roman" pitchFamily="18" charset="0"/>
              </a:rPr>
              <a:t>Apache Avro is a data serialization system that includes a file format. Avro files contain both </a:t>
            </a:r>
            <a:r>
              <a:rPr lang="en-US" sz="2000" b="1" dirty="0" smtClean="0">
                <a:solidFill>
                  <a:srgbClr val="0070C0"/>
                </a:solidFill>
                <a:latin typeface="Times New Roman" pitchFamily="18" charset="0"/>
                <a:cs typeface="Times New Roman" pitchFamily="18" charset="0"/>
              </a:rPr>
              <a:t>Data and Schema Information</a:t>
            </a:r>
            <a:r>
              <a:rPr lang="en-US" sz="2000" dirty="0" smtClean="0">
                <a:latin typeface="Times New Roman" pitchFamily="18" charset="0"/>
                <a:cs typeface="Times New Roman" pitchFamily="18" charset="0"/>
              </a:rPr>
              <a:t>, making them self-describing and ideal for use with evolving data schemas.</a:t>
            </a:r>
          </a:p>
          <a:p>
            <a:pPr lvl="1"/>
            <a:r>
              <a:rPr lang="en-US" sz="2000" dirty="0" smtClean="0">
                <a:latin typeface="Times New Roman" pitchFamily="18" charset="0"/>
                <a:cs typeface="Times New Roman" pitchFamily="18" charset="0"/>
              </a:rPr>
              <a:t> Avro is used when you need a schema-aware, compact, and efficient file format. </a:t>
            </a:r>
          </a:p>
          <a:p>
            <a:pPr lvl="1"/>
            <a:r>
              <a:rPr lang="en-US" sz="2000" dirty="0" smtClean="0">
                <a:latin typeface="Times New Roman" pitchFamily="18" charset="0"/>
                <a:cs typeface="Times New Roman" pitchFamily="18" charset="0"/>
              </a:rPr>
              <a:t>It is commonly used in conjunction with tools like </a:t>
            </a:r>
            <a:r>
              <a:rPr lang="en-US" sz="2000" b="1" dirty="0" smtClean="0">
                <a:solidFill>
                  <a:srgbClr val="0070C0"/>
                </a:solidFill>
                <a:latin typeface="Times New Roman" pitchFamily="18" charset="0"/>
                <a:cs typeface="Times New Roman" pitchFamily="18" charset="0"/>
              </a:rPr>
              <a:t>Apache Hive and Apache Pig.</a:t>
            </a:r>
            <a:endParaRPr lang="en-US" b="1" dirty="0">
              <a:solidFill>
                <a:srgbClr val="0070C0"/>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normAutofit/>
          </a:bodyPr>
          <a:lstStyle/>
          <a:p>
            <a:r>
              <a:rPr lang="en-US" sz="3600" b="1" dirty="0">
                <a:solidFill>
                  <a:srgbClr val="FF0000"/>
                </a:solidFill>
                <a:latin typeface="Times New Roman" pitchFamily="18" charset="0"/>
                <a:cs typeface="Times New Roman" pitchFamily="18" charset="0"/>
              </a:rPr>
              <a:t>Hadoop I/O – File Based Data Structures.</a:t>
            </a:r>
            <a:endParaRPr lang="en-US" sz="3600" dirty="0"/>
          </a:p>
        </p:txBody>
      </p:sp>
      <p:sp>
        <p:nvSpPr>
          <p:cNvPr id="3" name="Content Placeholder 2"/>
          <p:cNvSpPr>
            <a:spLocks noGrp="1"/>
          </p:cNvSpPr>
          <p:nvPr>
            <p:ph idx="1"/>
          </p:nvPr>
        </p:nvSpPr>
        <p:spPr/>
        <p:txBody>
          <a:bodyPr>
            <a:noAutofit/>
          </a:bodyPr>
          <a:lstStyle/>
          <a:p>
            <a:pPr>
              <a:buNone/>
            </a:pPr>
            <a:r>
              <a:rPr lang="en-US" sz="2000" b="1" dirty="0" smtClean="0">
                <a:latin typeface="Times New Roman" pitchFamily="18" charset="0"/>
                <a:cs typeface="Times New Roman" pitchFamily="18" charset="0"/>
              </a:rPr>
              <a:t>Parquet</a:t>
            </a:r>
            <a:r>
              <a:rPr lang="en-US" sz="2000" dirty="0" smtClean="0">
                <a:latin typeface="Times New Roman" pitchFamily="18" charset="0"/>
                <a:cs typeface="Times New Roman" pitchFamily="18" charset="0"/>
              </a:rPr>
              <a:t>:</a:t>
            </a:r>
          </a:p>
          <a:p>
            <a:pPr lvl="1"/>
            <a:r>
              <a:rPr lang="en-US" sz="2000" dirty="0" smtClean="0">
                <a:latin typeface="Times New Roman" pitchFamily="18" charset="0"/>
                <a:cs typeface="Times New Roman" pitchFamily="18" charset="0"/>
              </a:rPr>
              <a:t>Apache Parquet is a </a:t>
            </a:r>
            <a:r>
              <a:rPr lang="en-US" sz="2000" b="1" dirty="0" smtClean="0">
                <a:solidFill>
                  <a:srgbClr val="0070C0"/>
                </a:solidFill>
                <a:latin typeface="Times New Roman" pitchFamily="18" charset="0"/>
                <a:cs typeface="Times New Roman" pitchFamily="18" charset="0"/>
              </a:rPr>
              <a:t>Columnar Storage Format</a:t>
            </a:r>
            <a:r>
              <a:rPr lang="en-US" sz="2000" dirty="0" smtClean="0">
                <a:latin typeface="Times New Roman" pitchFamily="18" charset="0"/>
                <a:cs typeface="Times New Roman" pitchFamily="18" charset="0"/>
              </a:rPr>
              <a:t> optimized for analytical queries. </a:t>
            </a:r>
          </a:p>
          <a:p>
            <a:pPr lvl="1"/>
            <a:r>
              <a:rPr lang="en-US" sz="2000" dirty="0" smtClean="0">
                <a:latin typeface="Times New Roman" pitchFamily="18" charset="0"/>
                <a:cs typeface="Times New Roman" pitchFamily="18" charset="0"/>
              </a:rPr>
              <a:t>Parquet is widely used in data warehousing and analytics applications, especially when dealing with large volumes of structured data.</a:t>
            </a:r>
          </a:p>
          <a:p>
            <a:pPr>
              <a:buNone/>
            </a:pPr>
            <a:r>
              <a:rPr lang="en-US" sz="2000" b="1" dirty="0">
                <a:latin typeface="Times New Roman" pitchFamily="18" charset="0"/>
                <a:cs typeface="Times New Roman" pitchFamily="18" charset="0"/>
              </a:rPr>
              <a:t>JSON and JSON Lines</a:t>
            </a:r>
            <a:r>
              <a:rPr lang="en-US" sz="2000" dirty="0">
                <a:latin typeface="Times New Roman" pitchFamily="18" charset="0"/>
                <a:cs typeface="Times New Roman" pitchFamily="18" charset="0"/>
              </a:rPr>
              <a:t>:</a:t>
            </a:r>
          </a:p>
          <a:p>
            <a:pPr lvl="1"/>
            <a:r>
              <a:rPr lang="en-US" sz="2000" dirty="0">
                <a:latin typeface="Times New Roman" pitchFamily="18" charset="0"/>
                <a:cs typeface="Times New Roman" pitchFamily="18" charset="0"/>
              </a:rPr>
              <a:t>JSON (JavaScript Object Notation) is a widely used data interchange format. </a:t>
            </a:r>
          </a:p>
          <a:p>
            <a:pPr lvl="1"/>
            <a:r>
              <a:rPr lang="en-US" sz="2000" dirty="0">
                <a:latin typeface="Times New Roman" pitchFamily="18" charset="0"/>
                <a:cs typeface="Times New Roman" pitchFamily="18" charset="0"/>
              </a:rPr>
              <a:t>JSON files store data in a human-readable text format. </a:t>
            </a:r>
          </a:p>
          <a:p>
            <a:pPr lvl="1"/>
            <a:r>
              <a:rPr lang="en-US" sz="2000" dirty="0">
                <a:latin typeface="Times New Roman" pitchFamily="18" charset="0"/>
                <a:cs typeface="Times New Roman" pitchFamily="18" charset="0"/>
              </a:rPr>
              <a:t>JSON is used when dealing with </a:t>
            </a:r>
            <a:r>
              <a:rPr lang="en-US" sz="2000" b="1" dirty="0" smtClean="0">
                <a:solidFill>
                  <a:srgbClr val="0070C0"/>
                </a:solidFill>
                <a:latin typeface="Times New Roman" pitchFamily="18" charset="0"/>
                <a:cs typeface="Times New Roman" pitchFamily="18" charset="0"/>
              </a:rPr>
              <a:t>Semi-structured Or Nested Data</a:t>
            </a:r>
            <a:r>
              <a:rPr lang="en-US" sz="2000" dirty="0" smtClean="0">
                <a:latin typeface="Times New Roman" pitchFamily="18" charset="0"/>
                <a:cs typeface="Times New Roman" pitchFamily="18" charset="0"/>
              </a:rPr>
              <a:t>.</a:t>
            </a:r>
            <a:endParaRPr lang="en-US" sz="2000" b="1" dirty="0">
              <a:latin typeface="Times New Roman" pitchFamily="18" charset="0"/>
              <a:cs typeface="Times New Roman" pitchFamily="18" charset="0"/>
            </a:endParaRPr>
          </a:p>
          <a:p>
            <a:pPr>
              <a:buNone/>
            </a:pPr>
            <a:r>
              <a:rPr lang="en-US" sz="2000" b="1" dirty="0">
                <a:latin typeface="Times New Roman" pitchFamily="18" charset="0"/>
                <a:cs typeface="Times New Roman" pitchFamily="18" charset="0"/>
              </a:rPr>
              <a:t>Custom File Formats</a:t>
            </a:r>
            <a:r>
              <a:rPr lang="en-US" sz="2000" dirty="0">
                <a:latin typeface="Times New Roman" pitchFamily="18" charset="0"/>
                <a:cs typeface="Times New Roman" pitchFamily="18" charset="0"/>
              </a:rPr>
              <a:t>:</a:t>
            </a:r>
          </a:p>
          <a:p>
            <a:pPr lvl="1"/>
            <a:r>
              <a:rPr lang="en-US" sz="2000" dirty="0">
                <a:latin typeface="Times New Roman" pitchFamily="18" charset="0"/>
                <a:cs typeface="Times New Roman" pitchFamily="18" charset="0"/>
              </a:rPr>
              <a:t>Hadoop allows you to create custom file formats tailored to your specific data and processing requirements</a:t>
            </a:r>
            <a:endParaRPr lang="en-US" sz="2000" dirty="0" smtClean="0">
              <a:latin typeface="Times New Roman" pitchFamily="18" charset="0"/>
              <a:cs typeface="Times New Roman" pitchFamily="18" charset="0"/>
            </a:endParaRPr>
          </a:p>
          <a:p>
            <a:pPr lvl="1">
              <a:buNone/>
            </a:pPr>
            <a:endParaRPr lang="en-US" sz="2000" dirty="0" smtClean="0">
              <a:latin typeface="Times New Roman" pitchFamily="18" charset="0"/>
              <a:cs typeface="Times New Roman" pitchFamily="18" charset="0"/>
            </a:endParaRPr>
          </a:p>
          <a:p>
            <a:pPr>
              <a:buNone/>
            </a:pPr>
            <a:endParaRPr lang="en-US" sz="2000" dirty="0" smtClean="0">
              <a:latin typeface="Times New Roman" pitchFamily="18" charset="0"/>
              <a:cs typeface="Times New Roman" pitchFamily="18" charset="0"/>
            </a:endParaRPr>
          </a:p>
          <a:p>
            <a:endParaRPr lang="en-US" sz="2000" dirty="0" smtClean="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normAutofit/>
          </a:bodyPr>
          <a:lstStyle/>
          <a:p>
            <a:r>
              <a:rPr lang="en-US" sz="3600" b="1" dirty="0">
                <a:solidFill>
                  <a:srgbClr val="FF0000"/>
                </a:solidFill>
                <a:latin typeface="Times New Roman" pitchFamily="18" charset="0"/>
                <a:cs typeface="Times New Roman" pitchFamily="18" charset="0"/>
              </a:rPr>
              <a:t>Hadoop I/O – File Based Data Structures.</a:t>
            </a:r>
            <a:endParaRPr lang="en-US" sz="3600" dirty="0"/>
          </a:p>
        </p:txBody>
      </p:sp>
      <p:sp>
        <p:nvSpPr>
          <p:cNvPr id="3" name="Content Placeholder 2"/>
          <p:cNvSpPr>
            <a:spLocks noGrp="1"/>
          </p:cNvSpPr>
          <p:nvPr>
            <p:ph idx="1"/>
          </p:nvPr>
        </p:nvSpPr>
        <p:spPr/>
        <p:txBody>
          <a:bodyPr>
            <a:normAutofit/>
          </a:bodyPr>
          <a:lstStyle/>
          <a:p>
            <a:r>
              <a:rPr lang="en-US" sz="2800" b="1" dirty="0" smtClean="0">
                <a:solidFill>
                  <a:srgbClr val="FF0000"/>
                </a:solidFill>
                <a:latin typeface="Times New Roman" pitchFamily="18" charset="0"/>
                <a:cs typeface="Times New Roman" pitchFamily="18" charset="0"/>
              </a:rPr>
              <a:t>Conclusion</a:t>
            </a:r>
            <a:r>
              <a:rPr lang="en-US" sz="2000" dirty="0" smtClean="0">
                <a:latin typeface="Times New Roman" pitchFamily="18" charset="0"/>
                <a:cs typeface="Times New Roman" pitchFamily="18" charset="0"/>
              </a:rPr>
              <a:t>:- When choosing a file-based data structure in Hadoop, consider factors such as </a:t>
            </a:r>
          </a:p>
          <a:p>
            <a:pPr>
              <a:buNone/>
            </a:pPr>
            <a:r>
              <a:rPr lang="en-US" sz="2000" b="1" dirty="0" smtClean="0">
                <a:solidFill>
                  <a:srgbClr val="0070C0"/>
                </a:solidFill>
                <a:latin typeface="Times New Roman" pitchFamily="18" charset="0"/>
                <a:cs typeface="Times New Roman" pitchFamily="18" charset="0"/>
              </a:rPr>
              <a:t>	Data Volume, </a:t>
            </a:r>
          </a:p>
          <a:p>
            <a:pPr>
              <a:buNone/>
            </a:pPr>
            <a:r>
              <a:rPr lang="en-US" sz="2000" b="1" dirty="0" smtClean="0">
                <a:solidFill>
                  <a:srgbClr val="0070C0"/>
                </a:solidFill>
                <a:latin typeface="Times New Roman" pitchFamily="18" charset="0"/>
                <a:cs typeface="Times New Roman" pitchFamily="18" charset="0"/>
              </a:rPr>
              <a:t>	Schema Evolution, </a:t>
            </a:r>
          </a:p>
          <a:p>
            <a:pPr>
              <a:buNone/>
            </a:pPr>
            <a:r>
              <a:rPr lang="en-US" sz="2000" b="1" dirty="0" smtClean="0">
                <a:solidFill>
                  <a:srgbClr val="0070C0"/>
                </a:solidFill>
                <a:latin typeface="Times New Roman" pitchFamily="18" charset="0"/>
                <a:cs typeface="Times New Roman" pitchFamily="18" charset="0"/>
              </a:rPr>
              <a:t>	Query Patterns, And The </a:t>
            </a:r>
          </a:p>
          <a:p>
            <a:pPr>
              <a:buNone/>
            </a:pPr>
            <a:r>
              <a:rPr lang="en-US" sz="2000" b="1" dirty="0" smtClean="0">
                <a:solidFill>
                  <a:srgbClr val="0070C0"/>
                </a:solidFill>
                <a:latin typeface="Times New Roman" pitchFamily="18" charset="0"/>
                <a:cs typeface="Times New Roman" pitchFamily="18" charset="0"/>
              </a:rPr>
              <a:t>	Compatibility</a:t>
            </a:r>
            <a:r>
              <a:rPr lang="en-US" sz="2000" dirty="0" smtClean="0">
                <a:latin typeface="Times New Roman" pitchFamily="18" charset="0"/>
                <a:cs typeface="Times New Roman" pitchFamily="18" charset="0"/>
              </a:rPr>
              <a:t> of the chosen format with your data processing tools and frameworks. </a:t>
            </a:r>
          </a:p>
          <a:p>
            <a:pPr>
              <a:buNone/>
            </a:pPr>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The choice of data structure can significantly impact the efficiency and performance of your Hadoop-based data processing workflows.</a:t>
            </a:r>
            <a:endParaRPr lang="en-US" sz="2000" dirty="0">
              <a:latin typeface="Times New Roman" pitchFamily="18" charset="0"/>
              <a:cs typeface="Times New Roman" pitchFamily="18"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dirty="0" smtClean="0">
                <a:latin typeface="Times New Roman" pitchFamily="18" charset="0"/>
                <a:cs typeface="Times New Roman" pitchFamily="18" charset="0"/>
              </a:rPr>
              <a:t>The End</a:t>
            </a:r>
            <a:endParaRPr lang="en-US" dirty="0">
              <a:latin typeface="Times New Roman" pitchFamily="18" charset="0"/>
              <a:cs typeface="Times New Roman" pitchFamily="18"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193</TotalTime>
  <Words>4846</Words>
  <Application>Microsoft Office PowerPoint</Application>
  <PresentationFormat>On-screen Show (4:3)</PresentationFormat>
  <Paragraphs>475</Paragraphs>
  <Slides>59</Slides>
  <Notes>0</Notes>
  <HiddenSlides>0</HiddenSlides>
  <MMClips>0</MMClips>
  <ScaleCrop>false</ScaleCrop>
  <HeadingPairs>
    <vt:vector size="4" baseType="variant">
      <vt:variant>
        <vt:lpstr>Theme</vt:lpstr>
      </vt:variant>
      <vt:variant>
        <vt:i4>1</vt:i4>
      </vt:variant>
      <vt:variant>
        <vt:lpstr>Slide Titles</vt:lpstr>
      </vt:variant>
      <vt:variant>
        <vt:i4>59</vt:i4>
      </vt:variant>
    </vt:vector>
  </HeadingPairs>
  <TitlesOfParts>
    <vt:vector size="60" baseType="lpstr">
      <vt:lpstr>Flow</vt:lpstr>
      <vt:lpstr>Unit - 2</vt:lpstr>
      <vt:lpstr>Weather Dataset</vt:lpstr>
      <vt:lpstr>Analyzing data with Unix Tool</vt:lpstr>
      <vt:lpstr>Analyzing data with Unix Tool</vt:lpstr>
      <vt:lpstr>Analyzing data with Unix Tool</vt:lpstr>
      <vt:lpstr>Analyzing Data with Hadoop</vt:lpstr>
      <vt:lpstr>Analyzing Data with Hadoop</vt:lpstr>
      <vt:lpstr>Hadoop Streaming </vt:lpstr>
      <vt:lpstr>Hadoop Streaming </vt:lpstr>
      <vt:lpstr>Hadoop Streaming </vt:lpstr>
      <vt:lpstr>Hadoop Pipes</vt:lpstr>
      <vt:lpstr>Hadoop Pipes</vt:lpstr>
      <vt:lpstr>HDFS</vt:lpstr>
      <vt:lpstr>HDFS – Design</vt:lpstr>
      <vt:lpstr>HDFS – Design</vt:lpstr>
      <vt:lpstr>HDFS - Blocks</vt:lpstr>
      <vt:lpstr>HDFS - Blocks</vt:lpstr>
      <vt:lpstr>HDFS – Name Nodes  &amp; Data Nodes</vt:lpstr>
      <vt:lpstr>HDFS – Name Nodes  &amp; Data Nodes</vt:lpstr>
      <vt:lpstr>HDFS – Name Nodes  &amp; Data Nodes</vt:lpstr>
      <vt:lpstr>HDFS – Block Caching</vt:lpstr>
      <vt:lpstr>HDFS – Block Caching</vt:lpstr>
      <vt:lpstr>HDFS Federation – Multiple Name Spaces</vt:lpstr>
      <vt:lpstr>HDFS Federation</vt:lpstr>
      <vt:lpstr>HDFS Federation</vt:lpstr>
      <vt:lpstr>HDFS - Availability</vt:lpstr>
      <vt:lpstr>HDFS - Availability</vt:lpstr>
      <vt:lpstr>HDFS - Availability</vt:lpstr>
      <vt:lpstr>HDFS - Basic File System Operations</vt:lpstr>
      <vt:lpstr>HDFS - Basic File System Operations</vt:lpstr>
      <vt:lpstr>HDFS - Basic File System Operations</vt:lpstr>
      <vt:lpstr>HDFS - Basic File System Operations</vt:lpstr>
      <vt:lpstr>HDFS - INTERFACES</vt:lpstr>
      <vt:lpstr>HDFS - INTERFACES</vt:lpstr>
      <vt:lpstr>HDFS - INTERFACES</vt:lpstr>
      <vt:lpstr>HDFS - INTERFACES</vt:lpstr>
      <vt:lpstr>HDFS – Data Flow</vt:lpstr>
      <vt:lpstr>HDFS – Data Flow</vt:lpstr>
      <vt:lpstr>HDFS – Data Flow</vt:lpstr>
      <vt:lpstr>HDFS – Data Flow</vt:lpstr>
      <vt:lpstr>Hadoop I/O</vt:lpstr>
      <vt:lpstr>Hadoop I/O</vt:lpstr>
      <vt:lpstr>Hadoop I/O – Data Integrity</vt:lpstr>
      <vt:lpstr>Hadoop I/O – Data Integrity</vt:lpstr>
      <vt:lpstr>Hadoop I/O – Data Integrity</vt:lpstr>
      <vt:lpstr>Hadoop I/O – Data Integrity</vt:lpstr>
      <vt:lpstr>Hadoop I/O - Compression</vt:lpstr>
      <vt:lpstr>Hadoop I/O - Compression</vt:lpstr>
      <vt:lpstr>Hadoop I/O - Compression</vt:lpstr>
      <vt:lpstr>Hadoop I/O - Compression</vt:lpstr>
      <vt:lpstr>Hadoop I/O - Serialization</vt:lpstr>
      <vt:lpstr>Hadoop I/O - Serialization</vt:lpstr>
      <vt:lpstr>Hadoop I/O - Serialization</vt:lpstr>
      <vt:lpstr>Hadoop I/O - Serialization</vt:lpstr>
      <vt:lpstr>Hadoop I/O – File Based Data Structures.</vt:lpstr>
      <vt:lpstr>Hadoop I/O – File Based Data Structures.</vt:lpstr>
      <vt:lpstr>Hadoop I/O – File Based Data Structures.</vt:lpstr>
      <vt:lpstr>Hadoop I/O – File Based Data Structures.</vt:lpstr>
      <vt:lpstr>The End</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Weather Dataset</dc:title>
  <dc:creator>Yes</dc:creator>
  <cp:lastModifiedBy>Windows User</cp:lastModifiedBy>
  <cp:revision>25</cp:revision>
  <dcterms:created xsi:type="dcterms:W3CDTF">2006-08-16T00:00:00Z</dcterms:created>
  <dcterms:modified xsi:type="dcterms:W3CDTF">2023-09-13T14:15:29Z</dcterms:modified>
</cp:coreProperties>
</file>