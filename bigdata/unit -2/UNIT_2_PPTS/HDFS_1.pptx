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267" r:id="rId5"/>
    <p:sldId id="268" r:id="rId6"/>
    <p:sldId id="270" r:id="rId7"/>
    <p:sldId id="269" r:id="rId8"/>
    <p:sldId id="264" r:id="rId9"/>
    <p:sldId id="265" r:id="rId10"/>
    <p:sldId id="258" r:id="rId11"/>
    <p:sldId id="261" r:id="rId12"/>
    <p:sldId id="260" r:id="rId13"/>
    <p:sldId id="259" r:id="rId14"/>
    <p:sldId id="263" r:id="rId15"/>
    <p:sldId id="262"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9/13/2023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9/13/2023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9/13/2023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9/13/2023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9/13/2023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Design</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 Very large files – Terabytes, Petabytes</a:t>
            </a:r>
          </a:p>
          <a:p>
            <a:pPr>
              <a:buNone/>
            </a:pP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Streaming Data – Stock Prices, IT System Monitoring,</a:t>
            </a:r>
          </a:p>
          <a:p>
            <a:pPr>
              <a:buNone/>
            </a:pP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Supports Commodity Hardware – less price hardware – no worry of loosing data, it will create replicas.</a:t>
            </a:r>
          </a:p>
          <a:p>
            <a:pPr>
              <a:buNone/>
            </a:pP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Cluster Computation</a:t>
            </a:r>
          </a:p>
          <a:p>
            <a:pPr>
              <a:buNone/>
            </a:pP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Blocks of data</a:t>
            </a:r>
          </a:p>
          <a:p>
            <a:endParaRPr lang="en-US" sz="24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Design</a:t>
            </a:r>
            <a:endParaRPr lang="en-US" sz="3600" dirty="0"/>
          </a:p>
        </p:txBody>
      </p:sp>
      <p:sp>
        <p:nvSpPr>
          <p:cNvPr id="3" name="Content Placeholder 2"/>
          <p:cNvSpPr>
            <a:spLocks noGrp="1"/>
          </p:cNvSpPr>
          <p:nvPr>
            <p:ph idx="1"/>
          </p:nvPr>
        </p:nvSpPr>
        <p:spPr/>
        <p:txBody>
          <a:bodyPr>
            <a:normAutofit/>
          </a:bodyPr>
          <a:lstStyle/>
          <a:p>
            <a:r>
              <a:rPr lang="en-US" sz="2000" dirty="0" smtClean="0">
                <a:latin typeface="Times New Roman" pitchFamily="18" charset="0"/>
                <a:cs typeface="Times New Roman" pitchFamily="18" charset="0"/>
              </a:rPr>
              <a:t>Fault Tolerance – Processing will be continued in case of any network failure also.</a:t>
            </a:r>
          </a:p>
          <a:p>
            <a:r>
              <a:rPr lang="en-US" sz="2000" dirty="0" smtClean="0">
                <a:latin typeface="Times New Roman" pitchFamily="18" charset="0"/>
                <a:cs typeface="Times New Roman" pitchFamily="18" charset="0"/>
              </a:rPr>
              <a:t>Distributed &amp; Parallel Computation</a:t>
            </a:r>
          </a:p>
          <a:p>
            <a:r>
              <a:rPr lang="en-US" sz="2000" dirty="0" smtClean="0">
                <a:latin typeface="Times New Roman" pitchFamily="18" charset="0"/>
                <a:cs typeface="Times New Roman" pitchFamily="18" charset="0"/>
              </a:rPr>
              <a:t>Highly Scalable – hundreds of nodes in a single cluster – horizontal scaling.</a:t>
            </a:r>
            <a:endParaRPr lang="en-US" sz="2000" dirty="0">
              <a:latin typeface="Times New Roman" pitchFamily="18" charset="0"/>
              <a:cs typeface="Times New Roman" pitchFamily="18" charset="0"/>
            </a:endParaRPr>
          </a:p>
        </p:txBody>
      </p:sp>
      <p:pic>
        <p:nvPicPr>
          <p:cNvPr id="4" name="Picture 3" descr="hdfs_design.PNG"/>
          <p:cNvPicPr>
            <a:picLocks noChangeAspect="1"/>
          </p:cNvPicPr>
          <p:nvPr/>
        </p:nvPicPr>
        <p:blipFill>
          <a:blip r:embed="rId2"/>
          <a:stretch>
            <a:fillRect/>
          </a:stretch>
        </p:blipFill>
        <p:spPr>
          <a:xfrm>
            <a:off x="1371600" y="3352800"/>
            <a:ext cx="5734851" cy="28483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Blocks</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r>
              <a:rPr lang="en-US" sz="2000" dirty="0" smtClean="0">
                <a:latin typeface="Times New Roman" pitchFamily="18" charset="0"/>
                <a:cs typeface="Times New Roman" pitchFamily="18" charset="0"/>
              </a:rPr>
              <a:t>In HDFS, data is divided into blocks, and these blocks are distributed across a cluster of machines for fault tolerance and high availability. </a:t>
            </a: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Here are some key points about blocks in HDFS:</a:t>
            </a:r>
          </a:p>
          <a:p>
            <a:pPr>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Block Size</a:t>
            </a:r>
            <a:r>
              <a:rPr lang="en-US" sz="2000" dirty="0" smtClean="0">
                <a:latin typeface="Times New Roman" pitchFamily="18" charset="0"/>
                <a:cs typeface="Times New Roman" pitchFamily="18" charset="0"/>
              </a:rPr>
              <a:t>: HDFS divides files into fixed-size blocks, typically 128 MB or 256 MB in size, although the block size is configurable. </a:t>
            </a:r>
          </a:p>
          <a:p>
            <a:pPr>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Data Replication</a:t>
            </a:r>
            <a:r>
              <a:rPr lang="en-US" sz="2000" dirty="0" smtClean="0">
                <a:latin typeface="Times New Roman" pitchFamily="18" charset="0"/>
                <a:cs typeface="Times New Roman" pitchFamily="18" charset="0"/>
              </a:rPr>
              <a:t>: HDFS replicates each block multiple times (usually three times) across different data nodes in the cluster. </a:t>
            </a:r>
          </a:p>
          <a:p>
            <a:r>
              <a:rPr lang="en-US" sz="2000" dirty="0" smtClean="0">
                <a:latin typeface="Times New Roman" pitchFamily="18" charset="0"/>
                <a:cs typeface="Times New Roman" pitchFamily="18" charset="0"/>
              </a:rPr>
              <a:t>This replication provides fault tolerance, as it ensures that if a data node or block becomes unavailable due to hardware failure or other issues, there are still copies of the data available elsewhere in the cluster.</a:t>
            </a:r>
          </a:p>
          <a:p>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Blocks</a:t>
            </a:r>
            <a:endParaRPr lang="en-US" sz="3600" dirty="0"/>
          </a:p>
        </p:txBody>
      </p:sp>
      <p:sp>
        <p:nvSpPr>
          <p:cNvPr id="3" name="Content Placeholder 2"/>
          <p:cNvSpPr>
            <a:spLocks noGrp="1"/>
          </p:cNvSpPr>
          <p:nvPr>
            <p:ph idx="1"/>
          </p:nvPr>
        </p:nvSpPr>
        <p:spPr/>
        <p:txBody>
          <a:bodyPr>
            <a:normAutofit lnSpcReduction="10000"/>
          </a:bodyPr>
          <a:lstStyle/>
          <a:p>
            <a:pPr>
              <a:buNone/>
            </a:pPr>
            <a:r>
              <a:rPr lang="en-US" sz="2000" b="1" dirty="0" smtClean="0">
                <a:latin typeface="Times New Roman" pitchFamily="18" charset="0"/>
                <a:cs typeface="Times New Roman" pitchFamily="18" charset="0"/>
              </a:rPr>
              <a:t>Data Distribution</a:t>
            </a:r>
            <a:r>
              <a:rPr lang="en-US" sz="2000" dirty="0" smtClean="0">
                <a:latin typeface="Times New Roman" pitchFamily="18" charset="0"/>
                <a:cs typeface="Times New Roman" pitchFamily="18" charset="0"/>
              </a:rPr>
              <a:t>: When a file is stored in HDFS, it is divided into blocks, and these blocks are distributed across different data nodes in the cluster.</a:t>
            </a:r>
          </a:p>
          <a:p>
            <a:r>
              <a:rPr lang="en-US" sz="2000" dirty="0" smtClean="0">
                <a:latin typeface="Times New Roman" pitchFamily="18" charset="0"/>
                <a:cs typeface="Times New Roman" pitchFamily="18" charset="0"/>
              </a:rPr>
              <a:t>The distribution is managed by the Hadoop Name Node and Data Nodes, which keep track of where each block is located.</a:t>
            </a:r>
          </a:p>
          <a:p>
            <a:pPr>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Block Placement</a:t>
            </a:r>
            <a:r>
              <a:rPr lang="en-US" sz="2000" dirty="0" smtClean="0">
                <a:latin typeface="Times New Roman" pitchFamily="18" charset="0"/>
                <a:cs typeface="Times New Roman" pitchFamily="18" charset="0"/>
              </a:rPr>
              <a:t>: HDFS aims to place block replicas on different racks to ensure data availability even in the event of a rack failure. </a:t>
            </a:r>
          </a:p>
          <a:p>
            <a:r>
              <a:rPr lang="en-US" sz="2000" dirty="0" smtClean="0">
                <a:latin typeface="Times New Roman" pitchFamily="18" charset="0"/>
                <a:cs typeface="Times New Roman" pitchFamily="18" charset="0"/>
              </a:rPr>
              <a:t>The system tries to maintain a balance between rack-locality and data distribution.</a:t>
            </a:r>
          </a:p>
          <a:p>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Block Replication Management</a:t>
            </a:r>
            <a:r>
              <a:rPr lang="en-US" sz="2000" dirty="0" smtClean="0">
                <a:latin typeface="Times New Roman" pitchFamily="18" charset="0"/>
                <a:cs typeface="Times New Roman" pitchFamily="18" charset="0"/>
              </a:rPr>
              <a:t>: HDFS constantly monitors the health of data nodes and the replication status of blocks. </a:t>
            </a:r>
          </a:p>
          <a:p>
            <a:r>
              <a:rPr lang="en-US" sz="2000" dirty="0" smtClean="0">
                <a:latin typeface="Times New Roman" pitchFamily="18" charset="0"/>
                <a:cs typeface="Times New Roman" pitchFamily="18" charset="0"/>
              </a:rPr>
              <a:t>If a data node or block becomes unavailable, it replicates (Replace) the missing blocks to maintain the desired level of replication.</a:t>
            </a:r>
            <a:endParaRPr lang="en-US" sz="20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Name Nodes  &amp; Data Nodes</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buNone/>
            </a:pPr>
            <a:r>
              <a:rPr lang="en-US" sz="2000" dirty="0" smtClean="0">
                <a:latin typeface="Times New Roman" pitchFamily="18" charset="0"/>
                <a:cs typeface="Times New Roman" pitchFamily="18" charset="0"/>
              </a:rPr>
              <a:t>There are two key types of nodes that play distinct roles in managing and storing data: Name Nodes and Data Nodes. </a:t>
            </a: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These nodes are essential components of the HDFS architecture:</a:t>
            </a:r>
          </a:p>
          <a:p>
            <a:pPr>
              <a:buNone/>
            </a:pPr>
            <a:r>
              <a:rPr lang="en-US" sz="2800" b="1" dirty="0" smtClean="0">
                <a:latin typeface="Times New Roman" pitchFamily="18" charset="0"/>
                <a:cs typeface="Times New Roman" pitchFamily="18" charset="0"/>
              </a:rPr>
              <a:t>Name Node:-</a:t>
            </a:r>
          </a:p>
          <a:p>
            <a:pPr lvl="1"/>
            <a:r>
              <a:rPr lang="en-US" sz="2000" dirty="0" smtClean="0">
                <a:latin typeface="Times New Roman" pitchFamily="18" charset="0"/>
                <a:cs typeface="Times New Roman" pitchFamily="18" charset="0"/>
              </a:rPr>
              <a:t>Name Node serves as the master server.</a:t>
            </a:r>
          </a:p>
          <a:p>
            <a:pPr lvl="1"/>
            <a:r>
              <a:rPr lang="en-US" sz="2000" dirty="0" smtClean="0">
                <a:latin typeface="Times New Roman" pitchFamily="18" charset="0"/>
                <a:cs typeface="Times New Roman" pitchFamily="18" charset="0"/>
              </a:rPr>
              <a:t>It is responsible for managing the metadata and namespace of the file system.</a:t>
            </a:r>
          </a:p>
          <a:p>
            <a:pPr lvl="1"/>
            <a:r>
              <a:rPr lang="en-US" sz="2000" dirty="0" smtClean="0">
                <a:latin typeface="Times New Roman" pitchFamily="18" charset="0"/>
                <a:cs typeface="Times New Roman" pitchFamily="18" charset="0"/>
              </a:rPr>
              <a:t>Metadata includes information about file and directory structures, permissions, and the mapping of data blocks to files.</a:t>
            </a:r>
          </a:p>
          <a:p>
            <a:pPr lvl="1"/>
            <a:r>
              <a:rPr lang="en-US" sz="2000" dirty="0" smtClean="0">
                <a:latin typeface="Times New Roman" pitchFamily="18" charset="0"/>
                <a:cs typeface="Times New Roman" pitchFamily="18" charset="0"/>
              </a:rPr>
              <a:t>The Name Node does not store the actual data but keeps track of where the data blocks are located in the cluster.</a:t>
            </a:r>
          </a:p>
          <a:p>
            <a:pPr lvl="1"/>
            <a:endParaRPr lang="en-US" sz="2000" dirty="0" smtClean="0">
              <a:latin typeface="Times New Roman" pitchFamily="18" charset="0"/>
              <a:cs typeface="Times New Roman" pitchFamily="18" charset="0"/>
            </a:endParaRPr>
          </a:p>
          <a:p>
            <a:pPr lvl="1"/>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Name Nodes  &amp; Data Nodes</a:t>
            </a:r>
            <a:endParaRPr lang="en-US" sz="3600" dirty="0"/>
          </a:p>
        </p:txBody>
      </p:sp>
      <p:sp>
        <p:nvSpPr>
          <p:cNvPr id="3" name="Content Placeholder 2"/>
          <p:cNvSpPr>
            <a:spLocks noGrp="1"/>
          </p:cNvSpPr>
          <p:nvPr>
            <p:ph idx="1"/>
          </p:nvPr>
        </p:nvSpPr>
        <p:spPr/>
        <p:txBody>
          <a:bodyPr>
            <a:normAutofit fontScale="92500" lnSpcReduction="10000"/>
          </a:bodyPr>
          <a:lstStyle/>
          <a:p>
            <a:r>
              <a:rPr lang="en-US" sz="2000" dirty="0" smtClean="0">
                <a:latin typeface="Times New Roman" pitchFamily="18" charset="0"/>
                <a:cs typeface="Times New Roman" pitchFamily="18" charset="0"/>
              </a:rPr>
              <a:t>If the Name Node fails, the entire file system becomes inoperable. Therefore, ensuring the high availability of the Name Node is crucial, often achieved using technologies like HA (High Availability) Name Node configurations.</a:t>
            </a:r>
          </a:p>
          <a:p>
            <a:r>
              <a:rPr lang="en-US" sz="2000" dirty="0" smtClean="0">
                <a:latin typeface="Times New Roman" pitchFamily="18" charset="0"/>
                <a:cs typeface="Times New Roman" pitchFamily="18" charset="0"/>
              </a:rPr>
              <a:t>It maintains an in-memory data structure called the "namespace image" and a journal or edit log to record changes to the file system.</a:t>
            </a:r>
          </a:p>
          <a:p>
            <a:pPr>
              <a:buNone/>
            </a:pPr>
            <a:endParaRPr lang="en-US" sz="2000" dirty="0" smtClean="0">
              <a:latin typeface="Times New Roman" pitchFamily="18" charset="0"/>
              <a:cs typeface="Times New Roman" pitchFamily="18" charset="0"/>
            </a:endParaRPr>
          </a:p>
          <a:p>
            <a:pPr>
              <a:buNone/>
            </a:pPr>
            <a:r>
              <a:rPr lang="en-US" sz="3000" b="1" dirty="0" smtClean="0">
                <a:latin typeface="Times New Roman" pitchFamily="18" charset="0"/>
                <a:cs typeface="Times New Roman" pitchFamily="18" charset="0"/>
              </a:rPr>
              <a:t>Data Node:-</a:t>
            </a:r>
          </a:p>
          <a:p>
            <a:pPr lvl="1"/>
            <a:r>
              <a:rPr lang="en-US" sz="2000" dirty="0" smtClean="0">
                <a:latin typeface="Times New Roman" pitchFamily="18" charset="0"/>
                <a:cs typeface="Times New Roman" pitchFamily="18" charset="0"/>
              </a:rPr>
              <a:t>Data Nodes are worker nodes within the HDFS cluster.</a:t>
            </a:r>
          </a:p>
          <a:p>
            <a:pPr lvl="1"/>
            <a:r>
              <a:rPr lang="en-US" sz="2000" dirty="0" smtClean="0">
                <a:latin typeface="Times New Roman" pitchFamily="18" charset="0"/>
                <a:cs typeface="Times New Roman" pitchFamily="18" charset="0"/>
              </a:rPr>
              <a:t>These nodes are responsible for storing the actual data blocks.</a:t>
            </a:r>
          </a:p>
          <a:p>
            <a:pPr lvl="1"/>
            <a:r>
              <a:rPr lang="en-US" sz="2000" dirty="0" smtClean="0">
                <a:latin typeface="Times New Roman" pitchFamily="18" charset="0"/>
                <a:cs typeface="Times New Roman" pitchFamily="18" charset="0"/>
              </a:rPr>
              <a:t>Each Data Node periodically sends heartbeat signals to the Name Node to report its status and the list of data blocks it is hosting.</a:t>
            </a:r>
          </a:p>
          <a:p>
            <a:pPr lvl="1"/>
            <a:r>
              <a:rPr lang="en-US" sz="2000" dirty="0" smtClean="0">
                <a:latin typeface="Times New Roman" pitchFamily="18" charset="0"/>
                <a:cs typeface="Times New Roman" pitchFamily="18" charset="0"/>
              </a:rPr>
              <a:t>Data Nodes also handle read and write requests from clients. When a client wants to read or write data, it communicates directly with the Data Nodes hosting the relevant data blocks.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Name Nodes  &amp; Data Nodes</a:t>
            </a:r>
            <a:endParaRPr lang="en-US" sz="3600" dirty="0"/>
          </a:p>
        </p:txBody>
      </p:sp>
      <p:sp>
        <p:nvSpPr>
          <p:cNvPr id="3" name="Content Placeholder 2"/>
          <p:cNvSpPr>
            <a:spLocks noGrp="1"/>
          </p:cNvSpPr>
          <p:nvPr>
            <p:ph idx="1"/>
          </p:nvPr>
        </p:nvSpPr>
        <p:spPr/>
        <p:txBody>
          <a:bodyPr>
            <a:noAutofit/>
          </a:bodyPr>
          <a:lstStyle/>
          <a:p>
            <a:pPr>
              <a:buNone/>
            </a:pP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Data Nodes are designed to be commodity hardware, and HDFS can distribute data blocks across multiple Data Nodes for fault tolerance and scalability.</a:t>
            </a:r>
          </a:p>
          <a:p>
            <a:pPr lvl="1">
              <a:buNone/>
            </a:pPr>
            <a:endParaRPr lang="en-US" sz="2000" dirty="0" smtClean="0">
              <a:latin typeface="Times New Roman" pitchFamily="18" charset="0"/>
              <a:cs typeface="Times New Roman" pitchFamily="18" charset="0"/>
            </a:endParaRPr>
          </a:p>
          <a:p>
            <a:pPr lvl="1"/>
            <a:r>
              <a:rPr lang="en-US" sz="2000" dirty="0" smtClean="0">
                <a:latin typeface="Times New Roman" pitchFamily="18" charset="0"/>
                <a:cs typeface="Times New Roman" pitchFamily="18" charset="0"/>
              </a:rPr>
              <a:t>If a Data Node fails or becomes unresponsive, the Name Node can detect this through the absence of heartbeats and replicate the data blocks hosted on the failed Data Node to other healthy Data Nodes to maintain data availability.</a:t>
            </a:r>
          </a:p>
          <a:p>
            <a:pPr>
              <a:buNone/>
            </a:pPr>
            <a:endParaRPr lang="en-US" sz="20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Block Caching</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pPr>
              <a:buNone/>
            </a:pPr>
            <a:r>
              <a:rPr lang="en-US" sz="2000" dirty="0" smtClean="0">
                <a:latin typeface="Times New Roman" pitchFamily="18" charset="0"/>
                <a:cs typeface="Times New Roman" pitchFamily="18" charset="0"/>
              </a:rPr>
              <a:t>Block caching is especially beneficial for  workloads that involve </a:t>
            </a:r>
            <a:r>
              <a:rPr lang="en-US" sz="2000" b="1" dirty="0" smtClean="0">
                <a:solidFill>
                  <a:srgbClr val="0070C0"/>
                </a:solidFill>
                <a:latin typeface="Times New Roman" pitchFamily="18" charset="0"/>
                <a:cs typeface="Times New Roman" pitchFamily="18" charset="0"/>
              </a:rPr>
              <a:t>Frequent Reads Of The Same Data.</a:t>
            </a: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Here's how block caching works in HDFS:</a:t>
            </a:r>
          </a:p>
          <a:p>
            <a:pPr>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Block Identification</a:t>
            </a:r>
            <a:r>
              <a:rPr lang="en-US" sz="2000" dirty="0" smtClean="0">
                <a:latin typeface="Times New Roman" pitchFamily="18" charset="0"/>
                <a:cs typeface="Times New Roman" pitchFamily="18" charset="0"/>
              </a:rPr>
              <a:t>: HDFS keeps track of which </a:t>
            </a:r>
            <a:r>
              <a:rPr lang="en-US" sz="2000" b="1" dirty="0" smtClean="0">
                <a:solidFill>
                  <a:srgbClr val="0070C0"/>
                </a:solidFill>
                <a:latin typeface="Times New Roman" pitchFamily="18" charset="0"/>
                <a:cs typeface="Times New Roman" pitchFamily="18" charset="0"/>
              </a:rPr>
              <a:t>Blocks Are Frequently Read</a:t>
            </a:r>
            <a:r>
              <a:rPr lang="en-US" sz="2000" dirty="0" smtClean="0">
                <a:latin typeface="Times New Roman" pitchFamily="18" charset="0"/>
                <a:cs typeface="Times New Roman" pitchFamily="18" charset="0"/>
              </a:rPr>
              <a:t>. </a:t>
            </a:r>
          </a:p>
          <a:p>
            <a:r>
              <a:rPr lang="en-US" sz="2000" dirty="0" smtClean="0">
                <a:latin typeface="Times New Roman" pitchFamily="18" charset="0"/>
                <a:cs typeface="Times New Roman" pitchFamily="18" charset="0"/>
              </a:rPr>
              <a:t>It does this by </a:t>
            </a:r>
            <a:r>
              <a:rPr lang="en-US" sz="2000" b="1" dirty="0" smtClean="0">
                <a:solidFill>
                  <a:srgbClr val="0070C0"/>
                </a:solidFill>
                <a:latin typeface="Times New Roman" pitchFamily="18" charset="0"/>
                <a:cs typeface="Times New Roman" pitchFamily="18" charset="0"/>
              </a:rPr>
              <a:t>Monitoring Read Requests</a:t>
            </a:r>
            <a:r>
              <a:rPr lang="en-US" sz="2000" dirty="0" smtClean="0">
                <a:latin typeface="Times New Roman" pitchFamily="18" charset="0"/>
                <a:cs typeface="Times New Roman" pitchFamily="18" charset="0"/>
              </a:rPr>
              <a:t> and identifying the blocks that are accessed most often.</a:t>
            </a:r>
          </a:p>
          <a:p>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Block Promotion</a:t>
            </a:r>
            <a:r>
              <a:rPr lang="en-US" sz="2000" dirty="0" smtClean="0">
                <a:latin typeface="Times New Roman" pitchFamily="18" charset="0"/>
                <a:cs typeface="Times New Roman" pitchFamily="18" charset="0"/>
              </a:rPr>
              <a:t>: When HDFS determines that a particular block is frequently read, it can promote this block to be </a:t>
            </a:r>
            <a:r>
              <a:rPr lang="en-US" sz="2000" b="1" dirty="0" smtClean="0">
                <a:solidFill>
                  <a:srgbClr val="0070C0"/>
                </a:solidFill>
                <a:latin typeface="Times New Roman" pitchFamily="18" charset="0"/>
                <a:cs typeface="Times New Roman" pitchFamily="18" charset="0"/>
              </a:rPr>
              <a:t>Cached In Memory On The Data Nodes</a:t>
            </a:r>
            <a:r>
              <a:rPr lang="en-US" sz="2000" dirty="0" smtClean="0">
                <a:latin typeface="Times New Roman" pitchFamily="18" charset="0"/>
                <a:cs typeface="Times New Roman" pitchFamily="18" charset="0"/>
              </a:rPr>
              <a:t>. </a:t>
            </a:r>
          </a:p>
          <a:p>
            <a:r>
              <a:rPr lang="en-US" sz="2000" dirty="0" smtClean="0">
                <a:latin typeface="Times New Roman" pitchFamily="18" charset="0"/>
                <a:cs typeface="Times New Roman" pitchFamily="18" charset="0"/>
              </a:rPr>
              <a:t>This means that the block is loaded into the RAM of the Data Node, making subsequent </a:t>
            </a:r>
            <a:r>
              <a:rPr lang="en-US" sz="2000" b="1" dirty="0" smtClean="0">
                <a:solidFill>
                  <a:srgbClr val="0070C0"/>
                </a:solidFill>
                <a:latin typeface="Times New Roman" pitchFamily="18" charset="0"/>
                <a:cs typeface="Times New Roman" pitchFamily="18" charset="0"/>
              </a:rPr>
              <a:t>Read Requests For That Block Much Faster.</a:t>
            </a:r>
          </a:p>
          <a:p>
            <a:endParaRPr lang="en-US" sz="20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Block Caching</a:t>
            </a:r>
            <a:endParaRPr lang="en-US" sz="3600" dirty="0"/>
          </a:p>
        </p:txBody>
      </p:sp>
      <p:sp>
        <p:nvSpPr>
          <p:cNvPr id="3" name="Content Placeholder 2"/>
          <p:cNvSpPr>
            <a:spLocks noGrp="1"/>
          </p:cNvSpPr>
          <p:nvPr>
            <p:ph idx="1"/>
          </p:nvPr>
        </p:nvSpPr>
        <p:spPr/>
        <p:txBody>
          <a:bodyPr>
            <a:noAutofit/>
          </a:bodyPr>
          <a:lstStyle/>
          <a:p>
            <a:pPr>
              <a:buNone/>
            </a:pPr>
            <a:r>
              <a:rPr lang="en-US" sz="1800" b="1" dirty="0" smtClean="0">
                <a:latin typeface="Times New Roman" pitchFamily="18" charset="0"/>
                <a:cs typeface="Times New Roman" pitchFamily="18" charset="0"/>
              </a:rPr>
              <a:t>Block Eviction</a:t>
            </a:r>
            <a:r>
              <a:rPr lang="en-US" sz="1800" dirty="0" smtClean="0">
                <a:latin typeface="Times New Roman" pitchFamily="18" charset="0"/>
                <a:cs typeface="Times New Roman" pitchFamily="18" charset="0"/>
              </a:rPr>
              <a:t>: To manage memory resources efficiently, HDFS also supports block eviction. If the cache becomes full or if other blocks need to be cached due to frequent access,</a:t>
            </a:r>
            <a:r>
              <a:rPr lang="en-US" sz="1800" b="1" dirty="0" smtClean="0">
                <a:solidFill>
                  <a:srgbClr val="0070C0"/>
                </a:solidFill>
                <a:latin typeface="Times New Roman" pitchFamily="18" charset="0"/>
                <a:cs typeface="Times New Roman" pitchFamily="18" charset="0"/>
              </a:rPr>
              <a:t> Less Frequently Accessed Blocks Are Evicted From The Cache To Make Room For New Ones</a:t>
            </a:r>
            <a:r>
              <a:rPr lang="en-US" sz="1800" dirty="0" smtClean="0">
                <a:latin typeface="Times New Roman" pitchFamily="18" charset="0"/>
                <a:cs typeface="Times New Roman" pitchFamily="18" charset="0"/>
              </a:rPr>
              <a:t>. Evicted blocks are not deleted but are simply removed from memory.</a:t>
            </a:r>
          </a:p>
          <a:p>
            <a:pPr>
              <a:buNone/>
            </a:pPr>
            <a:r>
              <a:rPr lang="en-US" sz="1800" b="1" dirty="0" smtClean="0">
                <a:latin typeface="Times New Roman" pitchFamily="18" charset="0"/>
                <a:cs typeface="Times New Roman" pitchFamily="18" charset="0"/>
              </a:rPr>
              <a:t>Read Acceleration</a:t>
            </a:r>
            <a:r>
              <a:rPr lang="en-US" sz="1800" dirty="0" smtClean="0">
                <a:latin typeface="Times New Roman" pitchFamily="18" charset="0"/>
                <a:cs typeface="Times New Roman" pitchFamily="18" charset="0"/>
              </a:rPr>
              <a:t>: When a client requests a block that is cached in memory, the Data Node can respond much faster because it doesn't have to read the data from disk. Instead, it can </a:t>
            </a:r>
            <a:r>
              <a:rPr lang="en-US" sz="1800" b="1" dirty="0" smtClean="0">
                <a:solidFill>
                  <a:srgbClr val="0070C0"/>
                </a:solidFill>
                <a:latin typeface="Times New Roman" pitchFamily="18" charset="0"/>
                <a:cs typeface="Times New Roman" pitchFamily="18" charset="0"/>
              </a:rPr>
              <a:t>Directly Serve The Data From The Cache</a:t>
            </a:r>
            <a:r>
              <a:rPr lang="en-US" sz="1800" dirty="0" smtClean="0">
                <a:latin typeface="Times New Roman" pitchFamily="18" charset="0"/>
                <a:cs typeface="Times New Roman" pitchFamily="18" charset="0"/>
              </a:rPr>
              <a:t>.</a:t>
            </a:r>
          </a:p>
          <a:p>
            <a:pPr>
              <a:buNone/>
            </a:pPr>
            <a:r>
              <a:rPr lang="en-US" sz="1800" b="1" dirty="0" smtClean="0">
                <a:latin typeface="Times New Roman" pitchFamily="18" charset="0"/>
                <a:cs typeface="Times New Roman" pitchFamily="18" charset="0"/>
              </a:rPr>
              <a:t>Cache Configuration</a:t>
            </a:r>
            <a:r>
              <a:rPr lang="en-US" sz="1800" dirty="0" smtClean="0">
                <a:latin typeface="Times New Roman" pitchFamily="18" charset="0"/>
                <a:cs typeface="Times New Roman" pitchFamily="18" charset="0"/>
              </a:rPr>
              <a:t>: HDFS provides configuration options to control the behavior of block caching, including the size of the cache, the eviction policy (e.g., LRU - Least Recently Used), and which files or directories should be cached.</a:t>
            </a:r>
          </a:p>
          <a:p>
            <a:pPr>
              <a:buNone/>
            </a:pPr>
            <a:r>
              <a:rPr lang="en-US" sz="1800" b="1" dirty="0" smtClean="0">
                <a:latin typeface="Times New Roman" pitchFamily="18" charset="0"/>
                <a:cs typeface="Times New Roman" pitchFamily="18" charset="0"/>
              </a:rPr>
              <a:t>Client Awareness</a:t>
            </a:r>
            <a:r>
              <a:rPr lang="en-US" sz="1800" dirty="0" smtClean="0">
                <a:latin typeface="Times New Roman" pitchFamily="18" charset="0"/>
                <a:cs typeface="Times New Roman" pitchFamily="18" charset="0"/>
              </a:rPr>
              <a:t>: HDFS clients are aware of block caching, and they can request blocks to be cached or specify the caching policy. For example, you can </a:t>
            </a:r>
            <a:r>
              <a:rPr lang="en-US" sz="1800" b="1" dirty="0" smtClean="0">
                <a:solidFill>
                  <a:srgbClr val="0070C0"/>
                </a:solidFill>
                <a:latin typeface="Times New Roman" pitchFamily="18" charset="0"/>
                <a:cs typeface="Times New Roman" pitchFamily="18" charset="0"/>
              </a:rPr>
              <a:t>Programmatically Request That Certain Blocks Or Files Be Cached For A Specific Period</a:t>
            </a:r>
            <a:r>
              <a:rPr lang="en-US" sz="1800" dirty="0" smtClean="0">
                <a:latin typeface="Times New Roman" pitchFamily="18" charset="0"/>
                <a:cs typeface="Times New Roman" pitchFamily="18" charset="0"/>
              </a:rPr>
              <a:t>.</a:t>
            </a:r>
          </a:p>
          <a:p>
            <a:endParaRPr lang="en-US" sz="18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200" b="1" dirty="0" smtClean="0">
                <a:solidFill>
                  <a:srgbClr val="FF0000"/>
                </a:solidFill>
                <a:latin typeface="Times New Roman" pitchFamily="18" charset="0"/>
                <a:cs typeface="Times New Roman" pitchFamily="18" charset="0"/>
              </a:rPr>
              <a:t>HDFS Federation – Multiple Name Spaces</a:t>
            </a:r>
            <a:endParaRPr lang="en-US" sz="32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2000" dirty="0" smtClean="0"/>
              <a:t>Namespaces play a crucial role in organizing and managing the storage of files and directories and provide a hierarchical structure for storing data.</a:t>
            </a:r>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Single Hadoop cluster to be divided into multiple Namespaces, each with its own separate file system tree and metadata. </a:t>
            </a:r>
          </a:p>
          <a:p>
            <a:pPr>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This feature was introduced to overcome the limitations of the original HDFS design, which had a single namespace managed by single Name Node and limited scalability.</a:t>
            </a:r>
          </a:p>
          <a:p>
            <a:pPr>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Additionally, the storage capacity was also constrained by the resources of a single Name Node.</a:t>
            </a:r>
          </a:p>
          <a:p>
            <a:pPr>
              <a:buNone/>
            </a:pPr>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Federation</a:t>
            </a:r>
            <a:endParaRPr lang="en-US" sz="3600" dirty="0"/>
          </a:p>
        </p:txBody>
      </p:sp>
      <p:sp>
        <p:nvSpPr>
          <p:cNvPr id="3" name="Content Placeholder 2"/>
          <p:cNvSpPr>
            <a:spLocks noGrp="1"/>
          </p:cNvSpPr>
          <p:nvPr>
            <p:ph idx="1"/>
          </p:nvPr>
        </p:nvSpPr>
        <p:spPr/>
        <p:txBody>
          <a:bodyPr>
            <a:noAutofit/>
          </a:bodyPr>
          <a:lstStyle/>
          <a:p>
            <a:pPr>
              <a:buNone/>
            </a:pPr>
            <a:r>
              <a:rPr lang="en-US" sz="2000" dirty="0" smtClean="0">
                <a:latin typeface="Times New Roman" pitchFamily="18" charset="0"/>
                <a:cs typeface="Times New Roman" pitchFamily="18" charset="0"/>
              </a:rPr>
              <a:t>Key features of HDFS Federation include:</a:t>
            </a:r>
            <a:endParaRPr lang="en-US" sz="2000" b="1" dirty="0" smtClean="0">
              <a:latin typeface="Times New Roman" pitchFamily="18" charset="0"/>
              <a:cs typeface="Times New Roman" pitchFamily="18" charset="0"/>
            </a:endParaRPr>
          </a:p>
          <a:p>
            <a:endParaRPr lang="en-US" sz="2000" b="1"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Multiple Namespaces</a:t>
            </a:r>
          </a:p>
          <a:p>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Multiple Name Nodes:</a:t>
            </a:r>
            <a:r>
              <a:rPr lang="en-US" sz="2000" dirty="0" smtClean="0">
                <a:latin typeface="Times New Roman" pitchFamily="18" charset="0"/>
                <a:cs typeface="Times New Roman" pitchFamily="18" charset="0"/>
              </a:rPr>
              <a:t> This allows for parallel processing of metadata operations and improved fault tolerance.</a:t>
            </a:r>
          </a:p>
          <a:p>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Increased Scalability:</a:t>
            </a:r>
            <a:r>
              <a:rPr lang="en-US" sz="2000" dirty="0" smtClean="0">
                <a:latin typeface="Times New Roman" pitchFamily="18" charset="0"/>
                <a:cs typeface="Times New Roman" pitchFamily="18" charset="0"/>
              </a:rPr>
              <a:t> improves the overall scalability of the HDFS cluster. This is particularly important for larger clusters with high data volumes.</a:t>
            </a:r>
          </a:p>
          <a:p>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Isolation:</a:t>
            </a:r>
            <a:r>
              <a:rPr lang="en-US" sz="2000" dirty="0" smtClean="0">
                <a:latin typeface="Times New Roman" pitchFamily="18" charset="0"/>
                <a:cs typeface="Times New Roman" pitchFamily="18" charset="0"/>
              </a:rPr>
              <a:t> Different namespaces are isolated from each other, which can help in cases where different departments or applications need to have their own separate storage and data access mechanisms within the same Hadoop cluster.</a:t>
            </a:r>
            <a:endParaRPr lang="en-US" sz="20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Federation</a:t>
            </a:r>
            <a:endParaRPr lang="en-US" sz="3600" dirty="0"/>
          </a:p>
        </p:txBody>
      </p:sp>
      <p:sp>
        <p:nvSpPr>
          <p:cNvPr id="3" name="Content Placeholder 2"/>
          <p:cNvSpPr>
            <a:spLocks noGrp="1"/>
          </p:cNvSpPr>
          <p:nvPr>
            <p:ph idx="1"/>
          </p:nvPr>
        </p:nvSpPr>
        <p:spPr/>
        <p:txBody>
          <a:bodyPr>
            <a:noAutofit/>
          </a:bodyPr>
          <a:lstStyle/>
          <a:p>
            <a:pPr>
              <a:buNone/>
            </a:pPr>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Improved Fault Tolerance:</a:t>
            </a:r>
            <a:r>
              <a:rPr lang="en-US" sz="2000" dirty="0" smtClean="0">
                <a:latin typeface="Times New Roman" pitchFamily="18" charset="0"/>
                <a:cs typeface="Times New Roman" pitchFamily="18" charset="0"/>
              </a:rPr>
              <a:t> If one Name Node or Namespace fails, the other namespaces can continue to operate without interruption, reducing the impact of failures on the entire cluster.</a:t>
            </a:r>
          </a:p>
          <a:p>
            <a:pPr marL="0" indent="0">
              <a:buNone/>
            </a:pP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HDFS Federation is useful in scenarios where a single Hadoop cluster needs to serve </a:t>
            </a:r>
          </a:p>
          <a:p>
            <a:pPr marL="0" indent="0">
              <a:buNone/>
            </a:pPr>
            <a:r>
              <a:rPr lang="en-US" sz="2000" dirty="0" smtClean="0">
                <a:latin typeface="Times New Roman" pitchFamily="18" charset="0"/>
                <a:cs typeface="Times New Roman" pitchFamily="18" charset="0"/>
              </a:rPr>
              <a:t>	</a:t>
            </a:r>
            <a:r>
              <a:rPr lang="en-US" sz="2000" b="1" dirty="0" smtClean="0">
                <a:solidFill>
                  <a:srgbClr val="0070C0"/>
                </a:solidFill>
                <a:latin typeface="Times New Roman" pitchFamily="18" charset="0"/>
                <a:cs typeface="Times New Roman" pitchFamily="18" charset="0"/>
              </a:rPr>
              <a:t>Multiple User Groups </a:t>
            </a:r>
          </a:p>
          <a:p>
            <a:pPr marL="0" indent="0">
              <a:buNone/>
            </a:pPr>
            <a:r>
              <a:rPr lang="en-US" sz="2000" b="1" dirty="0" smtClean="0">
                <a:solidFill>
                  <a:srgbClr val="0070C0"/>
                </a:solidFill>
                <a:latin typeface="Times New Roman" pitchFamily="18" charset="0"/>
                <a:cs typeface="Times New Roman" pitchFamily="18" charset="0"/>
              </a:rPr>
              <a:t>	Applications Or </a:t>
            </a:r>
          </a:p>
          <a:p>
            <a:pPr marL="0" indent="0">
              <a:buNone/>
            </a:pPr>
            <a:r>
              <a:rPr lang="en-US" sz="2000" b="1" dirty="0" smtClean="0">
                <a:solidFill>
                  <a:srgbClr val="0070C0"/>
                </a:solidFill>
                <a:latin typeface="Times New Roman" pitchFamily="18" charset="0"/>
                <a:cs typeface="Times New Roman" pitchFamily="18" charset="0"/>
              </a:rPr>
              <a:t>	Departments</a:t>
            </a:r>
            <a:endParaRPr lang="en-US" sz="2000" dirty="0" smtClean="0">
              <a:latin typeface="Times New Roman" pitchFamily="18" charset="0"/>
              <a:cs typeface="Times New Roman" pitchFamily="18" charset="0"/>
            </a:endParaRPr>
          </a:p>
          <a:p>
            <a:pPr marL="0" indent="0">
              <a:buNone/>
            </a:pPr>
            <a:r>
              <a:rPr lang="en-US" sz="2000" dirty="0" smtClean="0">
                <a:latin typeface="Times New Roman" pitchFamily="18" charset="0"/>
                <a:cs typeface="Times New Roman" pitchFamily="18" charset="0"/>
              </a:rPr>
              <a:t>while maintaining isolation and scalability. </a:t>
            </a:r>
          </a:p>
          <a:p>
            <a:endParaRPr lang="en-US" sz="2000" dirty="0" smtClean="0">
              <a:latin typeface="Times New Roman" pitchFamily="18" charset="0"/>
              <a:cs typeface="Times New Roman" pitchFamily="18" charset="0"/>
            </a:endParaRPr>
          </a:p>
          <a:p>
            <a:pPr marL="0" indent="0">
              <a:buNone/>
            </a:pPr>
            <a:endParaRPr lang="en-US" sz="2000" dirty="0" smtClean="0">
              <a:latin typeface="Times New Roman" pitchFamily="18" charset="0"/>
              <a:cs typeface="Times New Roman" pitchFamily="18" charset="0"/>
            </a:endParaRPr>
          </a:p>
          <a:p>
            <a:endParaRPr lang="en-US" sz="20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Availability</a:t>
            </a:r>
            <a:endParaRPr lang="en-US" sz="36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2000" dirty="0" smtClean="0">
                <a:latin typeface="Times New Roman" pitchFamily="18" charset="0"/>
                <a:cs typeface="Times New Roman" pitchFamily="18" charset="0"/>
              </a:rPr>
              <a:t>Ability of the system to provide access to data and services without disruption. </a:t>
            </a:r>
          </a:p>
          <a:p>
            <a:pPr marL="0" indent="0">
              <a:buNone/>
            </a:pPr>
            <a:r>
              <a:rPr lang="en-US" sz="2000" dirty="0" smtClean="0">
                <a:latin typeface="Times New Roman" pitchFamily="18" charset="0"/>
                <a:cs typeface="Times New Roman" pitchFamily="18" charset="0"/>
              </a:rPr>
              <a:t> </a:t>
            </a:r>
          </a:p>
          <a:p>
            <a:r>
              <a:rPr lang="en-US" sz="2000" dirty="0" smtClean="0">
                <a:latin typeface="Times New Roman" pitchFamily="18" charset="0"/>
                <a:cs typeface="Times New Roman" pitchFamily="18" charset="0"/>
              </a:rPr>
              <a:t>High availability in HDFS is crucial to maintaining the reliability of data processing and storage in a Hadoop cluster.</a:t>
            </a:r>
            <a:r>
              <a:rPr lang="en-US" sz="1800" dirty="0" smtClean="0">
                <a:latin typeface="Times New Roman" pitchFamily="18" charset="0"/>
                <a:cs typeface="Times New Roman" pitchFamily="18" charset="0"/>
              </a:rPr>
              <a:t> </a:t>
            </a:r>
          </a:p>
          <a:p>
            <a:endParaRPr lang="en-US" sz="18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HDFS employs several mechanisms to achieve high availability: </a:t>
            </a:r>
          </a:p>
          <a:p>
            <a:pPr>
              <a:buNone/>
            </a:pPr>
            <a:endParaRPr lang="en-US" sz="1800" dirty="0" smtClean="0">
              <a:latin typeface="Times New Roman" pitchFamily="18" charset="0"/>
              <a:cs typeface="Times New Roman" pitchFamily="18" charset="0"/>
            </a:endParaRPr>
          </a:p>
          <a:p>
            <a:pPr>
              <a:buNone/>
            </a:pPr>
            <a:r>
              <a:rPr lang="en-US" sz="1800" b="1" dirty="0" smtClean="0">
                <a:latin typeface="Times New Roman" pitchFamily="18" charset="0"/>
                <a:cs typeface="Times New Roman" pitchFamily="18" charset="0"/>
              </a:rPr>
              <a:t>Name Node High Availability (HA):</a:t>
            </a:r>
            <a:r>
              <a:rPr lang="en-US" sz="1800" dirty="0" smtClean="0">
                <a:latin typeface="Times New Roman" pitchFamily="18" charset="0"/>
                <a:cs typeface="Times New Roman" pitchFamily="18" charset="0"/>
              </a:rPr>
              <a:t> This is achieved using a </a:t>
            </a:r>
            <a:r>
              <a:rPr lang="en-US" sz="1800" b="1" dirty="0" smtClean="0">
                <a:solidFill>
                  <a:srgbClr val="0070C0"/>
                </a:solidFill>
                <a:latin typeface="Times New Roman" pitchFamily="18" charset="0"/>
                <a:cs typeface="Times New Roman" pitchFamily="18" charset="0"/>
              </a:rPr>
              <a:t>Stand-By Name Node </a:t>
            </a:r>
            <a:r>
              <a:rPr lang="en-US" sz="1800" dirty="0" smtClean="0">
                <a:latin typeface="Times New Roman" pitchFamily="18" charset="0"/>
                <a:cs typeface="Times New Roman" pitchFamily="18" charset="0"/>
              </a:rPr>
              <a:t>that keeps a synchronized copy of the active Name Node's metadata. If the active Name Node fails, the standby Name Node can take over almost immediately, minimizing downtime.</a:t>
            </a:r>
          </a:p>
          <a:p>
            <a:pPr>
              <a:buNone/>
            </a:pPr>
            <a:endParaRPr lang="en-US" sz="1800" dirty="0" smtClean="0">
              <a:latin typeface="Times New Roman" pitchFamily="18" charset="0"/>
              <a:cs typeface="Times New Roman" pitchFamily="18" charset="0"/>
            </a:endParaRPr>
          </a:p>
          <a:p>
            <a:pPr>
              <a:buNone/>
            </a:pPr>
            <a:endParaRPr lang="en-US" sz="1800" dirty="0" smtClean="0">
              <a:latin typeface="Times New Roman" pitchFamily="18" charset="0"/>
              <a:cs typeface="Times New Roman" pitchFamily="18" charset="0"/>
            </a:endParaRPr>
          </a:p>
          <a:p>
            <a:endParaRPr lang="en-US" sz="1800" dirty="0" smtClean="0">
              <a:latin typeface="Times New Roman" pitchFamily="18" charset="0"/>
              <a:cs typeface="Times New Roman" pitchFamily="18" charset="0"/>
            </a:endParaRPr>
          </a:p>
          <a:p>
            <a:pPr marL="0" indent="0">
              <a:buNone/>
            </a:pPr>
            <a:r>
              <a:rPr lang="en-US" sz="1800" dirty="0" smtClean="0">
                <a:latin typeface="Times New Roman" pitchFamily="18" charset="0"/>
                <a:cs typeface="Times New Roman" pitchFamily="18" charset="0"/>
              </a:rPr>
              <a:t/>
            </a:r>
            <a:br>
              <a:rPr lang="en-US" sz="1800" dirty="0" smtClean="0">
                <a:latin typeface="Times New Roman" pitchFamily="18" charset="0"/>
                <a:cs typeface="Times New Roman" pitchFamily="18" charset="0"/>
              </a:rPr>
            </a:br>
            <a:endParaRPr lang="en-US" sz="18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Availability</a:t>
            </a:r>
            <a:endParaRPr lang="en-US" sz="3600" dirty="0"/>
          </a:p>
        </p:txBody>
      </p:sp>
      <p:sp>
        <p:nvSpPr>
          <p:cNvPr id="3" name="Content Placeholder 2"/>
          <p:cNvSpPr>
            <a:spLocks noGrp="1"/>
          </p:cNvSpPr>
          <p:nvPr>
            <p:ph idx="1"/>
          </p:nvPr>
        </p:nvSpPr>
        <p:spPr/>
        <p:txBody>
          <a:bodyPr>
            <a:normAutofit lnSpcReduction="10000"/>
          </a:bodyPr>
          <a:lstStyle/>
          <a:p>
            <a:pPr marL="0" indent="0">
              <a:buNone/>
            </a:pPr>
            <a:r>
              <a:rPr lang="en-US" sz="2000" b="1" dirty="0" smtClean="0">
                <a:latin typeface="Times New Roman" pitchFamily="18" charset="0"/>
                <a:cs typeface="Times New Roman" pitchFamily="18" charset="0"/>
              </a:rPr>
              <a:t>Data Node Replication:</a:t>
            </a:r>
            <a:r>
              <a:rPr lang="en-US" sz="2000" dirty="0" smtClean="0">
                <a:latin typeface="Times New Roman" pitchFamily="18" charset="0"/>
                <a:cs typeface="Times New Roman" pitchFamily="18" charset="0"/>
              </a:rPr>
              <a:t> By default, it maintains three replicas of each block in the cluster. </a:t>
            </a:r>
          </a:p>
          <a:p>
            <a:r>
              <a:rPr lang="en-US" sz="2000" dirty="0" smtClean="0">
                <a:latin typeface="Times New Roman" pitchFamily="18" charset="0"/>
                <a:cs typeface="Times New Roman" pitchFamily="18" charset="0"/>
              </a:rPr>
              <a:t>If a Data Node goes down, the data can still be accessed from other available replicas.</a:t>
            </a:r>
          </a:p>
          <a:p>
            <a:endParaRPr lang="en-US" sz="2000" dirty="0" smtClean="0">
              <a:latin typeface="Times New Roman" pitchFamily="18" charset="0"/>
              <a:cs typeface="Times New Roman" pitchFamily="18" charset="0"/>
            </a:endParaRPr>
          </a:p>
          <a:p>
            <a:pPr marL="0" indent="0">
              <a:buNone/>
            </a:pPr>
            <a:r>
              <a:rPr lang="en-US" sz="2000" b="1" dirty="0" smtClean="0">
                <a:latin typeface="Times New Roman" pitchFamily="18" charset="0"/>
                <a:cs typeface="Times New Roman" pitchFamily="18" charset="0"/>
              </a:rPr>
              <a:t>Rack Awareness:</a:t>
            </a:r>
            <a:r>
              <a:rPr lang="en-US" sz="2000" dirty="0" smtClean="0">
                <a:latin typeface="Times New Roman" pitchFamily="18" charset="0"/>
                <a:cs typeface="Times New Roman" pitchFamily="18" charset="0"/>
              </a:rPr>
              <a:t> HDFS takes into account the physical location of Data Nodes using a concept called rack awareness. </a:t>
            </a:r>
          </a:p>
          <a:p>
            <a:r>
              <a:rPr lang="en-US" sz="2000" dirty="0" smtClean="0">
                <a:latin typeface="Times New Roman" pitchFamily="18" charset="0"/>
                <a:cs typeface="Times New Roman" pitchFamily="18" charset="0"/>
              </a:rPr>
              <a:t>This ensures that replicas are distributed across different racks to provide better fault tolerance against rack-level failures.</a:t>
            </a:r>
          </a:p>
          <a:p>
            <a:pPr marL="0" indent="0">
              <a:buNone/>
            </a:pPr>
            <a:endParaRPr lang="en-US" sz="2000" dirty="0" smtClean="0">
              <a:latin typeface="Times New Roman" pitchFamily="18" charset="0"/>
              <a:cs typeface="Times New Roman" pitchFamily="18" charset="0"/>
            </a:endParaRPr>
          </a:p>
          <a:p>
            <a:pPr>
              <a:buNone/>
            </a:pPr>
            <a:r>
              <a:rPr lang="en-US" sz="2000" b="1" dirty="0">
                <a:latin typeface="Times New Roman" pitchFamily="18" charset="0"/>
                <a:cs typeface="Times New Roman" pitchFamily="18" charset="0"/>
              </a:rPr>
              <a:t>Block Scanner:</a:t>
            </a:r>
            <a:r>
              <a:rPr lang="en-US" sz="2000" dirty="0">
                <a:latin typeface="Times New Roman" pitchFamily="18" charset="0"/>
                <a:cs typeface="Times New Roman" pitchFamily="18" charset="0"/>
              </a:rPr>
              <a:t> Periodically verifies the integrity of data blocks. If a corrupt block is detected, HDFS tries to replicate the block from other healthy replicas.</a:t>
            </a:r>
            <a:endParaRPr lang="en-US" sz="2000" dirty="0" smtClean="0">
              <a:latin typeface="Times New Roman" pitchFamily="18" charset="0"/>
              <a:cs typeface="Times New Roman" pitchFamily="18" charset="0"/>
            </a:endParaRPr>
          </a:p>
          <a:p>
            <a:pPr marL="0" indent="0">
              <a:buNone/>
            </a:pP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3600" b="1" dirty="0" smtClean="0">
                <a:solidFill>
                  <a:srgbClr val="FF0000"/>
                </a:solidFill>
                <a:latin typeface="Times New Roman" pitchFamily="18" charset="0"/>
                <a:cs typeface="Times New Roman" pitchFamily="18" charset="0"/>
              </a:rPr>
              <a:t>HDFS - Availability</a:t>
            </a:r>
            <a:endParaRPr lang="en-US" sz="3600" dirty="0"/>
          </a:p>
        </p:txBody>
      </p:sp>
      <p:sp>
        <p:nvSpPr>
          <p:cNvPr id="3" name="Content Placeholder 2"/>
          <p:cNvSpPr>
            <a:spLocks noGrp="1"/>
          </p:cNvSpPr>
          <p:nvPr>
            <p:ph idx="1"/>
          </p:nvPr>
        </p:nvSpPr>
        <p:spPr/>
        <p:txBody>
          <a:bodyPr>
            <a:noAutofit/>
          </a:bodyPr>
          <a:lstStyle/>
          <a:p>
            <a:pPr>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Failure Detection and Handling:</a:t>
            </a:r>
            <a:r>
              <a:rPr lang="en-US" sz="2000" dirty="0" smtClean="0">
                <a:latin typeface="Times New Roman" pitchFamily="18" charset="0"/>
                <a:cs typeface="Times New Roman" pitchFamily="18" charset="0"/>
              </a:rPr>
              <a:t> HDFS quickly detects failures in Data Nodes and takes appropriate actions, such as replicating the data stored on the failed node to other healthy nodes.</a:t>
            </a:r>
          </a:p>
          <a:p>
            <a:pPr>
              <a:buNone/>
            </a:pPr>
            <a:endParaRPr lang="en-US" sz="2000" dirty="0" smtClean="0">
              <a:latin typeface="Times New Roman" pitchFamily="18" charset="0"/>
              <a:cs typeface="Times New Roman" pitchFamily="18" charset="0"/>
            </a:endParaRPr>
          </a:p>
          <a:p>
            <a:pPr>
              <a:buNone/>
            </a:pPr>
            <a:r>
              <a:rPr lang="en-US" sz="2000" b="1" dirty="0" smtClean="0">
                <a:latin typeface="Times New Roman" pitchFamily="18" charset="0"/>
                <a:cs typeface="Times New Roman" pitchFamily="18" charset="0"/>
              </a:rPr>
              <a:t>Monitoring and Alerts:</a:t>
            </a:r>
            <a:r>
              <a:rPr lang="en-US" sz="2000" dirty="0" smtClean="0">
                <a:latin typeface="Times New Roman" pitchFamily="18" charset="0"/>
                <a:cs typeface="Times New Roman" pitchFamily="18" charset="0"/>
              </a:rPr>
              <a:t> HDFS provides various monitoring tools and mechanisms to track the health and performance of the cluster. </a:t>
            </a:r>
          </a:p>
          <a:p>
            <a:r>
              <a:rPr lang="en-US" sz="2000" dirty="0" smtClean="0">
                <a:latin typeface="Times New Roman" pitchFamily="18" charset="0"/>
                <a:cs typeface="Times New Roman" pitchFamily="18" charset="0"/>
              </a:rPr>
              <a:t>Alerts can be set up to notify administrators about potential issues.</a:t>
            </a:r>
          </a:p>
          <a:p>
            <a:pPr>
              <a:buNone/>
            </a:pPr>
            <a:endParaRPr lang="en-US"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These mechanisms collectively work to ensure that HDFS remains highly available and resilient to failures.</a:t>
            </a:r>
          </a:p>
          <a:p>
            <a:endParaRPr lang="en-US" sz="2000" dirty="0">
              <a:latin typeface="Times New Roman" pitchFamily="18" charset="0"/>
              <a:cs typeface="Times New Roman"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277</TotalTime>
  <Words>1509</Words>
  <Application>Microsoft Office PowerPoint</Application>
  <PresentationFormat>On-screen Show (4:3)</PresentationFormat>
  <Paragraphs>134</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Flow</vt:lpstr>
      <vt:lpstr>HDFS – Design</vt:lpstr>
      <vt:lpstr>HDFS – Design</vt:lpstr>
      <vt:lpstr>HDFS - Blocks</vt:lpstr>
      <vt:lpstr>HDFS - Blocks</vt:lpstr>
      <vt:lpstr>HDFS – Name Nodes  &amp; Data Nodes</vt:lpstr>
      <vt:lpstr>HDFS – Name Nodes  &amp; Data Nodes</vt:lpstr>
      <vt:lpstr>HDFS – Name Nodes  &amp; Data Nodes</vt:lpstr>
      <vt:lpstr>HDFS – Block Caching</vt:lpstr>
      <vt:lpstr>HDFS – Block Caching</vt:lpstr>
      <vt:lpstr>HDFS Federation – Multiple Name Spaces</vt:lpstr>
      <vt:lpstr>HDFS Federation</vt:lpstr>
      <vt:lpstr>HDFS Federation</vt:lpstr>
      <vt:lpstr>HDFS - Availability</vt:lpstr>
      <vt:lpstr>HDFS - Availability</vt:lpstr>
      <vt:lpstr>HDFS - Availability</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HDFS – Design</dc:title>
  <dc:creator>Yes</dc:creator>
  <cp:lastModifiedBy>MRUH</cp:lastModifiedBy>
  <cp:revision>63</cp:revision>
  <dcterms:created xsi:type="dcterms:W3CDTF">2006-08-16T00:00:00Z</dcterms:created>
  <dcterms:modified xsi:type="dcterms:W3CDTF">2023-09-13T09:48:39Z</dcterms:modified>
</cp:coreProperties>
</file>