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306" r:id="rId5"/>
    <p:sldId id="259" r:id="rId6"/>
    <p:sldId id="304" r:id="rId7"/>
    <p:sldId id="260" r:id="rId8"/>
    <p:sldId id="274" r:id="rId9"/>
    <p:sldId id="272" r:id="rId10"/>
    <p:sldId id="273" r:id="rId11"/>
    <p:sldId id="261" r:id="rId12"/>
    <p:sldId id="276" r:id="rId13"/>
    <p:sldId id="278" r:id="rId14"/>
    <p:sldId id="279" r:id="rId15"/>
    <p:sldId id="262" r:id="rId16"/>
    <p:sldId id="280" r:id="rId17"/>
    <p:sldId id="281" r:id="rId18"/>
    <p:sldId id="296" r:id="rId19"/>
    <p:sldId id="297" r:id="rId20"/>
    <p:sldId id="263" r:id="rId21"/>
    <p:sldId id="293" r:id="rId22"/>
    <p:sldId id="294" r:id="rId23"/>
    <p:sldId id="264" r:id="rId24"/>
    <p:sldId id="299" r:id="rId25"/>
    <p:sldId id="265" r:id="rId26"/>
    <p:sldId id="301" r:id="rId27"/>
    <p:sldId id="302" r:id="rId28"/>
    <p:sldId id="305" r:id="rId29"/>
    <p:sldId id="267" r:id="rId30"/>
    <p:sldId id="290" r:id="rId31"/>
    <p:sldId id="291" r:id="rId32"/>
    <p:sldId id="292" r:id="rId33"/>
    <p:sldId id="268" r:id="rId34"/>
    <p:sldId id="289" r:id="rId35"/>
    <p:sldId id="283" r:id="rId36"/>
    <p:sldId id="285" r:id="rId37"/>
    <p:sldId id="269" r:id="rId38"/>
    <p:sldId id="286" r:id="rId39"/>
    <p:sldId id="287" r:id="rId40"/>
    <p:sldId id="288"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1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10/3/2023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10/3/2023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10/3/2023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10/3/2023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latin typeface="Times New Roman" panose="02020603050405020304" pitchFamily="18" charset="0"/>
                <a:cs typeface="Times New Roman" panose="02020603050405020304" pitchFamily="18" charset="0"/>
              </a:rPr>
              <a:t>Unit -3</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pPr algn="ctr"/>
            <a:r>
              <a:rPr lang="en-US" dirty="0" smtClean="0">
                <a:solidFill>
                  <a:srgbClr val="002060"/>
                </a:solidFill>
                <a:latin typeface="Times New Roman" panose="02020603050405020304" pitchFamily="18" charset="0"/>
                <a:cs typeface="Times New Roman" panose="02020603050405020304" pitchFamily="18" charset="0"/>
              </a:rPr>
              <a:t>Developing a Map Reduce Application</a:t>
            </a:r>
            <a:endParaRPr lang="en-US"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570" y="228600"/>
            <a:ext cx="8229600"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Map Reduce – Unit Testing</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524000"/>
            <a:ext cx="8534400" cy="4846320"/>
          </a:xfrm>
        </p:spPr>
        <p:txBody>
          <a:bodyPr>
            <a:noAutofit/>
          </a:bodyPr>
          <a:lstStyle/>
          <a:p>
            <a:r>
              <a:rPr lang="en-US" sz="1600" dirty="0" smtClean="0">
                <a:latin typeface="Times New Roman" panose="02020603050405020304" pitchFamily="18" charset="0"/>
                <a:cs typeface="Times New Roman" panose="02020603050405020304" pitchFamily="18" charset="0"/>
              </a:rPr>
              <a:t>Performing unit tests with MR Unit of MapReduce. </a:t>
            </a:r>
          </a:p>
          <a:p>
            <a:r>
              <a:rPr lang="en-US" sz="1600" dirty="0" smtClean="0">
                <a:latin typeface="Times New Roman" panose="02020603050405020304" pitchFamily="18" charset="0"/>
                <a:cs typeface="Times New Roman" panose="02020603050405020304" pitchFamily="18" charset="0"/>
              </a:rPr>
              <a:t>MR Unit is a testing framework that helps you write unit tests for your MapReduce jobs. </a:t>
            </a:r>
          </a:p>
          <a:p>
            <a:r>
              <a:rPr lang="en-US" sz="1600" dirty="0" smtClean="0">
                <a:latin typeface="Times New Roman" panose="02020603050405020304" pitchFamily="18" charset="0"/>
                <a:cs typeface="Times New Roman" panose="02020603050405020304" pitchFamily="18" charset="0"/>
              </a:rPr>
              <a:t>It allows you to test the individual components of your Map Reduce code without having to run the entire job on a cluster. </a:t>
            </a:r>
          </a:p>
          <a:p>
            <a:pPr>
              <a:buNone/>
            </a:pPr>
            <a:endParaRPr lang="en-US" sz="1600" dirty="0" smtClean="0">
              <a:latin typeface="Times New Roman" panose="02020603050405020304" pitchFamily="18" charset="0"/>
              <a:cs typeface="Times New Roman" panose="02020603050405020304" pitchFamily="18" charset="0"/>
            </a:endParaRPr>
          </a:p>
          <a:p>
            <a:pPr marL="0" indent="0">
              <a:buNone/>
            </a:pPr>
            <a:r>
              <a:rPr lang="en-US" sz="1600" dirty="0" smtClean="0">
                <a:latin typeface="Times New Roman" panose="02020603050405020304" pitchFamily="18" charset="0"/>
                <a:cs typeface="Times New Roman" panose="02020603050405020304" pitchFamily="18" charset="0"/>
              </a:rPr>
              <a:t>Here's a basic overview of how to perform unit tests with MR Unit:</a:t>
            </a:r>
          </a:p>
          <a:p>
            <a:pPr marL="0" indent="0">
              <a:buNone/>
            </a:pPr>
            <a:r>
              <a:rPr lang="en-US" sz="1600" b="1" dirty="0" smtClean="0">
                <a:latin typeface="Times New Roman" panose="02020603050405020304" pitchFamily="18" charset="0"/>
                <a:cs typeface="Times New Roman" panose="02020603050405020304" pitchFamily="18" charset="0"/>
              </a:rPr>
              <a:t>Set Up Your Testing Environment:</a:t>
            </a:r>
            <a:endParaRPr lang="en-US" sz="1600" dirty="0" smtClean="0">
              <a:latin typeface="Times New Roman" panose="02020603050405020304" pitchFamily="18" charset="0"/>
              <a:cs typeface="Times New Roman" panose="02020603050405020304" pitchFamily="18" charset="0"/>
            </a:endParaRPr>
          </a:p>
          <a:p>
            <a:pPr lvl="1"/>
            <a:r>
              <a:rPr lang="en-US" sz="1600" dirty="0" smtClean="0">
                <a:latin typeface="Times New Roman" panose="02020603050405020304" pitchFamily="18" charset="0"/>
                <a:cs typeface="Times New Roman" panose="02020603050405020304" pitchFamily="18" charset="0"/>
              </a:rPr>
              <a:t>Include the MR Unit library or dependency in your project. </a:t>
            </a:r>
          </a:p>
          <a:p>
            <a:pPr lvl="1"/>
            <a:r>
              <a:rPr lang="en-US" sz="1600" dirty="0" smtClean="0">
                <a:latin typeface="Times New Roman" panose="02020603050405020304" pitchFamily="18" charset="0"/>
                <a:cs typeface="Times New Roman" panose="02020603050405020304" pitchFamily="18" charset="0"/>
              </a:rPr>
              <a:t>MR Unit is often available as a </a:t>
            </a:r>
            <a:r>
              <a:rPr lang="en-US" sz="1600" b="1" dirty="0" smtClean="0">
                <a:solidFill>
                  <a:srgbClr val="002060"/>
                </a:solidFill>
                <a:latin typeface="Times New Roman" panose="02020603050405020304" pitchFamily="18" charset="0"/>
                <a:cs typeface="Times New Roman" panose="02020603050405020304" pitchFamily="18" charset="0"/>
              </a:rPr>
              <a:t>library</a:t>
            </a:r>
            <a:r>
              <a:rPr lang="en-US" sz="1600" dirty="0" smtClean="0">
                <a:solidFill>
                  <a:srgbClr val="002060"/>
                </a:solidFill>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for popular MapReduce frameworks like Apache Hadoop.</a:t>
            </a:r>
          </a:p>
          <a:p>
            <a:pPr marL="0" indent="0">
              <a:buNone/>
            </a:pPr>
            <a:r>
              <a:rPr lang="en-US" sz="1600" b="1" dirty="0" smtClean="0">
                <a:latin typeface="Times New Roman" panose="02020603050405020304" pitchFamily="18" charset="0"/>
                <a:cs typeface="Times New Roman" panose="02020603050405020304" pitchFamily="18" charset="0"/>
              </a:rPr>
              <a:t>Write Unit Tests:</a:t>
            </a:r>
            <a:endParaRPr lang="en-US" sz="1600" dirty="0" smtClean="0">
              <a:latin typeface="Times New Roman" panose="02020603050405020304" pitchFamily="18" charset="0"/>
              <a:cs typeface="Times New Roman" panose="02020603050405020304" pitchFamily="18" charset="0"/>
            </a:endParaRPr>
          </a:p>
          <a:p>
            <a:pPr lvl="1"/>
            <a:r>
              <a:rPr lang="en-US" sz="1600" dirty="0" smtClean="0">
                <a:latin typeface="Times New Roman" panose="02020603050405020304" pitchFamily="18" charset="0"/>
                <a:cs typeface="Times New Roman" panose="02020603050405020304" pitchFamily="18" charset="0"/>
              </a:rPr>
              <a:t>Create unit test classes for your Map and Reduce functions. These classes should extend MRUnit's testing classes.</a:t>
            </a:r>
          </a:p>
          <a:p>
            <a:pPr lvl="1"/>
            <a:r>
              <a:rPr lang="en-US" sz="1600" dirty="0" smtClean="0">
                <a:latin typeface="Times New Roman" panose="02020603050405020304" pitchFamily="18" charset="0"/>
                <a:cs typeface="Times New Roman" panose="02020603050405020304" pitchFamily="18" charset="0"/>
              </a:rPr>
              <a:t>In your test methods, configure the input data, set expectations for the output data, and then run your Map and Reduce functions using MR Unit's testing methods.</a:t>
            </a:r>
          </a:p>
          <a:p>
            <a:pPr marL="0" indent="0">
              <a:buNone/>
            </a:pPr>
            <a:r>
              <a:rPr lang="en-US" sz="1600" b="1" dirty="0" smtClean="0">
                <a:latin typeface="Times New Roman" panose="02020603050405020304" pitchFamily="18" charset="0"/>
                <a:cs typeface="Times New Roman" panose="02020603050405020304" pitchFamily="18" charset="0"/>
              </a:rPr>
              <a:t>Run the Tests:</a:t>
            </a:r>
            <a:endParaRPr lang="en-US" sz="1600" dirty="0" smtClean="0">
              <a:latin typeface="Times New Roman" panose="02020603050405020304" pitchFamily="18" charset="0"/>
              <a:cs typeface="Times New Roman" panose="02020603050405020304" pitchFamily="18" charset="0"/>
            </a:endParaRPr>
          </a:p>
          <a:p>
            <a:pPr lvl="1"/>
            <a:r>
              <a:rPr lang="en-US" sz="1600" dirty="0" smtClean="0">
                <a:latin typeface="Times New Roman" panose="02020603050405020304" pitchFamily="18" charset="0"/>
                <a:cs typeface="Times New Roman" panose="02020603050405020304" pitchFamily="18" charset="0"/>
              </a:rPr>
              <a:t>Execute your unit tests using your preferred testing framework (e.g., JUnit).</a:t>
            </a:r>
          </a:p>
          <a:p>
            <a:pPr marL="0" indent="0">
              <a:buNone/>
            </a:pPr>
            <a:r>
              <a:rPr lang="en-US" sz="1600" dirty="0" smtClean="0">
                <a:latin typeface="Times New Roman" panose="02020603050405020304" pitchFamily="18" charset="0"/>
                <a:cs typeface="Times New Roman" panose="02020603050405020304" pitchFamily="18" charset="0"/>
              </a:rPr>
              <a:t/>
            </a:r>
            <a:br>
              <a:rPr lang="en-US" sz="1600" dirty="0" smtClean="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 </a:t>
            </a:r>
            <a:endParaRPr lang="en-US"/>
          </a:p>
        </p:txBody>
      </p:sp>
      <p:sp>
        <p:nvSpPr>
          <p:cNvPr id="3" name="Content Placeholder 2"/>
          <p:cNvSpPr>
            <a:spLocks noGrp="1"/>
          </p:cNvSpPr>
          <p:nvPr>
            <p:ph idx="1"/>
          </p:nvPr>
        </p:nvSpPr>
        <p:spPr>
          <a:xfrm>
            <a:off x="152400" y="1143000"/>
            <a:ext cx="8763000" cy="5410200"/>
          </a:xfrm>
        </p:spPr>
        <p:txBody>
          <a:bodyPr>
            <a:noAutofit/>
          </a:bodyPr>
          <a:lstStyle/>
          <a:p>
            <a:pPr>
              <a:buNone/>
            </a:pPr>
            <a:r>
              <a:rPr lang="en-US" sz="2000" b="1" dirty="0">
                <a:solidFill>
                  <a:srgbClr val="002060"/>
                </a:solidFill>
                <a:latin typeface="Times New Roman" panose="02020603050405020304" pitchFamily="18" charset="0"/>
                <a:cs typeface="Times New Roman" panose="02020603050405020304" pitchFamily="18" charset="0"/>
              </a:rPr>
              <a:t>Here's a simplified example of how you might write a unit test for a MapReduce job using MR Unit in Java</a:t>
            </a:r>
            <a:r>
              <a:rPr lang="en-US" sz="2000" b="1" dirty="0" smtClean="0">
                <a:solidFill>
                  <a:srgbClr val="002060"/>
                </a:solidFill>
                <a:latin typeface="Times New Roman" panose="02020603050405020304" pitchFamily="18" charset="0"/>
                <a:cs typeface="Times New Roman" panose="02020603050405020304" pitchFamily="18" charset="0"/>
              </a:rPr>
              <a:t>:</a:t>
            </a:r>
          </a:p>
          <a:p>
            <a:pPr>
              <a:buNone/>
            </a:pPr>
            <a:r>
              <a:rPr lang="en-US" sz="2000" dirty="0" smtClean="0">
                <a:latin typeface="Times New Roman" panose="02020603050405020304" pitchFamily="18" charset="0"/>
                <a:cs typeface="Times New Roman" panose="02020603050405020304" pitchFamily="18" charset="0"/>
              </a:rPr>
              <a:t>import org.apache.hadoop.mrunit.mapreduce.MapReduceDriver;</a:t>
            </a:r>
          </a:p>
          <a:p>
            <a:pPr>
              <a:buNone/>
            </a:pPr>
            <a:r>
              <a:rPr lang="en-US" sz="2000" dirty="0" smtClean="0">
                <a:latin typeface="Times New Roman" panose="02020603050405020304" pitchFamily="18" charset="0"/>
                <a:cs typeface="Times New Roman" panose="02020603050405020304" pitchFamily="18" charset="0"/>
              </a:rPr>
              <a:t>import org.junit.Before;</a:t>
            </a:r>
          </a:p>
          <a:p>
            <a:pPr>
              <a:buNone/>
            </a:pPr>
            <a:r>
              <a:rPr lang="en-US" sz="2000" dirty="0" smtClean="0">
                <a:latin typeface="Times New Roman" panose="02020603050405020304" pitchFamily="18" charset="0"/>
                <a:cs typeface="Times New Roman" panose="02020603050405020304" pitchFamily="18" charset="0"/>
              </a:rPr>
              <a:t>import org.junit.Test;</a:t>
            </a:r>
          </a:p>
          <a:p>
            <a:pPr>
              <a:buNone/>
            </a:pPr>
            <a:r>
              <a:rPr lang="en-US" sz="2000" dirty="0" smtClean="0">
                <a:latin typeface="Times New Roman" panose="02020603050405020304" pitchFamily="18" charset="0"/>
                <a:cs typeface="Times New Roman" panose="02020603050405020304" pitchFamily="18" charset="0"/>
              </a:rPr>
              <a:t>public class MyMapReduceTest {</a:t>
            </a:r>
          </a:p>
          <a:p>
            <a:pPr>
              <a:buNone/>
            </a:pPr>
            <a:r>
              <a:rPr lang="en-US" sz="2000" dirty="0" smtClean="0">
                <a:latin typeface="Times New Roman" panose="02020603050405020304" pitchFamily="18" charset="0"/>
                <a:cs typeface="Times New Roman" panose="02020603050405020304" pitchFamily="18" charset="0"/>
              </a:rPr>
              <a:t>    private MapReduceDriver&lt;Object, Text, Text, IntWritable, Text, IntWritable&gt; mapReduceDriver;</a:t>
            </a:r>
          </a:p>
          <a:p>
            <a:pPr>
              <a:buNone/>
            </a:pPr>
            <a:r>
              <a:rPr lang="en-US" sz="2000" dirty="0" smtClean="0">
                <a:latin typeface="Times New Roman" panose="02020603050405020304" pitchFamily="18" charset="0"/>
                <a:cs typeface="Times New Roman" panose="02020603050405020304" pitchFamily="18" charset="0"/>
              </a:rPr>
              <a:t>    @Before</a:t>
            </a:r>
          </a:p>
          <a:p>
            <a:pPr>
              <a:buNone/>
            </a:pPr>
            <a:r>
              <a:rPr lang="en-US" sz="2000" dirty="0" smtClean="0">
                <a:latin typeface="Times New Roman" panose="02020603050405020304" pitchFamily="18" charset="0"/>
                <a:cs typeface="Times New Roman" panose="02020603050405020304" pitchFamily="18" charset="0"/>
              </a:rPr>
              <a:t>    public void setUp() {</a:t>
            </a:r>
          </a:p>
          <a:p>
            <a:pPr>
              <a:buNone/>
            </a:pPr>
            <a:r>
              <a:rPr lang="en-US" sz="2000" dirty="0" smtClean="0">
                <a:latin typeface="Times New Roman" panose="02020603050405020304" pitchFamily="18" charset="0"/>
                <a:cs typeface="Times New Roman" panose="02020603050405020304" pitchFamily="18" charset="0"/>
              </a:rPr>
              <a:t>        MyMapper mapper = new </a:t>
            </a:r>
            <a:r>
              <a:rPr lang="en-US" sz="2000" b="1" dirty="0" smtClean="0">
                <a:latin typeface="Times New Roman" panose="02020603050405020304" pitchFamily="18" charset="0"/>
                <a:cs typeface="Times New Roman" panose="02020603050405020304" pitchFamily="18" charset="0"/>
              </a:rPr>
              <a:t>MyMapper</a:t>
            </a:r>
            <a:r>
              <a:rPr lang="en-US" sz="2000" dirty="0" smtClean="0">
                <a:latin typeface="Times New Roman" panose="02020603050405020304" pitchFamily="18" charset="0"/>
                <a:cs typeface="Times New Roman" panose="02020603050405020304" pitchFamily="18" charset="0"/>
              </a:rPr>
              <a:t>();</a:t>
            </a:r>
          </a:p>
          <a:p>
            <a:pPr>
              <a:buNone/>
            </a:pPr>
            <a:r>
              <a:rPr lang="en-US" sz="2000" dirty="0" smtClean="0">
                <a:latin typeface="Times New Roman" panose="02020603050405020304" pitchFamily="18" charset="0"/>
                <a:cs typeface="Times New Roman" panose="02020603050405020304" pitchFamily="18" charset="0"/>
              </a:rPr>
              <a:t>        MyReducer reducer = new </a:t>
            </a:r>
            <a:r>
              <a:rPr lang="en-US" sz="2000" b="1" dirty="0" smtClean="0">
                <a:latin typeface="Times New Roman" panose="02020603050405020304" pitchFamily="18" charset="0"/>
                <a:cs typeface="Times New Roman" panose="02020603050405020304" pitchFamily="18" charset="0"/>
              </a:rPr>
              <a:t>MyReducer</a:t>
            </a:r>
            <a:r>
              <a:rPr lang="en-US" sz="2000" dirty="0" smtClean="0">
                <a:latin typeface="Times New Roman" panose="02020603050405020304" pitchFamily="18" charset="0"/>
                <a:cs typeface="Times New Roman" panose="02020603050405020304" pitchFamily="18" charset="0"/>
              </a:rPr>
              <a:t>();</a:t>
            </a:r>
          </a:p>
          <a:p>
            <a:pPr>
              <a:buNone/>
            </a:pPr>
            <a:r>
              <a:rPr lang="en-US" sz="2000" dirty="0" smtClean="0">
                <a:latin typeface="Times New Roman" panose="02020603050405020304" pitchFamily="18" charset="0"/>
                <a:cs typeface="Times New Roman" panose="02020603050405020304" pitchFamily="18" charset="0"/>
              </a:rPr>
              <a:t>        </a:t>
            </a:r>
            <a:r>
              <a:rPr lang="en-US" sz="2000" b="1" dirty="0" smtClean="0">
                <a:solidFill>
                  <a:srgbClr val="FF0000"/>
                </a:solidFill>
                <a:latin typeface="Times New Roman" panose="02020603050405020304" pitchFamily="18" charset="0"/>
                <a:cs typeface="Times New Roman" panose="02020603050405020304" pitchFamily="18" charset="0"/>
              </a:rPr>
              <a:t>mapReduceDriver</a:t>
            </a:r>
            <a:r>
              <a:rPr lang="en-US" sz="2000" dirty="0" smtClean="0">
                <a:solidFill>
                  <a:srgbClr val="FF0000"/>
                </a:solidFill>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MapReduceDriver.newMapReduceDriver(mapper, reducer);  </a:t>
            </a:r>
          </a:p>
          <a:p>
            <a:pPr>
              <a:buNone/>
            </a:pPr>
            <a:r>
              <a:rPr lang="en-US" sz="2000" dirty="0" smtClean="0">
                <a:latin typeface="Times New Roman" panose="02020603050405020304" pitchFamily="18" charset="0"/>
                <a:cs typeface="Times New Roman" panose="02020603050405020304" pitchFamily="18" charset="0"/>
              </a:rPr>
              <a:t>    }</a:t>
            </a:r>
          </a:p>
          <a:p>
            <a:pPr>
              <a:buNone/>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0"/>
            <a:ext cx="8534400" cy="5181600"/>
          </a:xfrm>
        </p:spPr>
        <p:txBody>
          <a:bodyPr>
            <a:normAutofit/>
          </a:bodyPr>
          <a:lstStyle/>
          <a:p>
            <a:pPr>
              <a:buNone/>
            </a:pPr>
            <a:r>
              <a:rPr lang="en-US" sz="2000" dirty="0" smtClean="0">
                <a:latin typeface="Times New Roman" panose="02020603050405020304" pitchFamily="18" charset="0"/>
                <a:cs typeface="Times New Roman" panose="02020603050405020304" pitchFamily="18" charset="0"/>
              </a:rPr>
              <a:t> @Test</a:t>
            </a:r>
          </a:p>
          <a:p>
            <a:pPr>
              <a:buNone/>
            </a:pPr>
            <a:r>
              <a:rPr lang="en-US" sz="2000" dirty="0" smtClean="0">
                <a:latin typeface="Times New Roman" panose="02020603050405020304" pitchFamily="18" charset="0"/>
                <a:cs typeface="Times New Roman" panose="02020603050405020304" pitchFamily="18" charset="0"/>
              </a:rPr>
              <a:t>    public void testMapReduceJob() {</a:t>
            </a:r>
          </a:p>
          <a:p>
            <a:pPr>
              <a:buNone/>
            </a:pPr>
            <a:r>
              <a:rPr lang="en-US" sz="2000" dirty="0" smtClean="0">
                <a:latin typeface="Times New Roman" panose="02020603050405020304" pitchFamily="18" charset="0"/>
                <a:cs typeface="Times New Roman" panose="02020603050405020304" pitchFamily="18" charset="0"/>
              </a:rPr>
              <a:t>        mapReduceDriver.withInput(new Object(), new Text("input data"));                    </a:t>
            </a:r>
          </a:p>
          <a:p>
            <a:pPr>
              <a:buNone/>
            </a:pPr>
            <a:r>
              <a:rPr lang="en-US" sz="2000" dirty="0" smtClean="0">
                <a:latin typeface="Times New Roman" panose="02020603050405020304" pitchFamily="18" charset="0"/>
                <a:cs typeface="Times New Roman" panose="02020603050405020304" pitchFamily="18" charset="0"/>
              </a:rPr>
              <a:t>					  // Set input data</a:t>
            </a:r>
          </a:p>
          <a:p>
            <a:pPr>
              <a:buNone/>
            </a:pPr>
            <a:r>
              <a:rPr lang="en-US" sz="2000" dirty="0" smtClean="0">
                <a:latin typeface="Times New Roman" panose="02020603050405020304" pitchFamily="18" charset="0"/>
                <a:cs typeface="Times New Roman" panose="02020603050405020304" pitchFamily="18" charset="0"/>
              </a:rPr>
              <a:t>        mapReduceDriver.withOutput(new Text("output key"), new IntWritable(1));      </a:t>
            </a:r>
          </a:p>
          <a:p>
            <a:pPr>
              <a:buNone/>
            </a:pPr>
            <a:r>
              <a:rPr lang="en-US" sz="2000" dirty="0" smtClean="0">
                <a:latin typeface="Times New Roman" panose="02020603050405020304" pitchFamily="18" charset="0"/>
                <a:cs typeface="Times New Roman" panose="02020603050405020304" pitchFamily="18" charset="0"/>
              </a:rPr>
              <a:t>					  // Set expected output</a:t>
            </a:r>
          </a:p>
          <a:p>
            <a:pPr>
              <a:buNone/>
            </a:pPr>
            <a:r>
              <a:rPr lang="en-US" sz="2000" dirty="0" smtClean="0">
                <a:latin typeface="Times New Roman" panose="02020603050405020304" pitchFamily="18" charset="0"/>
                <a:cs typeface="Times New Roman" panose="02020603050405020304" pitchFamily="18" charset="0"/>
              </a:rPr>
              <a:t>        </a:t>
            </a:r>
            <a:r>
              <a:rPr lang="en-US" sz="2000" b="1" dirty="0" smtClean="0">
                <a:solidFill>
                  <a:srgbClr val="FF0000"/>
                </a:solidFill>
                <a:latin typeface="Times New Roman" panose="02020603050405020304" pitchFamily="18" charset="0"/>
                <a:cs typeface="Times New Roman" panose="02020603050405020304" pitchFamily="18" charset="0"/>
              </a:rPr>
              <a:t>mapReduceDriver.runTest</a:t>
            </a:r>
            <a:r>
              <a:rPr lang="en-US" sz="2000" dirty="0" smtClean="0">
                <a:latin typeface="Times New Roman" panose="02020603050405020304" pitchFamily="18" charset="0"/>
                <a:cs typeface="Times New Roman" panose="02020603050405020304" pitchFamily="18" charset="0"/>
              </a:rPr>
              <a:t>();                                                            </a:t>
            </a:r>
          </a:p>
          <a:p>
            <a:pPr>
              <a:buNone/>
            </a:pPr>
            <a:r>
              <a:rPr lang="en-US" sz="2000" dirty="0" smtClean="0">
                <a:latin typeface="Times New Roman" panose="02020603050405020304" pitchFamily="18" charset="0"/>
                <a:cs typeface="Times New Roman" panose="02020603050405020304" pitchFamily="18" charset="0"/>
              </a:rPr>
              <a:t>					 // Run the test</a:t>
            </a:r>
          </a:p>
          <a:p>
            <a:pPr>
              <a:buNone/>
            </a:pPr>
            <a:r>
              <a:rPr lang="en-US" sz="2000" dirty="0" smtClean="0">
                <a:latin typeface="Times New Roman" panose="02020603050405020304" pitchFamily="18" charset="0"/>
                <a:cs typeface="Times New Roman" panose="02020603050405020304" pitchFamily="18" charset="0"/>
              </a:rPr>
              <a:t>    }</a:t>
            </a:r>
          </a:p>
          <a:p>
            <a:pPr>
              <a:buNone/>
            </a:pPr>
            <a:r>
              <a:rPr lang="en-US" sz="2000" dirty="0" smtClean="0">
                <a:latin typeface="Times New Roman" panose="02020603050405020304" pitchFamily="18" charset="0"/>
                <a:cs typeface="Times New Roman" panose="02020603050405020304" pitchFamily="18" charset="0"/>
              </a:rPr>
              <a:t>}</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8229600" cy="4389120"/>
          </a:xfrm>
        </p:spPr>
        <p:txBody>
          <a:bodyPr>
            <a:noAutofit/>
          </a:bodyPr>
          <a:lstStyle/>
          <a:p>
            <a:pPr>
              <a:buNone/>
            </a:pPr>
            <a:endParaRPr lang="en-US" sz="2000" dirty="0" smtClean="0">
              <a:latin typeface="Times New Roman" panose="02020603050405020304" pitchFamily="18" charset="0"/>
              <a:cs typeface="Times New Roman" panose="02020603050405020304" pitchFamily="18" charset="0"/>
            </a:endParaRPr>
          </a:p>
          <a:p>
            <a:r>
              <a:rPr lang="en-US" sz="2000" dirty="0" smtClean="0">
                <a:solidFill>
                  <a:srgbClr val="FF0000"/>
                </a:solidFill>
                <a:latin typeface="Times New Roman" panose="02020603050405020304" pitchFamily="18" charset="0"/>
                <a:cs typeface="Times New Roman" panose="02020603050405020304" pitchFamily="18" charset="0"/>
              </a:rPr>
              <a:t>MyMapper</a:t>
            </a:r>
            <a:r>
              <a:rPr lang="en-US" sz="2000" dirty="0" smtClean="0">
                <a:latin typeface="Times New Roman" panose="02020603050405020304" pitchFamily="18" charset="0"/>
                <a:cs typeface="Times New Roman" panose="02020603050405020304" pitchFamily="18" charset="0"/>
              </a:rPr>
              <a:t> and </a:t>
            </a:r>
            <a:r>
              <a:rPr lang="en-US" sz="2000" dirty="0" smtClean="0">
                <a:solidFill>
                  <a:srgbClr val="FF0000"/>
                </a:solidFill>
                <a:latin typeface="Times New Roman" panose="02020603050405020304" pitchFamily="18" charset="0"/>
                <a:cs typeface="Times New Roman" panose="02020603050405020304" pitchFamily="18" charset="0"/>
              </a:rPr>
              <a:t>MyReducer</a:t>
            </a:r>
            <a:r>
              <a:rPr lang="en-US" sz="2000" dirty="0" smtClean="0">
                <a:latin typeface="Times New Roman" panose="02020603050405020304" pitchFamily="18" charset="0"/>
                <a:cs typeface="Times New Roman" panose="02020603050405020304" pitchFamily="18" charset="0"/>
              </a:rPr>
              <a:t> are your Map and Reduce functions.</a:t>
            </a:r>
          </a:p>
          <a:p>
            <a:pPr>
              <a:buNone/>
            </a:pPr>
            <a:endParaRPr lang="en-US" sz="2000" dirty="0" smtClean="0">
              <a:latin typeface="Times New Roman" panose="02020603050405020304" pitchFamily="18" charset="0"/>
              <a:cs typeface="Times New Roman" panose="02020603050405020304" pitchFamily="18" charset="0"/>
            </a:endParaRPr>
          </a:p>
          <a:p>
            <a:r>
              <a:rPr lang="en-US" sz="2000" dirty="0" smtClean="0">
                <a:solidFill>
                  <a:srgbClr val="FF0000"/>
                </a:solidFill>
                <a:latin typeface="Times New Roman" panose="02020603050405020304" pitchFamily="18" charset="0"/>
                <a:cs typeface="Times New Roman" panose="02020603050405020304" pitchFamily="18" charset="0"/>
              </a:rPr>
              <a:t>mapReduceDriver</a:t>
            </a:r>
            <a:r>
              <a:rPr lang="en-US" sz="2000" dirty="0" smtClean="0">
                <a:latin typeface="Times New Roman" panose="02020603050405020304" pitchFamily="18" charset="0"/>
                <a:cs typeface="Times New Roman" panose="02020603050405020304" pitchFamily="18" charset="0"/>
              </a:rPr>
              <a:t> is an instance of </a:t>
            </a:r>
            <a:r>
              <a:rPr lang="en-US" sz="2000" dirty="0" smtClean="0">
                <a:solidFill>
                  <a:srgbClr val="FF0000"/>
                </a:solidFill>
                <a:latin typeface="Times New Roman" panose="02020603050405020304" pitchFamily="18" charset="0"/>
                <a:cs typeface="Times New Roman" panose="02020603050405020304" pitchFamily="18" charset="0"/>
              </a:rPr>
              <a:t>MapReduceDriver</a:t>
            </a:r>
            <a:r>
              <a:rPr lang="en-US" sz="2000" dirty="0" smtClean="0">
                <a:latin typeface="Times New Roman" panose="02020603050405020304" pitchFamily="18" charset="0"/>
                <a:cs typeface="Times New Roman" panose="02020603050405020304" pitchFamily="18" charset="0"/>
              </a:rPr>
              <a:t> provided by MR Unit.</a:t>
            </a:r>
          </a:p>
          <a:p>
            <a:pPr>
              <a:buNone/>
            </a:pP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In the test method (testMapReduceJob), you set the input data and the expected output, then run the test with mapReduceDriver.runTest().</a:t>
            </a:r>
          </a:p>
          <a:p>
            <a:pPr>
              <a:buNone/>
            </a:pP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MR Unit provides various methods and assertions for checking the output of your MapReduce functions and ensuring they behave as expected.</a:t>
            </a:r>
          </a:p>
          <a:p>
            <a:pPr>
              <a:buNone/>
            </a:pPr>
            <a:r>
              <a:rPr lang="en-US" sz="2000" dirty="0" smtClean="0">
                <a:latin typeface="Times New Roman" panose="02020603050405020304" pitchFamily="18" charset="0"/>
                <a:cs typeface="Times New Roman" panose="02020603050405020304" pitchFamily="18" charset="0"/>
              </a:rPr>
              <a:t/>
            </a:r>
            <a:br>
              <a:rPr lang="en-US" sz="2000" dirty="0" smtClean="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dirty="0" smtClean="0">
                <a:latin typeface="Times New Roman" panose="02020603050405020304" pitchFamily="18" charset="0"/>
                <a:cs typeface="Times New Roman" panose="02020603050405020304" pitchFamily="18" charset="0"/>
              </a:rPr>
              <a:t>Unit-3        </a:t>
            </a:r>
            <a:br>
              <a:rPr lang="en-US" sz="4800" dirty="0" smtClean="0">
                <a:latin typeface="Times New Roman" panose="02020603050405020304" pitchFamily="18" charset="0"/>
                <a:cs typeface="Times New Roman" panose="02020603050405020304" pitchFamily="18" charset="0"/>
              </a:rPr>
            </a:br>
            <a:r>
              <a:rPr lang="en-US" sz="3600" dirty="0" smtClean="0">
                <a:latin typeface="Times New Roman" panose="02020603050405020304" pitchFamily="18" charset="0"/>
                <a:cs typeface="Times New Roman" panose="02020603050405020304" pitchFamily="18" charset="0"/>
              </a:rPr>
              <a:t>Part-2</a:t>
            </a:r>
            <a:endParaRPr lang="en-IN" sz="36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530352" y="3429000"/>
            <a:ext cx="7772400" cy="1509712"/>
          </a:xfrm>
        </p:spPr>
        <p:txBody>
          <a:bodyPr>
            <a:normAutofit/>
          </a:bodyPr>
          <a:lstStyle/>
          <a:p>
            <a:pPr algn="ctr"/>
            <a:r>
              <a:rPr lang="en-US" sz="3600" dirty="0" smtClean="0">
                <a:solidFill>
                  <a:srgbClr val="002060"/>
                </a:solidFill>
                <a:latin typeface="Times New Roman" panose="02020603050405020304" pitchFamily="18" charset="0"/>
                <a:cs typeface="Times New Roman" panose="02020603050405020304" pitchFamily="18" charset="0"/>
              </a:rPr>
              <a:t>How Map-Reduce works</a:t>
            </a:r>
            <a:endParaRPr lang="en-IN"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9364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dirty="0" smtClean="0">
                <a:solidFill>
                  <a:srgbClr val="FF0000"/>
                </a:solidFill>
                <a:latin typeface="Times New Roman" panose="02020603050405020304" pitchFamily="18" charset="0"/>
                <a:cs typeface="Times New Roman" panose="02020603050405020304" pitchFamily="18" charset="0"/>
              </a:rPr>
              <a:t>Anatomy of Map Reduce</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r>
              <a:rPr lang="en-US" sz="1800" dirty="0" smtClean="0">
                <a:latin typeface="Times New Roman" panose="02020603050405020304" pitchFamily="18" charset="0"/>
                <a:cs typeface="Times New Roman" panose="02020603050405020304" pitchFamily="18" charset="0"/>
              </a:rPr>
              <a:t>Map Reduce </a:t>
            </a:r>
            <a:r>
              <a:rPr lang="en-US" sz="1800" dirty="0">
                <a:latin typeface="Times New Roman" panose="02020603050405020304" pitchFamily="18" charset="0"/>
                <a:cs typeface="Times New Roman" panose="02020603050405020304" pitchFamily="18" charset="0"/>
              </a:rPr>
              <a:t>is a </a:t>
            </a:r>
            <a:r>
              <a:rPr lang="en-US" sz="1800" dirty="0" smtClean="0">
                <a:latin typeface="Times New Roman" panose="02020603050405020304" pitchFamily="18" charset="0"/>
                <a:cs typeface="Times New Roman" panose="02020603050405020304" pitchFamily="18" charset="0"/>
              </a:rPr>
              <a:t>Programming </a:t>
            </a:r>
            <a:r>
              <a:rPr lang="en-US" sz="1800" dirty="0">
                <a:latin typeface="Times New Roman" panose="02020603050405020304" pitchFamily="18" charset="0"/>
                <a:cs typeface="Times New Roman" panose="02020603050405020304" pitchFamily="18" charset="0"/>
              </a:rPr>
              <a:t>M</a:t>
            </a:r>
            <a:r>
              <a:rPr lang="en-US" sz="1800" dirty="0" smtClean="0">
                <a:latin typeface="Times New Roman" panose="02020603050405020304" pitchFamily="18" charset="0"/>
                <a:cs typeface="Times New Roman" panose="02020603050405020304" pitchFamily="18" charset="0"/>
              </a:rPr>
              <a:t>odel </a:t>
            </a:r>
            <a:r>
              <a:rPr lang="en-US" sz="1800" dirty="0">
                <a:latin typeface="Times New Roman" panose="02020603050405020304" pitchFamily="18" charset="0"/>
                <a:cs typeface="Times New Roman" panose="02020603050405020304" pitchFamily="18" charset="0"/>
              </a:rPr>
              <a:t>and </a:t>
            </a:r>
            <a:r>
              <a:rPr lang="en-US" sz="1800" dirty="0" smtClean="0">
                <a:latin typeface="Times New Roman" panose="02020603050405020304" pitchFamily="18" charset="0"/>
                <a:cs typeface="Times New Roman" panose="02020603050405020304" pitchFamily="18" charset="0"/>
              </a:rPr>
              <a:t>Processing </a:t>
            </a:r>
            <a:r>
              <a:rPr lang="en-US" sz="1800" dirty="0">
                <a:latin typeface="Times New Roman" panose="02020603050405020304" pitchFamily="18" charset="0"/>
                <a:cs typeface="Times New Roman" panose="02020603050405020304" pitchFamily="18" charset="0"/>
              </a:rPr>
              <a:t>F</a:t>
            </a:r>
            <a:r>
              <a:rPr lang="en-US" sz="1800" dirty="0" smtClean="0">
                <a:latin typeface="Times New Roman" panose="02020603050405020304" pitchFamily="18" charset="0"/>
                <a:cs typeface="Times New Roman" panose="02020603050405020304" pitchFamily="18" charset="0"/>
              </a:rPr>
              <a:t>ramework.</a:t>
            </a:r>
          </a:p>
          <a:p>
            <a:r>
              <a:rPr lang="en-US" sz="1800" dirty="0" smtClean="0">
                <a:latin typeface="Times New Roman" panose="02020603050405020304" pitchFamily="18" charset="0"/>
                <a:cs typeface="Times New Roman" panose="02020603050405020304" pitchFamily="18" charset="0"/>
              </a:rPr>
              <a:t>It is used for </a:t>
            </a:r>
            <a:r>
              <a:rPr lang="en-US" sz="1800" dirty="0">
                <a:latin typeface="Times New Roman" panose="02020603050405020304" pitchFamily="18" charset="0"/>
                <a:cs typeface="Times New Roman" panose="02020603050405020304" pitchFamily="18" charset="0"/>
              </a:rPr>
              <a:t>processing </a:t>
            </a:r>
            <a:r>
              <a:rPr lang="en-US" sz="1800" dirty="0" smtClean="0">
                <a:latin typeface="Times New Roman" panose="02020603050405020304" pitchFamily="18" charset="0"/>
                <a:cs typeface="Times New Roman" panose="02020603050405020304" pitchFamily="18" charset="0"/>
              </a:rPr>
              <a:t>and generating large datasets that </a:t>
            </a:r>
            <a:r>
              <a:rPr lang="en-US" sz="1800" dirty="0">
                <a:latin typeface="Times New Roman" panose="02020603050405020304" pitchFamily="18" charset="0"/>
                <a:cs typeface="Times New Roman" panose="02020603050405020304" pitchFamily="18" charset="0"/>
              </a:rPr>
              <a:t>can be parallelized across a distributed cluster. </a:t>
            </a:r>
            <a:endParaRPr lang="en-US" sz="1800" dirty="0" smtClean="0">
              <a:latin typeface="Times New Roman" panose="02020603050405020304" pitchFamily="18" charset="0"/>
              <a:cs typeface="Times New Roman" panose="02020603050405020304" pitchFamily="18" charset="0"/>
            </a:endParaRPr>
          </a:p>
          <a:p>
            <a:pPr marL="0" indent="0">
              <a:buNone/>
            </a:pPr>
            <a:endParaRPr lang="en-US" sz="1800" dirty="0" smtClean="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fundamental idea behind MapReduce is to divide a complex computation into two stages: </a:t>
            </a: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T</a:t>
            </a:r>
            <a:r>
              <a:rPr lang="en-US" sz="1800" dirty="0" smtClean="0">
                <a:latin typeface="Times New Roman" panose="02020603050405020304" pitchFamily="18" charset="0"/>
                <a:cs typeface="Times New Roman" panose="02020603050405020304" pitchFamily="18" charset="0"/>
              </a:rPr>
              <a:t>he </a:t>
            </a:r>
            <a:r>
              <a:rPr lang="en-US" sz="1800" dirty="0">
                <a:latin typeface="Times New Roman" panose="02020603050405020304" pitchFamily="18" charset="0"/>
                <a:cs typeface="Times New Roman" panose="02020603050405020304" pitchFamily="18" charset="0"/>
              </a:rPr>
              <a:t>Map </a:t>
            </a:r>
            <a:r>
              <a:rPr lang="en-US" sz="1800" dirty="0" smtClean="0">
                <a:latin typeface="Times New Roman" panose="02020603050405020304" pitchFamily="18" charset="0"/>
                <a:cs typeface="Times New Roman" panose="02020603050405020304" pitchFamily="18" charset="0"/>
              </a:rPr>
              <a:t>stage</a:t>
            </a:r>
          </a:p>
          <a:p>
            <a:pPr>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T</a:t>
            </a:r>
            <a:r>
              <a:rPr lang="en-US" sz="1800" dirty="0" smtClean="0">
                <a:latin typeface="Times New Roman" panose="02020603050405020304" pitchFamily="18" charset="0"/>
                <a:cs typeface="Times New Roman" panose="02020603050405020304" pitchFamily="18" charset="0"/>
              </a:rPr>
              <a:t>he </a:t>
            </a:r>
            <a:r>
              <a:rPr lang="en-US" sz="1800" dirty="0">
                <a:latin typeface="Times New Roman" panose="02020603050405020304" pitchFamily="18" charset="0"/>
                <a:cs typeface="Times New Roman" panose="02020603050405020304" pitchFamily="18" charset="0"/>
              </a:rPr>
              <a:t>Reduce </a:t>
            </a:r>
            <a:r>
              <a:rPr lang="en-US" sz="1800" dirty="0" smtClean="0">
                <a:latin typeface="Times New Roman" panose="02020603050405020304" pitchFamily="18" charset="0"/>
                <a:cs typeface="Times New Roman" panose="02020603050405020304" pitchFamily="18" charset="0"/>
              </a:rPr>
              <a:t>stage</a:t>
            </a:r>
          </a:p>
          <a:p>
            <a:pPr marL="0" indent="0">
              <a:buNone/>
            </a:pPr>
            <a:endParaRPr lang="en-US" sz="1800" dirty="0" smtClean="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Here's </a:t>
            </a:r>
            <a:r>
              <a:rPr lang="en-US" sz="1800" dirty="0">
                <a:latin typeface="Times New Roman" panose="02020603050405020304" pitchFamily="18" charset="0"/>
                <a:cs typeface="Times New Roman" panose="02020603050405020304" pitchFamily="18" charset="0"/>
              </a:rPr>
              <a:t>an overview of the anatomy of a MapReduce job run</a:t>
            </a:r>
            <a:r>
              <a:rPr lang="en-US" sz="1800" dirty="0" smtClean="0">
                <a:latin typeface="Times New Roman" panose="02020603050405020304" pitchFamily="18" charset="0"/>
                <a:cs typeface="Times New Roman" panose="02020603050405020304" pitchFamily="18" charset="0"/>
              </a:rPr>
              <a:t>:</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Input Data</a:t>
            </a:r>
            <a:r>
              <a:rPr lang="en-US" sz="1800" dirty="0">
                <a:latin typeface="Times New Roman" panose="02020603050405020304" pitchFamily="18" charset="0"/>
                <a:cs typeface="Times New Roman" panose="02020603050405020304" pitchFamily="18" charset="0"/>
              </a:rPr>
              <a:t>: A MapReduce job starts with input data, typically stored in a distributed file system like Hadoop Distributed File System (HDFS). </a:t>
            </a: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800" dirty="0" smtClean="0">
                <a:latin typeface="Times New Roman" panose="02020603050405020304" pitchFamily="18" charset="0"/>
                <a:cs typeface="Times New Roman" panose="02020603050405020304" pitchFamily="18" charset="0"/>
              </a:rPr>
              <a:t>This </a:t>
            </a:r>
            <a:r>
              <a:rPr lang="en-US" sz="1800" dirty="0">
                <a:latin typeface="Times New Roman" panose="02020603050405020304" pitchFamily="18" charset="0"/>
                <a:cs typeface="Times New Roman" panose="02020603050405020304" pitchFamily="18" charset="0"/>
              </a:rPr>
              <a:t>input data is divided into smaller chunks called Input Splits</a:t>
            </a:r>
            <a:r>
              <a:rPr lang="en-US" sz="1800" dirty="0" smtClean="0">
                <a:latin typeface="Times New Roman" panose="02020603050405020304" pitchFamily="18" charset="0"/>
                <a:cs typeface="Times New Roman" panose="02020603050405020304" pitchFamily="18" charset="0"/>
              </a:rPr>
              <a:t>.</a:t>
            </a:r>
          </a:p>
          <a:p>
            <a:pPr marL="0" indent="0">
              <a:buNone/>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3027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066800"/>
            <a:ext cx="8991600" cy="5715000"/>
          </a:xfrm>
        </p:spPr>
        <p:txBody>
          <a:bodyPr>
            <a:noAutofit/>
          </a:bodyPr>
          <a:lstStyle/>
          <a:p>
            <a:pPr marL="0" indent="0">
              <a:buNone/>
            </a:pPr>
            <a:r>
              <a:rPr lang="en-US" sz="1600" b="1" dirty="0">
                <a:latin typeface="Times New Roman" panose="02020603050405020304" pitchFamily="18" charset="0"/>
                <a:cs typeface="Times New Roman" panose="02020603050405020304" pitchFamily="18" charset="0"/>
              </a:rPr>
              <a:t>Job Configuration</a:t>
            </a:r>
            <a:r>
              <a:rPr lang="en-US" sz="1600" dirty="0">
                <a:latin typeface="Times New Roman" panose="02020603050405020304" pitchFamily="18" charset="0"/>
                <a:cs typeface="Times New Roman" panose="02020603050405020304" pitchFamily="18" charset="0"/>
              </a:rPr>
              <a:t>: The user or developer specifies the details of the MapReduce job through a configuration file or programmatic configuration. </a:t>
            </a:r>
            <a:endParaRPr lang="en-US" sz="16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This </a:t>
            </a:r>
            <a:r>
              <a:rPr lang="en-US" sz="1600" dirty="0">
                <a:latin typeface="Times New Roman" panose="02020603050405020304" pitchFamily="18" charset="0"/>
                <a:cs typeface="Times New Roman" panose="02020603050405020304" pitchFamily="18" charset="0"/>
              </a:rPr>
              <a:t>includes specifying the input and output paths, the Mapper and Reducer classes, and other job-specific settings.</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Map Stage</a:t>
            </a:r>
            <a:r>
              <a:rPr lang="en-US" sz="1600" dirty="0">
                <a:latin typeface="Times New Roman" panose="02020603050405020304" pitchFamily="18" charset="0"/>
                <a:cs typeface="Times New Roman" panose="02020603050405020304" pitchFamily="18" charset="0"/>
              </a:rPr>
              <a:t>:</a:t>
            </a:r>
          </a:p>
          <a:p>
            <a:pPr marL="393192" lvl="1" indent="0">
              <a:buNone/>
            </a:pPr>
            <a:r>
              <a:rPr lang="en-US" sz="1600" b="1" dirty="0">
                <a:latin typeface="Times New Roman" panose="02020603050405020304" pitchFamily="18" charset="0"/>
                <a:cs typeface="Times New Roman" panose="02020603050405020304" pitchFamily="18" charset="0"/>
              </a:rPr>
              <a:t>Input Split</a:t>
            </a:r>
            <a:r>
              <a:rPr lang="en-US" sz="1600" dirty="0">
                <a:latin typeface="Times New Roman" panose="02020603050405020304" pitchFamily="18" charset="0"/>
                <a:cs typeface="Times New Roman" panose="02020603050405020304" pitchFamily="18" charset="0"/>
              </a:rPr>
              <a:t>: Input splits are processed by multiple Mapper tasks in parallel.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Each </a:t>
            </a:r>
            <a:r>
              <a:rPr lang="en-US" sz="1600" dirty="0">
                <a:latin typeface="Times New Roman" panose="02020603050405020304" pitchFamily="18" charset="0"/>
                <a:cs typeface="Times New Roman" panose="02020603050405020304" pitchFamily="18" charset="0"/>
              </a:rPr>
              <a:t>Mapper task takes an input split and processes it independently.</a:t>
            </a:r>
          </a:p>
          <a:p>
            <a:pPr marL="393192" lvl="1" indent="0">
              <a:buNone/>
            </a:pPr>
            <a:r>
              <a:rPr lang="en-US" sz="1600" b="1" dirty="0">
                <a:latin typeface="Times New Roman" panose="02020603050405020304" pitchFamily="18" charset="0"/>
                <a:cs typeface="Times New Roman" panose="02020603050405020304" pitchFamily="18" charset="0"/>
              </a:rPr>
              <a:t>Mapper Function</a:t>
            </a:r>
            <a:r>
              <a:rPr lang="en-US" sz="1600" dirty="0">
                <a:latin typeface="Times New Roman" panose="02020603050405020304" pitchFamily="18" charset="0"/>
                <a:cs typeface="Times New Roman" panose="02020603050405020304" pitchFamily="18" charset="0"/>
              </a:rPr>
              <a:t>: The user-defined Mapper function is applied to each record in the input split.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Mapper function transforms the input data into a set of key-value pairs, where the key is an intermediate key, and the value is an intermediate value</a:t>
            </a:r>
            <a:r>
              <a:rPr lang="en-US" sz="16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Shuffle and Sort</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After the Map phase, the MapReduce framework groups and sorts the intermediate key-value pairs based on their keys.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This </a:t>
            </a:r>
            <a:r>
              <a:rPr lang="en-US" sz="1600" dirty="0">
                <a:latin typeface="Times New Roman" panose="02020603050405020304" pitchFamily="18" charset="0"/>
                <a:cs typeface="Times New Roman" panose="02020603050405020304" pitchFamily="18" charset="0"/>
              </a:rPr>
              <a:t>is a crucial step as it prepares the data for the Reduce phase, where each Reducer will process all values associated with a specific key.</a:t>
            </a:r>
          </a:p>
          <a:p>
            <a:endParaRPr lang="en-IN" sz="1600" dirty="0"/>
          </a:p>
        </p:txBody>
      </p:sp>
    </p:spTree>
    <p:extLst>
      <p:ext uri="{BB962C8B-B14F-4D97-AF65-F5344CB8AC3E}">
        <p14:creationId xmlns:p14="http://schemas.microsoft.com/office/powerpoint/2010/main" val="3794041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763000" cy="5105400"/>
          </a:xfrm>
        </p:spPr>
        <p:txBody>
          <a:bodyPr>
            <a:noAutofit/>
          </a:bodyPr>
          <a:lstStyle/>
          <a:p>
            <a:pPr marL="0" indent="0">
              <a:buNone/>
            </a:pPr>
            <a:r>
              <a:rPr lang="en-US" sz="1600" b="1" dirty="0">
                <a:latin typeface="Times New Roman" panose="02020603050405020304" pitchFamily="18" charset="0"/>
                <a:cs typeface="Times New Roman" panose="02020603050405020304" pitchFamily="18" charset="0"/>
              </a:rPr>
              <a:t>Reduce Stage</a:t>
            </a:r>
            <a:r>
              <a:rPr lang="en-US" sz="1600" dirty="0">
                <a:latin typeface="Times New Roman" panose="02020603050405020304" pitchFamily="18" charset="0"/>
                <a:cs typeface="Times New Roman" panose="02020603050405020304" pitchFamily="18" charset="0"/>
              </a:rPr>
              <a:t>:</a:t>
            </a:r>
          </a:p>
          <a:p>
            <a:pPr lvl="1"/>
            <a:r>
              <a:rPr lang="en-US" sz="1600" b="1" dirty="0">
                <a:latin typeface="Times New Roman" panose="02020603050405020304" pitchFamily="18" charset="0"/>
                <a:cs typeface="Times New Roman" panose="02020603050405020304" pitchFamily="18" charset="0"/>
              </a:rPr>
              <a:t>Reducer Tasks</a:t>
            </a:r>
            <a:r>
              <a:rPr lang="en-US" sz="1600" dirty="0">
                <a:latin typeface="Times New Roman" panose="02020603050405020304" pitchFamily="18" charset="0"/>
                <a:cs typeface="Times New Roman" panose="02020603050405020304" pitchFamily="18" charset="0"/>
              </a:rPr>
              <a:t>: R</a:t>
            </a:r>
            <a:r>
              <a:rPr lang="en-US" sz="1600" dirty="0" smtClean="0">
                <a:latin typeface="Times New Roman" panose="02020603050405020304" pitchFamily="18" charset="0"/>
                <a:cs typeface="Times New Roman" panose="02020603050405020304" pitchFamily="18" charset="0"/>
              </a:rPr>
              <a:t>esponsible </a:t>
            </a:r>
            <a:r>
              <a:rPr lang="en-US" sz="1600" dirty="0">
                <a:latin typeface="Times New Roman" panose="02020603050405020304" pitchFamily="18" charset="0"/>
                <a:cs typeface="Times New Roman" panose="02020603050405020304" pitchFamily="18" charset="0"/>
              </a:rPr>
              <a:t>for processing the sorted intermediate data.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number of Reducer tasks can be specified by the user, and they run in parallel.</a:t>
            </a:r>
          </a:p>
          <a:p>
            <a:pPr lvl="1"/>
            <a:r>
              <a:rPr lang="en-US" sz="1600" b="1" dirty="0">
                <a:latin typeface="Times New Roman" panose="02020603050405020304" pitchFamily="18" charset="0"/>
                <a:cs typeface="Times New Roman" panose="02020603050405020304" pitchFamily="18" charset="0"/>
              </a:rPr>
              <a:t>Reducer Function</a:t>
            </a:r>
            <a:r>
              <a:rPr lang="en-US" sz="1600" dirty="0">
                <a:latin typeface="Times New Roman" panose="02020603050405020304" pitchFamily="18" charset="0"/>
                <a:cs typeface="Times New Roman" panose="02020603050405020304" pitchFamily="18" charset="0"/>
              </a:rPr>
              <a:t>: User-defined Reducer functions are applied to the groups of intermediate key-value pairs, one group at a time</a:t>
            </a:r>
            <a:r>
              <a:rPr lang="en-US" sz="16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Each Reducer processes a specific group of key-value pairs, which share the same key.</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The Reducer function can perform operations like </a:t>
            </a:r>
            <a:r>
              <a:rPr lang="en-US" sz="1600" b="1" dirty="0" smtClean="0">
                <a:solidFill>
                  <a:srgbClr val="FF0000"/>
                </a:solidFill>
                <a:latin typeface="Times New Roman" panose="02020603050405020304" pitchFamily="18" charset="0"/>
                <a:cs typeface="Times New Roman" panose="02020603050405020304" pitchFamily="18" charset="0"/>
              </a:rPr>
              <a:t>Aggregation, Summarization, Or Any Custom Logic </a:t>
            </a:r>
            <a:r>
              <a:rPr lang="en-US" sz="1600" dirty="0" smtClean="0">
                <a:latin typeface="Times New Roman" panose="02020603050405020304" pitchFamily="18" charset="0"/>
                <a:cs typeface="Times New Roman" panose="02020603050405020304" pitchFamily="18" charset="0"/>
              </a:rPr>
              <a:t>on </a:t>
            </a:r>
            <a:r>
              <a:rPr lang="en-US" sz="1600" dirty="0">
                <a:latin typeface="Times New Roman" panose="02020603050405020304" pitchFamily="18" charset="0"/>
                <a:cs typeface="Times New Roman" panose="02020603050405020304" pitchFamily="18" charset="0"/>
              </a:rPr>
              <a:t>the values associated with a key</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Output</a:t>
            </a:r>
            <a:r>
              <a:rPr lang="en-US" sz="1600"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The output of each Reducer is typically written to a distributed file system, such as HDFS. The output can be in the form of key-value pairs or any desired format.</a:t>
            </a:r>
          </a:p>
          <a:p>
            <a:pPr lvl="1"/>
            <a:r>
              <a:rPr lang="en-US" sz="1600" dirty="0" smtClean="0">
                <a:latin typeface="Times New Roman" panose="02020603050405020304" pitchFamily="18" charset="0"/>
                <a:cs typeface="Times New Roman" panose="02020603050405020304" pitchFamily="18" charset="0"/>
              </a:rPr>
              <a:t>Output can </a:t>
            </a:r>
            <a:r>
              <a:rPr lang="en-US" sz="1600" dirty="0">
                <a:latin typeface="Times New Roman" panose="02020603050405020304" pitchFamily="18" charset="0"/>
                <a:cs typeface="Times New Roman" panose="02020603050405020304" pitchFamily="18" charset="0"/>
              </a:rPr>
              <a:t>be used for further analysis or as input for other processes.</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7677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0"/>
            <a:ext cx="8763000" cy="5105400"/>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Job Control</a:t>
            </a:r>
            <a:r>
              <a:rPr lang="en-US" sz="1800" dirty="0">
                <a:latin typeface="Times New Roman" panose="02020603050405020304" pitchFamily="18" charset="0"/>
                <a:cs typeface="Times New Roman" panose="02020603050405020304" pitchFamily="18" charset="0"/>
              </a:rPr>
              <a:t>:</a:t>
            </a:r>
          </a:p>
          <a:p>
            <a:pPr lvl="1"/>
            <a:r>
              <a:rPr lang="en-US" sz="1800" dirty="0">
                <a:latin typeface="Times New Roman" panose="02020603050405020304" pitchFamily="18" charset="0"/>
                <a:cs typeface="Times New Roman" panose="02020603050405020304" pitchFamily="18" charset="0"/>
              </a:rPr>
              <a:t>The MapReduce framework manages the overall execution of the job, including task scheduling, monitoring, and fault tolerance.</a:t>
            </a:r>
          </a:p>
          <a:p>
            <a:pPr lvl="1"/>
            <a:r>
              <a:rPr lang="en-US" sz="1800" dirty="0">
                <a:latin typeface="Times New Roman" panose="02020603050405020304" pitchFamily="18" charset="0"/>
                <a:cs typeface="Times New Roman" panose="02020603050405020304" pitchFamily="18" charset="0"/>
              </a:rPr>
              <a:t>It ensures that all Map and Reduce tasks are completed successfully and can automatically re-run failed tasks on other nodes if necessary</a:t>
            </a:r>
            <a:r>
              <a:rPr lang="en-US" sz="1800" dirty="0" smtClean="0">
                <a:latin typeface="Times New Roman" panose="02020603050405020304" pitchFamily="18" charset="0"/>
                <a:cs typeface="Times New Roman" panose="02020603050405020304" pitchFamily="18" charset="0"/>
              </a:rPr>
              <a:t>.</a:t>
            </a:r>
          </a:p>
          <a:p>
            <a:pPr marL="393192" lvl="1" indent="0">
              <a:buNone/>
            </a:pPr>
            <a:endParaRPr lang="en-US" sz="1800" b="1" dirty="0" smtClean="0">
              <a:latin typeface="Times New Roman" panose="02020603050405020304" pitchFamily="18" charset="0"/>
              <a:cs typeface="Times New Roman" panose="02020603050405020304" pitchFamily="18" charset="0"/>
            </a:endParaRPr>
          </a:p>
          <a:p>
            <a:pPr marL="0" indent="0">
              <a:buNone/>
            </a:pPr>
            <a:r>
              <a:rPr lang="en-US" sz="1800" b="1" dirty="0" smtClean="0">
                <a:latin typeface="Times New Roman" panose="02020603050405020304" pitchFamily="18" charset="0"/>
                <a:cs typeface="Times New Roman" panose="02020603050405020304" pitchFamily="18" charset="0"/>
              </a:rPr>
              <a:t>Completion </a:t>
            </a:r>
            <a:r>
              <a:rPr lang="en-US" sz="1800" b="1" dirty="0">
                <a:latin typeface="Times New Roman" panose="02020603050405020304" pitchFamily="18" charset="0"/>
                <a:cs typeface="Times New Roman" panose="02020603050405020304" pitchFamily="18" charset="0"/>
              </a:rPr>
              <a:t>and Cleanup</a:t>
            </a:r>
            <a:r>
              <a:rPr lang="en-US" sz="1800" dirty="0">
                <a:latin typeface="Times New Roman" panose="02020603050405020304" pitchFamily="18" charset="0"/>
                <a:cs typeface="Times New Roman" panose="02020603050405020304" pitchFamily="18" charset="0"/>
              </a:rPr>
              <a:t>:</a:t>
            </a:r>
          </a:p>
          <a:p>
            <a:pPr lvl="1"/>
            <a:r>
              <a:rPr lang="en-US" sz="1800" dirty="0">
                <a:latin typeface="Times New Roman" panose="02020603050405020304" pitchFamily="18" charset="0"/>
                <a:cs typeface="Times New Roman" panose="02020603050405020304" pitchFamily="18" charset="0"/>
              </a:rPr>
              <a:t>Once all Map and Reduce tasks have completed successfully, the MapReduce job is marked as complete.</a:t>
            </a:r>
          </a:p>
          <a:p>
            <a:pPr lvl="1"/>
            <a:r>
              <a:rPr lang="en-US" sz="1800" dirty="0">
                <a:latin typeface="Times New Roman" panose="02020603050405020304" pitchFamily="18" charset="0"/>
                <a:cs typeface="Times New Roman" panose="02020603050405020304" pitchFamily="18" charset="0"/>
              </a:rPr>
              <a:t>Temporary files and resources used during the job execution are cleaned up</a:t>
            </a:r>
            <a:r>
              <a:rPr lang="en-US" sz="1800" dirty="0" smtClean="0">
                <a:latin typeface="Times New Roman" panose="02020603050405020304" pitchFamily="18" charset="0"/>
                <a:cs typeface="Times New Roman" panose="02020603050405020304" pitchFamily="18" charset="0"/>
              </a:rPr>
              <a:t>.</a:t>
            </a:r>
          </a:p>
          <a:p>
            <a:pPr marL="393192" lvl="1"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Result Analysis</a:t>
            </a:r>
            <a:r>
              <a:rPr lang="en-US" sz="1800" dirty="0">
                <a:latin typeface="Times New Roman" panose="02020603050405020304" pitchFamily="18" charset="0"/>
                <a:cs typeface="Times New Roman" panose="02020603050405020304" pitchFamily="18" charset="0"/>
              </a:rPr>
              <a:t>:</a:t>
            </a:r>
          </a:p>
          <a:p>
            <a:pPr lvl="1"/>
            <a:r>
              <a:rPr lang="en-US" sz="1800" dirty="0">
                <a:latin typeface="Times New Roman" panose="02020603050405020304" pitchFamily="18" charset="0"/>
                <a:cs typeface="Times New Roman" panose="02020603050405020304" pitchFamily="18" charset="0"/>
              </a:rPr>
              <a:t>After the MapReduce job is finished, the user can analyze the output data to extract meaningful insights or perform further processing.</a:t>
            </a:r>
          </a:p>
          <a:p>
            <a:pPr marL="0" indent="0">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413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1143000"/>
          </a:xfrm>
        </p:spPr>
        <p:txBody>
          <a:bodyPr>
            <a:normAutofit/>
          </a:bodyPr>
          <a:lstStyle/>
          <a:p>
            <a:r>
              <a:rPr lang="en-US" sz="3200" b="1" dirty="0" smtClean="0">
                <a:solidFill>
                  <a:srgbClr val="FF0000"/>
                </a:solidFill>
                <a:latin typeface="Times New Roman" panose="02020603050405020304" pitchFamily="18" charset="0"/>
                <a:cs typeface="Times New Roman" panose="02020603050405020304" pitchFamily="18" charset="0"/>
              </a:rPr>
              <a:t>Classic Map reduce - Original Implementation</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600200"/>
            <a:ext cx="8686800" cy="5181600"/>
          </a:xfrm>
        </p:spPr>
        <p:txBody>
          <a:bodyPr>
            <a:noAutofit/>
          </a:bodyPr>
          <a:lstStyle/>
          <a:p>
            <a:pPr marL="0" indent="0">
              <a:buNone/>
            </a:pPr>
            <a:endParaRPr lang="en-US" sz="1400" dirty="0" smtClean="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It is Developed by Google </a:t>
            </a:r>
            <a:r>
              <a:rPr lang="en-US" sz="1400" dirty="0" smtClean="0">
                <a:latin typeface="Times New Roman" panose="02020603050405020304" pitchFamily="18" charset="0"/>
                <a:cs typeface="Times New Roman" panose="02020603050405020304" pitchFamily="18" charset="0"/>
              </a:rPr>
              <a:t>in 2004</a:t>
            </a:r>
          </a:p>
          <a:p>
            <a:r>
              <a:rPr lang="en-US" sz="1400" dirty="0" smtClean="0">
                <a:latin typeface="Times New Roman" panose="02020603050405020304" pitchFamily="18" charset="0"/>
                <a:cs typeface="Times New Roman" panose="02020603050405020304" pitchFamily="18" charset="0"/>
              </a:rPr>
              <a:t>The </a:t>
            </a:r>
            <a:r>
              <a:rPr lang="en-US" sz="1400" dirty="0">
                <a:latin typeface="Times New Roman" panose="02020603050405020304" pitchFamily="18" charset="0"/>
                <a:cs typeface="Times New Roman" panose="02020603050405020304" pitchFamily="18" charset="0"/>
              </a:rPr>
              <a:t>classic MapReduce </a:t>
            </a:r>
            <a:r>
              <a:rPr lang="en-US" sz="1400" dirty="0" smtClean="0">
                <a:latin typeface="Times New Roman" panose="02020603050405020304" pitchFamily="18" charset="0"/>
                <a:cs typeface="Times New Roman" panose="02020603050405020304" pitchFamily="18" charset="0"/>
              </a:rPr>
              <a:t> is a framework </a:t>
            </a:r>
            <a:r>
              <a:rPr lang="en-US" sz="1400" dirty="0">
                <a:latin typeface="Times New Roman" panose="02020603050405020304" pitchFamily="18" charset="0"/>
                <a:cs typeface="Times New Roman" panose="02020603050405020304" pitchFamily="18" charset="0"/>
              </a:rPr>
              <a:t>consists of two main phases: </a:t>
            </a:r>
            <a:endParaRPr lang="en-US" sz="14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T</a:t>
            </a:r>
            <a:r>
              <a:rPr lang="en-US" sz="1200" dirty="0" smtClean="0">
                <a:latin typeface="Times New Roman" panose="02020603050405020304" pitchFamily="18" charset="0"/>
                <a:cs typeface="Times New Roman" panose="02020603050405020304" pitchFamily="18" charset="0"/>
              </a:rPr>
              <a:t>he </a:t>
            </a:r>
            <a:r>
              <a:rPr lang="en-US" sz="1200" dirty="0">
                <a:latin typeface="Times New Roman" panose="02020603050405020304" pitchFamily="18" charset="0"/>
                <a:cs typeface="Times New Roman" panose="02020603050405020304" pitchFamily="18" charset="0"/>
              </a:rPr>
              <a:t>Map phase </a:t>
            </a:r>
            <a:r>
              <a:rPr lang="en-US" sz="1200" dirty="0" smtClean="0">
                <a:latin typeface="Times New Roman" panose="02020603050405020304" pitchFamily="18" charset="0"/>
                <a:cs typeface="Times New Roman" panose="02020603050405020304" pitchFamily="18" charset="0"/>
              </a:rPr>
              <a:t> </a:t>
            </a:r>
          </a:p>
          <a:p>
            <a:pPr lvl="1">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T</a:t>
            </a:r>
            <a:r>
              <a:rPr lang="en-US" sz="1200" dirty="0" smtClean="0">
                <a:latin typeface="Times New Roman" panose="02020603050405020304" pitchFamily="18" charset="0"/>
                <a:cs typeface="Times New Roman" panose="02020603050405020304" pitchFamily="18" charset="0"/>
              </a:rPr>
              <a:t>he </a:t>
            </a:r>
            <a:r>
              <a:rPr lang="en-US" sz="1200" dirty="0">
                <a:latin typeface="Times New Roman" panose="02020603050405020304" pitchFamily="18" charset="0"/>
                <a:cs typeface="Times New Roman" panose="02020603050405020304" pitchFamily="18" charset="0"/>
              </a:rPr>
              <a:t>Reduce </a:t>
            </a:r>
            <a:r>
              <a:rPr lang="en-US" sz="1200" dirty="0" smtClean="0">
                <a:latin typeface="Times New Roman" panose="02020603050405020304" pitchFamily="18" charset="0"/>
                <a:cs typeface="Times New Roman" panose="02020603050405020304" pitchFamily="18" charset="0"/>
              </a:rPr>
              <a:t>phase</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Map Phase</a:t>
            </a:r>
            <a:r>
              <a:rPr lang="en-US" sz="1400" dirty="0">
                <a:latin typeface="Times New Roman" panose="02020603050405020304" pitchFamily="18" charset="0"/>
                <a:cs typeface="Times New Roman" panose="02020603050405020304" pitchFamily="18" charset="0"/>
              </a:rPr>
              <a:t>:</a:t>
            </a:r>
          </a:p>
          <a:p>
            <a:pPr marL="393192" lvl="1" indent="0">
              <a:buNone/>
            </a:pPr>
            <a:r>
              <a:rPr lang="en-US" sz="1400" b="1" dirty="0">
                <a:latin typeface="Times New Roman" panose="02020603050405020304" pitchFamily="18" charset="0"/>
                <a:cs typeface="Times New Roman" panose="02020603050405020304" pitchFamily="18" charset="0"/>
              </a:rPr>
              <a:t>Input Data</a:t>
            </a:r>
            <a:r>
              <a:rPr lang="en-US" sz="1400" dirty="0">
                <a:latin typeface="Times New Roman" panose="02020603050405020304" pitchFamily="18" charset="0"/>
                <a:cs typeface="Times New Roman" panose="02020603050405020304" pitchFamily="18" charset="0"/>
              </a:rPr>
              <a:t>: The input data is divided into chunks, typically referred to as Input Splits. </a:t>
            </a:r>
            <a:endParaRPr lang="en-US" sz="14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400" dirty="0" smtClean="0">
                <a:latin typeface="Times New Roman" panose="02020603050405020304" pitchFamily="18" charset="0"/>
                <a:cs typeface="Times New Roman" panose="02020603050405020304" pitchFamily="18" charset="0"/>
              </a:rPr>
              <a:t>These </a:t>
            </a:r>
            <a:r>
              <a:rPr lang="en-US" sz="1400" dirty="0">
                <a:latin typeface="Times New Roman" panose="02020603050405020304" pitchFamily="18" charset="0"/>
                <a:cs typeface="Times New Roman" panose="02020603050405020304" pitchFamily="18" charset="0"/>
              </a:rPr>
              <a:t>chunks are distributed across the nodes of a cluster</a:t>
            </a:r>
            <a:r>
              <a:rPr lang="en-US" sz="1400" dirty="0" smtClean="0">
                <a:latin typeface="Times New Roman" panose="02020603050405020304" pitchFamily="18" charset="0"/>
                <a:cs typeface="Times New Roman" panose="02020603050405020304" pitchFamily="18" charset="0"/>
              </a:rPr>
              <a:t>.</a:t>
            </a:r>
          </a:p>
          <a:p>
            <a:pPr marL="393192" lvl="1" indent="0">
              <a:buNone/>
            </a:pPr>
            <a:endParaRPr lang="en-US" sz="1400" dirty="0">
              <a:latin typeface="Times New Roman" panose="02020603050405020304" pitchFamily="18" charset="0"/>
              <a:cs typeface="Times New Roman" panose="02020603050405020304" pitchFamily="18" charset="0"/>
            </a:endParaRPr>
          </a:p>
          <a:p>
            <a:pPr marL="393192" lvl="1" indent="0">
              <a:buNone/>
            </a:pPr>
            <a:r>
              <a:rPr lang="en-US" sz="1400" b="1" dirty="0">
                <a:latin typeface="Times New Roman" panose="02020603050405020304" pitchFamily="18" charset="0"/>
                <a:cs typeface="Times New Roman" panose="02020603050405020304" pitchFamily="18" charset="0"/>
              </a:rPr>
              <a:t>Mapper Function</a:t>
            </a:r>
            <a:r>
              <a:rPr lang="en-US" sz="1400" dirty="0">
                <a:latin typeface="Times New Roman" panose="02020603050405020304" pitchFamily="18" charset="0"/>
                <a:cs typeface="Times New Roman" panose="02020603050405020304" pitchFamily="18" charset="0"/>
              </a:rPr>
              <a:t>: Developers provide a user-defined Mapper function, which processes each record in an Input Split independently. </a:t>
            </a:r>
            <a:endParaRPr lang="en-US" sz="14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400" dirty="0" smtClean="0">
                <a:latin typeface="Times New Roman" panose="02020603050405020304" pitchFamily="18" charset="0"/>
                <a:cs typeface="Times New Roman" panose="02020603050405020304" pitchFamily="18" charset="0"/>
              </a:rPr>
              <a:t>The </a:t>
            </a:r>
            <a:r>
              <a:rPr lang="en-US" sz="1400" dirty="0">
                <a:latin typeface="Times New Roman" panose="02020603050405020304" pitchFamily="18" charset="0"/>
                <a:cs typeface="Times New Roman" panose="02020603050405020304" pitchFamily="18" charset="0"/>
              </a:rPr>
              <a:t>Mapper function transforms the input data into a set of key-value pairs. </a:t>
            </a:r>
            <a:endParaRPr lang="en-US" sz="14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400" dirty="0" smtClean="0">
                <a:latin typeface="Times New Roman" panose="02020603050405020304" pitchFamily="18" charset="0"/>
                <a:cs typeface="Times New Roman" panose="02020603050405020304" pitchFamily="18" charset="0"/>
              </a:rPr>
              <a:t>The </a:t>
            </a:r>
            <a:r>
              <a:rPr lang="en-US" sz="1400" dirty="0">
                <a:latin typeface="Times New Roman" panose="02020603050405020304" pitchFamily="18" charset="0"/>
                <a:cs typeface="Times New Roman" panose="02020603050405020304" pitchFamily="18" charset="0"/>
              </a:rPr>
              <a:t>key represents some characteristic of the data, and the value can be any data associated with that key</a:t>
            </a:r>
            <a:r>
              <a:rPr lang="en-US" sz="1400" dirty="0" smtClean="0">
                <a:latin typeface="Times New Roman" panose="02020603050405020304" pitchFamily="18" charset="0"/>
                <a:cs typeface="Times New Roman" panose="02020603050405020304" pitchFamily="18" charset="0"/>
              </a:rPr>
              <a:t>.</a:t>
            </a:r>
          </a:p>
          <a:p>
            <a:pPr marL="393192" lvl="1" indent="0">
              <a:buNone/>
            </a:pPr>
            <a:endParaRPr lang="en-US" sz="1400" dirty="0">
              <a:latin typeface="Times New Roman" panose="02020603050405020304" pitchFamily="18" charset="0"/>
              <a:cs typeface="Times New Roman" panose="02020603050405020304" pitchFamily="18" charset="0"/>
            </a:endParaRPr>
          </a:p>
          <a:p>
            <a:pPr marL="393192" lvl="1" indent="0">
              <a:buNone/>
            </a:pPr>
            <a:r>
              <a:rPr lang="en-US" sz="1400" b="1" dirty="0">
                <a:latin typeface="Times New Roman" panose="02020603050405020304" pitchFamily="18" charset="0"/>
                <a:cs typeface="Times New Roman" panose="02020603050405020304" pitchFamily="18" charset="0"/>
              </a:rPr>
              <a:t>Intermediate Data</a:t>
            </a:r>
            <a:r>
              <a:rPr lang="en-US" sz="1400" dirty="0">
                <a:latin typeface="Times New Roman" panose="02020603050405020304" pitchFamily="18" charset="0"/>
                <a:cs typeface="Times New Roman" panose="02020603050405020304" pitchFamily="18" charset="0"/>
              </a:rPr>
              <a:t>: The output of the Mapper function is called intermediate data. </a:t>
            </a:r>
            <a:endParaRPr lang="en-US" sz="14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400" dirty="0" smtClean="0">
                <a:latin typeface="Times New Roman" panose="02020603050405020304" pitchFamily="18" charset="0"/>
                <a:cs typeface="Times New Roman" panose="02020603050405020304" pitchFamily="18" charset="0"/>
              </a:rPr>
              <a:t>It </a:t>
            </a:r>
            <a:r>
              <a:rPr lang="en-US" sz="1400" dirty="0">
                <a:latin typeface="Times New Roman" panose="02020603050405020304" pitchFamily="18" charset="0"/>
                <a:cs typeface="Times New Roman" panose="02020603050405020304" pitchFamily="18" charset="0"/>
              </a:rPr>
              <a:t>consists of a collection of key-value pairs generated by all the Mapper tasks across the cluster. </a:t>
            </a:r>
            <a:endParaRPr lang="en-US" sz="14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400" dirty="0" smtClean="0">
                <a:latin typeface="Times New Roman" panose="02020603050405020304" pitchFamily="18" charset="0"/>
                <a:cs typeface="Times New Roman" panose="02020603050405020304" pitchFamily="18" charset="0"/>
              </a:rPr>
              <a:t>These </a:t>
            </a:r>
            <a:r>
              <a:rPr lang="en-US" sz="1400" dirty="0">
                <a:latin typeface="Times New Roman" panose="02020603050405020304" pitchFamily="18" charset="0"/>
                <a:cs typeface="Times New Roman" panose="02020603050405020304" pitchFamily="18" charset="0"/>
              </a:rPr>
              <a:t>intermediate key-value pairs are not yet aggregated or grouped</a:t>
            </a:r>
            <a:r>
              <a:rPr lang="en-US" sz="1400" dirty="0" smtClean="0">
                <a:latin typeface="Times New Roman" panose="02020603050405020304" pitchFamily="18" charset="0"/>
                <a:cs typeface="Times New Roman" panose="02020603050405020304" pitchFamily="18" charset="0"/>
              </a:rPr>
              <a:t>.</a:t>
            </a:r>
          </a:p>
          <a:p>
            <a:pPr marL="393192" lvl="1"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2221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610600" cy="5715000"/>
          </a:xfrm>
        </p:spPr>
        <p:txBody>
          <a:bodyPr>
            <a:noAutofit/>
          </a:bodyPr>
          <a:lstStyle/>
          <a:p>
            <a:pPr marL="0" indent="0">
              <a:buNone/>
            </a:pPr>
            <a:r>
              <a:rPr lang="en-US" sz="1600" b="1" dirty="0">
                <a:latin typeface="Times New Roman" panose="02020603050405020304" pitchFamily="18" charset="0"/>
                <a:cs typeface="Times New Roman" panose="02020603050405020304" pitchFamily="18" charset="0"/>
              </a:rPr>
              <a:t>Shuffle and Sort</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After the Map phase, the MapReduce framework groups and sorts the intermediate key-value pairs based on their keys.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This </a:t>
            </a:r>
            <a:r>
              <a:rPr lang="en-US" sz="1600" dirty="0">
                <a:latin typeface="Times New Roman" panose="02020603050405020304" pitchFamily="18" charset="0"/>
                <a:cs typeface="Times New Roman" panose="02020603050405020304" pitchFamily="18" charset="0"/>
              </a:rPr>
              <a:t>process ensures that all values associated with the same key are grouped together.</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The Shuffle and Sort phase is critical as it prepares the data for the Reduce phase.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It </a:t>
            </a:r>
            <a:r>
              <a:rPr lang="en-US" sz="1600" dirty="0">
                <a:latin typeface="Times New Roman" panose="02020603050405020304" pitchFamily="18" charset="0"/>
                <a:cs typeface="Times New Roman" panose="02020603050405020304" pitchFamily="18" charset="0"/>
              </a:rPr>
              <a:t>allows the framework to send all values for a particular key to the same Reducer</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b="1" dirty="0" smtClean="0">
              <a:latin typeface="Times New Roman" panose="02020603050405020304" pitchFamily="18" charset="0"/>
              <a:cs typeface="Times New Roman" panose="02020603050405020304" pitchFamily="18" charset="0"/>
            </a:endParaRPr>
          </a:p>
          <a:p>
            <a:pPr marL="0" indent="0">
              <a:buNone/>
            </a:pPr>
            <a:r>
              <a:rPr lang="en-US" sz="1600" b="1" dirty="0" smtClean="0">
                <a:latin typeface="Times New Roman" panose="02020603050405020304" pitchFamily="18" charset="0"/>
                <a:cs typeface="Times New Roman" panose="02020603050405020304" pitchFamily="18" charset="0"/>
              </a:rPr>
              <a:t>Reduce </a:t>
            </a:r>
            <a:r>
              <a:rPr lang="en-US" sz="1600" b="1" dirty="0">
                <a:latin typeface="Times New Roman" panose="02020603050405020304" pitchFamily="18" charset="0"/>
                <a:cs typeface="Times New Roman" panose="02020603050405020304" pitchFamily="18" charset="0"/>
              </a:rPr>
              <a:t>Phase</a:t>
            </a:r>
            <a:r>
              <a:rPr lang="en-US" sz="1600" dirty="0">
                <a:latin typeface="Times New Roman" panose="02020603050405020304" pitchFamily="18" charset="0"/>
                <a:cs typeface="Times New Roman" panose="02020603050405020304" pitchFamily="18" charset="0"/>
              </a:rPr>
              <a:t>:</a:t>
            </a:r>
          </a:p>
          <a:p>
            <a:pPr marL="393192" lvl="1" indent="0">
              <a:buNone/>
            </a:pPr>
            <a:r>
              <a:rPr lang="en-US" sz="1600" b="1" dirty="0">
                <a:latin typeface="Times New Roman" panose="02020603050405020304" pitchFamily="18" charset="0"/>
                <a:cs typeface="Times New Roman" panose="02020603050405020304" pitchFamily="18" charset="0"/>
              </a:rPr>
              <a:t>Reducer Tasks</a:t>
            </a:r>
            <a:r>
              <a:rPr lang="en-US" sz="1600" dirty="0">
                <a:latin typeface="Times New Roman" panose="02020603050405020304" pitchFamily="18" charset="0"/>
                <a:cs typeface="Times New Roman" panose="02020603050405020304" pitchFamily="18" charset="0"/>
              </a:rPr>
              <a:t>: The user defines one or more Reducer functions, which are responsible for processing the grouped and sorted intermediate data.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Reducer </a:t>
            </a:r>
            <a:r>
              <a:rPr lang="en-US" sz="1600" dirty="0">
                <a:latin typeface="Times New Roman" panose="02020603050405020304" pitchFamily="18" charset="0"/>
                <a:cs typeface="Times New Roman" panose="02020603050405020304" pitchFamily="18" charset="0"/>
              </a:rPr>
              <a:t>tasks run in parallel, and each task processes a specific group of key-value pairs</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marL="393192" lvl="1" indent="0">
              <a:buNone/>
            </a:pPr>
            <a:r>
              <a:rPr lang="en-US" sz="1600" b="1" dirty="0">
                <a:latin typeface="Times New Roman" panose="02020603050405020304" pitchFamily="18" charset="0"/>
                <a:cs typeface="Times New Roman" panose="02020603050405020304" pitchFamily="18" charset="0"/>
              </a:rPr>
              <a:t>Reducer Function</a:t>
            </a:r>
            <a:r>
              <a:rPr lang="en-US" sz="1600" dirty="0">
                <a:latin typeface="Times New Roman" panose="02020603050405020304" pitchFamily="18" charset="0"/>
                <a:cs typeface="Times New Roman" panose="02020603050405020304" pitchFamily="18" charset="0"/>
              </a:rPr>
              <a:t>: The Reducer function takes the key and a list of values associated with that key as input and performs user-defined processing.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Reducers </a:t>
            </a:r>
            <a:r>
              <a:rPr lang="en-US" sz="1600" dirty="0">
                <a:latin typeface="Times New Roman" panose="02020603050405020304" pitchFamily="18" charset="0"/>
                <a:cs typeface="Times New Roman" panose="02020603050405020304" pitchFamily="18" charset="0"/>
              </a:rPr>
              <a:t>are responsible for aggregating, summarizing, or otherwise processing the data</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marL="393192" lvl="1" indent="0">
              <a:buNone/>
            </a:pPr>
            <a:r>
              <a:rPr lang="en-US" sz="1600" b="1" dirty="0">
                <a:latin typeface="Times New Roman" panose="02020603050405020304" pitchFamily="18" charset="0"/>
                <a:cs typeface="Times New Roman" panose="02020603050405020304" pitchFamily="18" charset="0"/>
              </a:rPr>
              <a:t>Output Data</a:t>
            </a:r>
            <a:r>
              <a:rPr lang="en-US" sz="1600" dirty="0">
                <a:latin typeface="Times New Roman" panose="02020603050405020304" pitchFamily="18" charset="0"/>
                <a:cs typeface="Times New Roman" panose="02020603050405020304" pitchFamily="18" charset="0"/>
              </a:rPr>
              <a:t>: The output of each Reducer is typically written to a distributed file system, such as Hadoop Distributed File System (HDFS). The output can be in the form of key-value pairs or any desired format</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lvl="1"/>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9388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229600" cy="4389120"/>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Job Control and Fault Tolerance</a:t>
            </a:r>
            <a:r>
              <a:rPr lang="en-US" sz="18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The MapReduce framework manages the overall execution of the job, including task scheduling, monitoring, and fault tolerance.</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It ensures that all Map and Reduce tasks are completed successfully and can automatically re-run failed tasks on other nodes if necessary.</a:t>
            </a:r>
          </a:p>
          <a:p>
            <a:pPr marL="393192" lvl="1"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Completion and Cleanup</a:t>
            </a:r>
            <a:r>
              <a:rPr lang="en-US" sz="18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Once all Map and Reduce tasks have completed successfully, the MapReduce job is marked as complete.</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Temporary files and resources used during the job execution are cleaned up.</a:t>
            </a:r>
          </a:p>
          <a:p>
            <a:endParaRPr lang="en-IN" sz="1800" dirty="0"/>
          </a:p>
        </p:txBody>
      </p:sp>
    </p:spTree>
    <p:extLst>
      <p:ext uri="{BB962C8B-B14F-4D97-AF65-F5344CB8AC3E}">
        <p14:creationId xmlns:p14="http://schemas.microsoft.com/office/powerpoint/2010/main" val="3285881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Developments in MR compared to CMR</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524000"/>
            <a:ext cx="8686800" cy="5181600"/>
          </a:xfrm>
        </p:spPr>
        <p:txBody>
          <a:bodyPr>
            <a:noAutofit/>
          </a:bodyPr>
          <a:lstStyle/>
          <a:p>
            <a:pPr marL="0" indent="0">
              <a:buNone/>
            </a:pPr>
            <a:r>
              <a:rPr lang="en-US" sz="1600" dirty="0">
                <a:latin typeface="Times New Roman" panose="02020603050405020304" pitchFamily="18" charset="0"/>
                <a:cs typeface="Times New Roman" panose="02020603050405020304" pitchFamily="18" charset="0"/>
              </a:rPr>
              <a:t>some insights into trends and advancements in the field up to that point</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600" b="1" dirty="0">
                <a:latin typeface="Times New Roman" panose="02020603050405020304" pitchFamily="18" charset="0"/>
                <a:cs typeface="Times New Roman" panose="02020603050405020304" pitchFamily="18" charset="0"/>
              </a:rPr>
              <a:t>In-Memory </a:t>
            </a:r>
            <a:r>
              <a:rPr lang="en-US" sz="1600" b="1" dirty="0" smtClean="0">
                <a:latin typeface="Times New Roman" panose="02020603050405020304" pitchFamily="18" charset="0"/>
                <a:cs typeface="Times New Roman" panose="02020603050405020304" pitchFamily="18" charset="0"/>
              </a:rPr>
              <a:t>Processing</a:t>
            </a:r>
            <a:endParaRPr lang="en-US" sz="16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Iterative Processing</a:t>
            </a:r>
            <a:endParaRPr lang="en-US" sz="16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Real-time Processing</a:t>
            </a:r>
            <a:endParaRPr lang="en-US" sz="16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Unified </a:t>
            </a:r>
            <a:r>
              <a:rPr lang="en-US" sz="1600" b="1" dirty="0">
                <a:latin typeface="Times New Roman" panose="02020603050405020304" pitchFamily="18" charset="0"/>
                <a:cs typeface="Times New Roman" panose="02020603050405020304" pitchFamily="18" charset="0"/>
              </a:rPr>
              <a:t>Processing </a:t>
            </a:r>
            <a:r>
              <a:rPr lang="en-US" sz="1600" b="1" dirty="0" smtClean="0">
                <a:latin typeface="Times New Roman" panose="02020603050405020304" pitchFamily="18" charset="0"/>
                <a:cs typeface="Times New Roman" panose="02020603050405020304" pitchFamily="18" charset="0"/>
              </a:rPr>
              <a:t>Models</a:t>
            </a:r>
          </a:p>
          <a:p>
            <a:pPr>
              <a:buFont typeface="Wingdings" panose="05000000000000000000" pitchFamily="2" charset="2"/>
              <a:buChar char="ü"/>
            </a:pPr>
            <a:endParaRPr lang="en-US" sz="16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Ecosystem </a:t>
            </a:r>
            <a:r>
              <a:rPr lang="en-US" sz="1600" b="1" dirty="0">
                <a:latin typeface="Times New Roman" panose="02020603050405020304" pitchFamily="18" charset="0"/>
                <a:cs typeface="Times New Roman" panose="02020603050405020304" pitchFamily="18" charset="0"/>
              </a:rPr>
              <a:t>Growth:</a:t>
            </a:r>
            <a:r>
              <a:rPr lang="en-US" sz="1600" dirty="0">
                <a:latin typeface="Times New Roman" panose="02020603050405020304" pitchFamily="18" charset="0"/>
                <a:cs typeface="Times New Roman" panose="02020603050405020304" pitchFamily="18" charset="0"/>
              </a:rPr>
              <a:t> V</a:t>
            </a:r>
            <a:r>
              <a:rPr lang="en-US" sz="1600" dirty="0" smtClean="0">
                <a:latin typeface="Times New Roman" panose="02020603050405020304" pitchFamily="18" charset="0"/>
                <a:cs typeface="Times New Roman" panose="02020603050405020304" pitchFamily="18" charset="0"/>
              </a:rPr>
              <a:t>arious </a:t>
            </a:r>
            <a:r>
              <a:rPr lang="en-US" sz="1600" dirty="0">
                <a:latin typeface="Times New Roman" panose="02020603050405020304" pitchFamily="18" charset="0"/>
                <a:cs typeface="Times New Roman" panose="02020603050405020304" pitchFamily="18" charset="0"/>
              </a:rPr>
              <a:t>tools and libraries built around it to address specific use cases. </a:t>
            </a:r>
            <a:endParaRPr lang="en-US" sz="16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Resource </a:t>
            </a:r>
            <a:r>
              <a:rPr lang="en-US" sz="1600" b="1" dirty="0">
                <a:latin typeface="Times New Roman" panose="02020603050405020304" pitchFamily="18" charset="0"/>
                <a:cs typeface="Times New Roman" panose="02020603050405020304" pitchFamily="18" charset="0"/>
              </a:rPr>
              <a:t>Management:</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Technologies </a:t>
            </a:r>
            <a:r>
              <a:rPr lang="en-US" sz="1600" dirty="0">
                <a:latin typeface="Times New Roman" panose="02020603050405020304" pitchFamily="18" charset="0"/>
                <a:cs typeface="Times New Roman" panose="02020603050405020304" pitchFamily="18" charset="0"/>
              </a:rPr>
              <a:t>like Kubernetes and Apache Mesos provide more dynamic and fine-grained resource allocation for applications running on clusters.</a:t>
            </a:r>
          </a:p>
          <a:p>
            <a:pPr>
              <a:buFont typeface="Wingdings" panose="05000000000000000000" pitchFamily="2" charset="2"/>
              <a:buChar char="ü"/>
            </a:pPr>
            <a:r>
              <a:rPr lang="en-US" sz="1600" b="1" dirty="0">
                <a:latin typeface="Times New Roman" panose="02020603050405020304" pitchFamily="18" charset="0"/>
                <a:cs typeface="Times New Roman" panose="02020603050405020304" pitchFamily="18" charset="0"/>
              </a:rPr>
              <a:t>Integration with Cloud Services:</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Cloud </a:t>
            </a:r>
            <a:r>
              <a:rPr lang="en-US" sz="1600" dirty="0">
                <a:latin typeface="Times New Roman" panose="02020603050405020304" pitchFamily="18" charset="0"/>
                <a:cs typeface="Times New Roman" panose="02020603050405020304" pitchFamily="18" charset="0"/>
              </a:rPr>
              <a:t>providers like AWS, Google Cloud, and Azure offer managed services for big data processing that leverage these frameworks</a:t>
            </a:r>
            <a:r>
              <a:rPr lang="en-US" sz="16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600" b="1" dirty="0">
                <a:latin typeface="Times New Roman" panose="02020603050405020304" pitchFamily="18" charset="0"/>
                <a:cs typeface="Times New Roman" panose="02020603050405020304" pitchFamily="18" charset="0"/>
              </a:rPr>
              <a:t>SQL </a:t>
            </a:r>
            <a:r>
              <a:rPr lang="en-US" sz="1600" b="1" dirty="0" smtClean="0">
                <a:latin typeface="Times New Roman" panose="02020603050405020304" pitchFamily="18" charset="0"/>
                <a:cs typeface="Times New Roman" panose="02020603050405020304" pitchFamily="18" charset="0"/>
              </a:rPr>
              <a:t>Support</a:t>
            </a:r>
          </a:p>
          <a:p>
            <a:pPr>
              <a:buFont typeface="Wingdings" panose="05000000000000000000" pitchFamily="2" charset="2"/>
              <a:buChar char="ü"/>
            </a:pPr>
            <a:endParaRPr lang="en-US" sz="1600"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Graph </a:t>
            </a:r>
            <a:r>
              <a:rPr lang="en-US" sz="1600" b="1" dirty="0">
                <a:latin typeface="Times New Roman" panose="02020603050405020304" pitchFamily="18" charset="0"/>
                <a:cs typeface="Times New Roman" panose="02020603050405020304" pitchFamily="18" charset="0"/>
              </a:rPr>
              <a:t>Processing:</a:t>
            </a:r>
            <a:r>
              <a:rPr lang="en-US" sz="1600" dirty="0">
                <a:latin typeface="Times New Roman" panose="02020603050405020304" pitchFamily="18" charset="0"/>
                <a:cs typeface="Times New Roman" panose="02020603050405020304" pitchFamily="18" charset="0"/>
              </a:rPr>
              <a:t> Frameworks like Apache Giraph and GraphX (part of Apache Spark) have emerged to handle graph processing use cases, which were not well-suited for classic MapReduce.</a:t>
            </a:r>
          </a:p>
          <a:p>
            <a:pPr>
              <a:buFont typeface="Wingdings" panose="05000000000000000000" pitchFamily="2" charset="2"/>
              <a:buChar char="ü"/>
            </a:pPr>
            <a:r>
              <a:rPr lang="en-US" sz="1600" b="1" dirty="0">
                <a:latin typeface="Times New Roman" panose="02020603050405020304" pitchFamily="18" charset="0"/>
                <a:cs typeface="Times New Roman" panose="02020603050405020304" pitchFamily="18" charset="0"/>
              </a:rPr>
              <a:t>Machine Learning Integration:</a:t>
            </a:r>
            <a:r>
              <a:rPr lang="en-US" sz="1600" dirty="0">
                <a:latin typeface="Times New Roman" panose="02020603050405020304" pitchFamily="18" charset="0"/>
                <a:cs typeface="Times New Roman" panose="02020603050405020304" pitchFamily="18" charset="0"/>
              </a:rPr>
              <a:t> Many data processing frameworks have integrated machine learning libraries and algorithms, enabling users to perform machine learning tasks at scale.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Apache </a:t>
            </a:r>
            <a:r>
              <a:rPr lang="en-US" sz="1600" dirty="0">
                <a:latin typeface="Times New Roman" panose="02020603050405020304" pitchFamily="18" charset="0"/>
                <a:cs typeface="Times New Roman" panose="02020603050405020304" pitchFamily="18" charset="0"/>
              </a:rPr>
              <a:t>Spark's MLlib is a notable example.</a:t>
            </a:r>
          </a:p>
          <a:p>
            <a:pPr>
              <a:buFont typeface="Wingdings" panose="05000000000000000000" pitchFamily="2" charset="2"/>
              <a:buChar char="ü"/>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1249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Failures in </a:t>
            </a:r>
            <a:r>
              <a:rPr lang="en-US" sz="3600" b="1" dirty="0">
                <a:solidFill>
                  <a:srgbClr val="FF0000"/>
                </a:solidFill>
                <a:latin typeface="Times New Roman" panose="02020603050405020304" pitchFamily="18" charset="0"/>
                <a:cs typeface="Times New Roman" panose="02020603050405020304" pitchFamily="18" charset="0"/>
              </a:rPr>
              <a:t>C</a:t>
            </a:r>
            <a:r>
              <a:rPr lang="en-US" sz="3600" b="1" dirty="0" smtClean="0">
                <a:solidFill>
                  <a:srgbClr val="FF0000"/>
                </a:solidFill>
                <a:latin typeface="Times New Roman" panose="02020603050405020304" pitchFamily="18" charset="0"/>
                <a:cs typeface="Times New Roman" panose="02020603050405020304" pitchFamily="18" charset="0"/>
              </a:rPr>
              <a:t>lassic </a:t>
            </a:r>
            <a:r>
              <a:rPr lang="en-US" sz="3600" b="1" dirty="0">
                <a:solidFill>
                  <a:srgbClr val="FF0000"/>
                </a:solidFill>
                <a:latin typeface="Times New Roman" panose="02020603050405020304" pitchFamily="18" charset="0"/>
                <a:cs typeface="Times New Roman" panose="02020603050405020304" pitchFamily="18" charset="0"/>
              </a:rPr>
              <a:t>M</a:t>
            </a:r>
            <a:r>
              <a:rPr lang="en-US" sz="3600" b="1" dirty="0" smtClean="0">
                <a:solidFill>
                  <a:srgbClr val="FF0000"/>
                </a:solidFill>
                <a:latin typeface="Times New Roman" panose="02020603050405020304" pitchFamily="18" charset="0"/>
                <a:cs typeface="Times New Roman" panose="02020603050405020304" pitchFamily="18" charset="0"/>
              </a:rPr>
              <a:t>ap </a:t>
            </a:r>
            <a:r>
              <a:rPr lang="en-US" sz="3600" b="1" dirty="0">
                <a:solidFill>
                  <a:srgbClr val="FF0000"/>
                </a:solidFill>
                <a:latin typeface="Times New Roman" panose="02020603050405020304" pitchFamily="18" charset="0"/>
                <a:cs typeface="Times New Roman" panose="02020603050405020304" pitchFamily="18" charset="0"/>
              </a:rPr>
              <a:t>R</a:t>
            </a:r>
            <a:r>
              <a:rPr lang="en-US" sz="3600" b="1" dirty="0" smtClean="0">
                <a:solidFill>
                  <a:srgbClr val="FF0000"/>
                </a:solidFill>
                <a:latin typeface="Times New Roman" panose="02020603050405020304" pitchFamily="18" charset="0"/>
                <a:cs typeface="Times New Roman" panose="02020603050405020304" pitchFamily="18" charset="0"/>
              </a:rPr>
              <a:t>educe</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447800"/>
            <a:ext cx="8839200" cy="5334000"/>
          </a:xfrm>
        </p:spPr>
        <p:txBody>
          <a:bodyPr>
            <a:noAutofit/>
          </a:bodyPr>
          <a:lstStyle/>
          <a:p>
            <a:r>
              <a:rPr lang="en-US" sz="1600" dirty="0">
                <a:latin typeface="Times New Roman" panose="02020603050405020304" pitchFamily="18" charset="0"/>
                <a:cs typeface="Times New Roman" panose="02020603050405020304" pitchFamily="18" charset="0"/>
              </a:rPr>
              <a:t>Failures can occur in a classic MapReduce framework, and it's important to handle them to ensure the successful execution of data processing jobs. </a:t>
            </a:r>
            <a:endParaRPr lang="en-US" sz="1600" dirty="0" smtClean="0">
              <a:latin typeface="Times New Roman" panose="02020603050405020304" pitchFamily="18" charset="0"/>
              <a:cs typeface="Times New Roman" panose="02020603050405020304" pitchFamily="18" charset="0"/>
            </a:endParaRPr>
          </a:p>
          <a:p>
            <a:pPr marL="0" indent="0">
              <a:buNone/>
            </a:pPr>
            <a:r>
              <a:rPr lang="en-US" sz="1600" dirty="0" smtClean="0">
                <a:latin typeface="Times New Roman" panose="02020603050405020304" pitchFamily="18" charset="0"/>
                <a:cs typeface="Times New Roman" panose="02020603050405020304" pitchFamily="18" charset="0"/>
              </a:rPr>
              <a:t>Here </a:t>
            </a:r>
            <a:r>
              <a:rPr lang="en-US" sz="1600" dirty="0">
                <a:latin typeface="Times New Roman" panose="02020603050405020304" pitchFamily="18" charset="0"/>
                <a:cs typeface="Times New Roman" panose="02020603050405020304" pitchFamily="18" charset="0"/>
              </a:rPr>
              <a:t>are some common types of failures in classic MapReduce and how they are typically managed</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Task </a:t>
            </a:r>
            <a:r>
              <a:rPr lang="en-US" sz="1600" b="1" dirty="0" smtClean="0">
                <a:latin typeface="Times New Roman" panose="02020603050405020304" pitchFamily="18" charset="0"/>
                <a:cs typeface="Times New Roman" panose="02020603050405020304" pitchFamily="18" charset="0"/>
              </a:rPr>
              <a:t>Failures:-</a:t>
            </a:r>
            <a:endParaRPr lang="en-US" sz="1600" dirty="0">
              <a:latin typeface="Times New Roman" panose="02020603050405020304" pitchFamily="18" charset="0"/>
              <a:cs typeface="Times New Roman" panose="02020603050405020304" pitchFamily="18" charset="0"/>
            </a:endParaRPr>
          </a:p>
          <a:p>
            <a:pPr marL="393192" lvl="1" indent="0">
              <a:buNone/>
            </a:pPr>
            <a:r>
              <a:rPr lang="en-US" sz="1600" b="1" dirty="0">
                <a:latin typeface="Times New Roman" panose="02020603050405020304" pitchFamily="18" charset="0"/>
                <a:cs typeface="Times New Roman" panose="02020603050405020304" pitchFamily="18" charset="0"/>
              </a:rPr>
              <a:t>Mapper Failures</a:t>
            </a:r>
            <a:r>
              <a:rPr lang="en-US" sz="1600" dirty="0">
                <a:latin typeface="Times New Roman" panose="02020603050405020304" pitchFamily="18" charset="0"/>
                <a:cs typeface="Times New Roman" panose="02020603050405020304" pitchFamily="18" charset="0"/>
              </a:rPr>
              <a:t>: If a Mapper task fails during execution (e.g., due to a hardware issue, software bug, or data corruption), the MapReduce framework can automatically reassign the failed task to another worker node.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This </a:t>
            </a:r>
            <a:r>
              <a:rPr lang="en-US" sz="1600" dirty="0">
                <a:latin typeface="Times New Roman" panose="02020603050405020304" pitchFamily="18" charset="0"/>
                <a:cs typeface="Times New Roman" panose="02020603050405020304" pitchFamily="18" charset="0"/>
              </a:rPr>
              <a:t>is possible because Mappers are typically independent of each other and process different input data splits.</a:t>
            </a:r>
          </a:p>
          <a:p>
            <a:pPr marL="393192" lvl="1" indent="0">
              <a:buNone/>
            </a:pPr>
            <a:r>
              <a:rPr lang="en-US" sz="1600" b="1" dirty="0">
                <a:latin typeface="Times New Roman" panose="02020603050405020304" pitchFamily="18" charset="0"/>
                <a:cs typeface="Times New Roman" panose="02020603050405020304" pitchFamily="18" charset="0"/>
              </a:rPr>
              <a:t>Reducer Failures</a:t>
            </a:r>
            <a:r>
              <a:rPr lang="en-US" sz="1600" dirty="0">
                <a:latin typeface="Times New Roman" panose="02020603050405020304" pitchFamily="18" charset="0"/>
                <a:cs typeface="Times New Roman" panose="02020603050405020304" pitchFamily="18" charset="0"/>
              </a:rPr>
              <a:t>: Similar to Mapper failures, Reducer tasks can fail. Failed Reducer tasks are rerun on different nodes to ensure that the job can make progress.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intermediate data for Reducers is stored on distributed file systems like HDFS, so it can be reprocessed if needed</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Worker Node </a:t>
            </a:r>
            <a:r>
              <a:rPr lang="en-US" sz="1600" b="1" dirty="0" smtClean="0">
                <a:latin typeface="Times New Roman" panose="02020603050405020304" pitchFamily="18" charset="0"/>
                <a:cs typeface="Times New Roman" panose="02020603050405020304" pitchFamily="18" charset="0"/>
              </a:rPr>
              <a:t>Failures:-</a:t>
            </a:r>
            <a:endParaRPr lang="en-US" sz="1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If a worker node fails (e.g., due to hardware failure or network issues), the tasks running on that node are marked as failed.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MapReduce framework redistributes those tasks to available worker nodes to complete the job.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use of a distributed file system like HDFS ensures that data is not lost and can be recovered.</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0345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8686800" cy="5638800"/>
          </a:xfrm>
        </p:spPr>
        <p:txBody>
          <a:bodyPr>
            <a:noAutofit/>
          </a:bodyPr>
          <a:lstStyle/>
          <a:p>
            <a:pPr marL="0" indent="0">
              <a:buNone/>
            </a:pPr>
            <a:r>
              <a:rPr lang="en-US" sz="1800" b="1" dirty="0" smtClean="0">
                <a:latin typeface="Times New Roman" panose="02020603050405020304" pitchFamily="18" charset="0"/>
                <a:cs typeface="Times New Roman" panose="02020603050405020304" pitchFamily="18" charset="0"/>
              </a:rPr>
              <a:t>Job Tracker </a:t>
            </a:r>
            <a:r>
              <a:rPr lang="en-US" sz="1800" b="1" dirty="0">
                <a:latin typeface="Times New Roman" panose="02020603050405020304" pitchFamily="18" charset="0"/>
                <a:cs typeface="Times New Roman" panose="02020603050405020304" pitchFamily="18" charset="0"/>
              </a:rPr>
              <a:t>Failures</a:t>
            </a:r>
            <a:r>
              <a:rPr lang="en-US" sz="1800" dirty="0">
                <a:latin typeface="Times New Roman" panose="02020603050405020304" pitchFamily="18" charset="0"/>
                <a:cs typeface="Times New Roman" panose="02020603050405020304" pitchFamily="18" charset="0"/>
              </a:rPr>
              <a:t>:</a:t>
            </a:r>
          </a:p>
          <a:p>
            <a:pPr lvl="1"/>
            <a:r>
              <a:rPr lang="en-US" sz="1800" dirty="0">
                <a:latin typeface="Times New Roman" panose="02020603050405020304" pitchFamily="18" charset="0"/>
                <a:cs typeface="Times New Roman" panose="02020603050405020304" pitchFamily="18" charset="0"/>
              </a:rPr>
              <a:t>In the classic Hadoop MapReduce architecture, the </a:t>
            </a:r>
            <a:r>
              <a:rPr lang="en-US" sz="1800" dirty="0" smtClean="0">
                <a:latin typeface="Times New Roman" panose="02020603050405020304" pitchFamily="18" charset="0"/>
                <a:cs typeface="Times New Roman" panose="02020603050405020304" pitchFamily="18" charset="0"/>
              </a:rPr>
              <a:t>Job Tracker </a:t>
            </a:r>
            <a:r>
              <a:rPr lang="en-US" sz="1800" dirty="0">
                <a:latin typeface="Times New Roman" panose="02020603050405020304" pitchFamily="18" charset="0"/>
                <a:cs typeface="Times New Roman" panose="02020603050405020304" pitchFamily="18" charset="0"/>
              </a:rPr>
              <a:t>is responsible for managing job execution. </a:t>
            </a:r>
            <a:endParaRPr lang="en-US" sz="1800" dirty="0" smtClean="0">
              <a:latin typeface="Times New Roman" panose="02020603050405020304" pitchFamily="18" charset="0"/>
              <a:cs typeface="Times New Roman" panose="02020603050405020304" pitchFamily="18" charset="0"/>
            </a:endParaRPr>
          </a:p>
          <a:p>
            <a:pPr lvl="1"/>
            <a:r>
              <a:rPr lang="en-US" sz="1800" dirty="0" smtClean="0">
                <a:latin typeface="Times New Roman" panose="02020603050405020304" pitchFamily="18" charset="0"/>
                <a:cs typeface="Times New Roman" panose="02020603050405020304" pitchFamily="18" charset="0"/>
              </a:rPr>
              <a:t>If </a:t>
            </a:r>
            <a:r>
              <a:rPr lang="en-US" sz="1800" dirty="0">
                <a:latin typeface="Times New Roman" panose="02020603050405020304" pitchFamily="18" charset="0"/>
                <a:cs typeface="Times New Roman" panose="02020603050405020304" pitchFamily="18" charset="0"/>
              </a:rPr>
              <a:t>the </a:t>
            </a:r>
            <a:r>
              <a:rPr lang="en-US" sz="1800" dirty="0" smtClean="0">
                <a:latin typeface="Times New Roman" panose="02020603050405020304" pitchFamily="18" charset="0"/>
                <a:cs typeface="Times New Roman" panose="02020603050405020304" pitchFamily="18" charset="0"/>
              </a:rPr>
              <a:t>Job Tracker </a:t>
            </a:r>
            <a:r>
              <a:rPr lang="en-US" sz="1800" dirty="0">
                <a:latin typeface="Times New Roman" panose="02020603050405020304" pitchFamily="18" charset="0"/>
                <a:cs typeface="Times New Roman" panose="02020603050405020304" pitchFamily="18" charset="0"/>
              </a:rPr>
              <a:t>itself fails, it can lead to job failures. To address this, Hadoop can be configured with a secondary </a:t>
            </a:r>
            <a:r>
              <a:rPr lang="en-US" sz="1800" dirty="0" smtClean="0">
                <a:latin typeface="Times New Roman" panose="02020603050405020304" pitchFamily="18" charset="0"/>
                <a:cs typeface="Times New Roman" panose="02020603050405020304" pitchFamily="18" charset="0"/>
              </a:rPr>
              <a:t>Job Tracker</a:t>
            </a:r>
            <a:r>
              <a:rPr lang="en-US" sz="1800" dirty="0">
                <a:latin typeface="Times New Roman" panose="02020603050405020304" pitchFamily="18" charset="0"/>
                <a:cs typeface="Times New Roman" panose="02020603050405020304" pitchFamily="18" charset="0"/>
              </a:rPr>
              <a:t>. </a:t>
            </a:r>
            <a:endParaRPr lang="en-US" sz="1800" dirty="0" smtClean="0">
              <a:latin typeface="Times New Roman" panose="02020603050405020304" pitchFamily="18" charset="0"/>
              <a:cs typeface="Times New Roman" panose="02020603050405020304" pitchFamily="18" charset="0"/>
            </a:endParaRPr>
          </a:p>
          <a:p>
            <a:pPr lvl="1"/>
            <a:r>
              <a:rPr lang="en-US" sz="1800" dirty="0" smtClean="0">
                <a:latin typeface="Times New Roman" panose="02020603050405020304" pitchFamily="18" charset="0"/>
                <a:cs typeface="Times New Roman" panose="02020603050405020304" pitchFamily="18" charset="0"/>
              </a:rPr>
              <a:t>If </a:t>
            </a:r>
            <a:r>
              <a:rPr lang="en-US" sz="1800" dirty="0">
                <a:latin typeface="Times New Roman" panose="02020603050405020304" pitchFamily="18" charset="0"/>
                <a:cs typeface="Times New Roman" panose="02020603050405020304" pitchFamily="18" charset="0"/>
              </a:rPr>
              <a:t>the primary </a:t>
            </a:r>
            <a:r>
              <a:rPr lang="en-US" sz="1800" dirty="0" smtClean="0">
                <a:latin typeface="Times New Roman" panose="02020603050405020304" pitchFamily="18" charset="0"/>
                <a:cs typeface="Times New Roman" panose="02020603050405020304" pitchFamily="18" charset="0"/>
              </a:rPr>
              <a:t>Job Tracker </a:t>
            </a:r>
            <a:r>
              <a:rPr lang="en-US" sz="1800" dirty="0">
                <a:latin typeface="Times New Roman" panose="02020603050405020304" pitchFamily="18" charset="0"/>
                <a:cs typeface="Times New Roman" panose="02020603050405020304" pitchFamily="18" charset="0"/>
              </a:rPr>
              <a:t>fails, the secondary one takes over, helping ensure job completion</a:t>
            </a:r>
            <a:r>
              <a:rPr lang="en-US" sz="1800" dirty="0" smtClean="0">
                <a:latin typeface="Times New Roman" panose="02020603050405020304" pitchFamily="18" charset="0"/>
                <a:cs typeface="Times New Roman" panose="02020603050405020304" pitchFamily="18" charset="0"/>
              </a:rPr>
              <a:t>.</a:t>
            </a:r>
          </a:p>
          <a:p>
            <a:pPr marL="393192" lvl="1"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Data Node Failures</a:t>
            </a:r>
            <a:r>
              <a:rPr lang="en-US" sz="1800" dirty="0">
                <a:latin typeface="Times New Roman" panose="02020603050405020304" pitchFamily="18" charset="0"/>
                <a:cs typeface="Times New Roman" panose="02020603050405020304" pitchFamily="18" charset="0"/>
              </a:rPr>
              <a:t>:</a:t>
            </a:r>
          </a:p>
          <a:p>
            <a:pPr lvl="1"/>
            <a:r>
              <a:rPr lang="en-US" sz="1800" dirty="0">
                <a:latin typeface="Times New Roman" panose="02020603050405020304" pitchFamily="18" charset="0"/>
                <a:cs typeface="Times New Roman" panose="02020603050405020304" pitchFamily="18" charset="0"/>
              </a:rPr>
              <a:t>In Hadoop's HDFS, data is stored across multiple data nodes for redundancy and fault tolerance. </a:t>
            </a:r>
            <a:endParaRPr lang="en-US" sz="1800" dirty="0" smtClean="0">
              <a:latin typeface="Times New Roman" panose="02020603050405020304" pitchFamily="18" charset="0"/>
              <a:cs typeface="Times New Roman" panose="02020603050405020304" pitchFamily="18" charset="0"/>
            </a:endParaRPr>
          </a:p>
          <a:p>
            <a:pPr lvl="1"/>
            <a:r>
              <a:rPr lang="en-US" sz="1800" dirty="0" smtClean="0">
                <a:latin typeface="Times New Roman" panose="02020603050405020304" pitchFamily="18" charset="0"/>
                <a:cs typeface="Times New Roman" panose="02020603050405020304" pitchFamily="18" charset="0"/>
              </a:rPr>
              <a:t>If </a:t>
            </a:r>
            <a:r>
              <a:rPr lang="en-US" sz="1800" dirty="0">
                <a:latin typeface="Times New Roman" panose="02020603050405020304" pitchFamily="18" charset="0"/>
                <a:cs typeface="Times New Roman" panose="02020603050405020304" pitchFamily="18" charset="0"/>
              </a:rPr>
              <a:t>a data node fails, HDFS replicates the data to other nodes, ensuring data availability</a:t>
            </a:r>
            <a:r>
              <a:rPr lang="en-US" sz="1800" dirty="0" smtClean="0">
                <a:latin typeface="Times New Roman" panose="02020603050405020304" pitchFamily="18" charset="0"/>
                <a:cs typeface="Times New Roman" panose="02020603050405020304" pitchFamily="18" charset="0"/>
              </a:rPr>
              <a:t>.</a:t>
            </a:r>
          </a:p>
          <a:p>
            <a:pPr lvl="1"/>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Network Failures</a:t>
            </a:r>
            <a:r>
              <a:rPr lang="en-US" sz="1800" dirty="0">
                <a:latin typeface="Times New Roman" panose="02020603050405020304" pitchFamily="18" charset="0"/>
                <a:cs typeface="Times New Roman" panose="02020603050405020304" pitchFamily="18" charset="0"/>
              </a:rPr>
              <a:t>:</a:t>
            </a:r>
          </a:p>
          <a:p>
            <a:pPr lvl="1"/>
            <a:r>
              <a:rPr lang="en-US" sz="1800" dirty="0">
                <a:latin typeface="Times New Roman" panose="02020603050405020304" pitchFamily="18" charset="0"/>
                <a:cs typeface="Times New Roman" panose="02020603050405020304" pitchFamily="18" charset="0"/>
              </a:rPr>
              <a:t>Network failures can lead to communication issues between different components of the MapReduce framework. </a:t>
            </a:r>
            <a:endParaRPr lang="en-US" sz="1800" dirty="0" smtClean="0">
              <a:latin typeface="Times New Roman" panose="02020603050405020304" pitchFamily="18" charset="0"/>
              <a:cs typeface="Times New Roman" panose="02020603050405020304" pitchFamily="18" charset="0"/>
            </a:endParaRPr>
          </a:p>
          <a:p>
            <a:pPr lvl="1"/>
            <a:r>
              <a:rPr lang="en-US" sz="1800" dirty="0" smtClean="0">
                <a:latin typeface="Times New Roman" panose="02020603050405020304" pitchFamily="18" charset="0"/>
                <a:cs typeface="Times New Roman" panose="02020603050405020304" pitchFamily="18" charset="0"/>
              </a:rPr>
              <a:t>These </a:t>
            </a:r>
            <a:r>
              <a:rPr lang="en-US" sz="1800" dirty="0">
                <a:latin typeface="Times New Roman" panose="02020603050405020304" pitchFamily="18" charset="0"/>
                <a:cs typeface="Times New Roman" panose="02020603050405020304" pitchFamily="18" charset="0"/>
              </a:rPr>
              <a:t>issues can be resolved by network monitoring, redundancy, and retries in communication.</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9214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534400" cy="5638800"/>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Resource Exhaustion</a:t>
            </a:r>
            <a:r>
              <a:rPr lang="en-US" sz="18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If a job consumes excessive resources (e.g., CPU, memory, or disk space), it can lead to performance degradation or failures. </a:t>
            </a:r>
            <a:endParaRPr lang="en-US" sz="18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800" dirty="0" smtClean="0">
                <a:latin typeface="Times New Roman" panose="02020603050405020304" pitchFamily="18" charset="0"/>
                <a:cs typeface="Times New Roman" panose="02020603050405020304" pitchFamily="18" charset="0"/>
              </a:rPr>
              <a:t>Resource </a:t>
            </a:r>
            <a:r>
              <a:rPr lang="en-US" sz="1800" dirty="0">
                <a:latin typeface="Times New Roman" panose="02020603050405020304" pitchFamily="18" charset="0"/>
                <a:cs typeface="Times New Roman" panose="02020603050405020304" pitchFamily="18" charset="0"/>
              </a:rPr>
              <a:t>monitoring and allocation mechanisms can help prevent such issues.</a:t>
            </a:r>
          </a:p>
          <a:p>
            <a:pPr marL="0" indent="0">
              <a:buNone/>
            </a:pPr>
            <a:endParaRPr lang="en-US" sz="1800" b="1" dirty="0" smtClean="0">
              <a:latin typeface="Times New Roman" panose="02020603050405020304" pitchFamily="18" charset="0"/>
              <a:cs typeface="Times New Roman" panose="02020603050405020304" pitchFamily="18" charset="0"/>
            </a:endParaRPr>
          </a:p>
          <a:p>
            <a:pPr marL="0" indent="0">
              <a:buNone/>
            </a:pPr>
            <a:r>
              <a:rPr lang="en-US" sz="1800" b="1" dirty="0" smtClean="0">
                <a:latin typeface="Times New Roman" panose="02020603050405020304" pitchFamily="18" charset="0"/>
                <a:cs typeface="Times New Roman" panose="02020603050405020304" pitchFamily="18" charset="0"/>
              </a:rPr>
              <a:t>User </a:t>
            </a:r>
            <a:r>
              <a:rPr lang="en-US" sz="1800" b="1" dirty="0">
                <a:latin typeface="Times New Roman" panose="02020603050405020304" pitchFamily="18" charset="0"/>
                <a:cs typeface="Times New Roman" panose="02020603050405020304" pitchFamily="18" charset="0"/>
              </a:rPr>
              <a:t>Code Errors</a:t>
            </a:r>
            <a:r>
              <a:rPr lang="en-US" sz="18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Errors in user-defined Mapper and Reducer code can cause task failures. </a:t>
            </a:r>
            <a:endParaRPr lang="en-US" sz="18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800" dirty="0" smtClean="0">
                <a:latin typeface="Times New Roman" panose="02020603050405020304" pitchFamily="18" charset="0"/>
                <a:cs typeface="Times New Roman" panose="02020603050405020304" pitchFamily="18" charset="0"/>
              </a:rPr>
              <a:t>Developers </a:t>
            </a:r>
            <a:r>
              <a:rPr lang="en-US" sz="1800" dirty="0">
                <a:latin typeface="Times New Roman" panose="02020603050405020304" pitchFamily="18" charset="0"/>
                <a:cs typeface="Times New Roman" panose="02020603050405020304" pitchFamily="18" charset="0"/>
              </a:rPr>
              <a:t>are responsible for writing robust code that can handle exceptions gracefully</a:t>
            </a:r>
            <a:r>
              <a:rPr lang="en-US" sz="1800" dirty="0" smtClean="0">
                <a:latin typeface="Times New Roman" panose="02020603050405020304" pitchFamily="18" charset="0"/>
                <a:cs typeface="Times New Roman" panose="02020603050405020304" pitchFamily="18" charset="0"/>
              </a:rPr>
              <a:t>.</a:t>
            </a:r>
          </a:p>
          <a:p>
            <a:pPr marL="393192" lvl="1"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Job Configuration Issues</a:t>
            </a:r>
            <a:r>
              <a:rPr lang="en-US" sz="18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Incorrect job configurations, such as specifying incorrect input or output paths, can lead to job failures. </a:t>
            </a:r>
            <a:endParaRPr lang="en-US" sz="18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800" dirty="0" smtClean="0">
                <a:latin typeface="Times New Roman" panose="02020603050405020304" pitchFamily="18" charset="0"/>
                <a:cs typeface="Times New Roman" panose="02020603050405020304" pitchFamily="18" charset="0"/>
              </a:rPr>
              <a:t>Careful </a:t>
            </a:r>
            <a:r>
              <a:rPr lang="en-US" sz="1800" dirty="0">
                <a:latin typeface="Times New Roman" panose="02020603050405020304" pitchFamily="18" charset="0"/>
                <a:cs typeface="Times New Roman" panose="02020603050405020304" pitchFamily="18" charset="0"/>
              </a:rPr>
              <a:t>configuration and validation are important to avoid such issues.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7044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204" y="457200"/>
            <a:ext cx="8229600"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YARN</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1600" dirty="0">
                <a:latin typeface="Times New Roman" panose="02020603050405020304" pitchFamily="18" charset="0"/>
                <a:cs typeface="Times New Roman" panose="02020603050405020304" pitchFamily="18" charset="0"/>
              </a:rPr>
              <a:t>YARN </a:t>
            </a:r>
            <a:r>
              <a:rPr lang="en-US" sz="1600" dirty="0" smtClean="0">
                <a:latin typeface="Times New Roman" panose="02020603050405020304" pitchFamily="18" charset="0"/>
                <a:cs typeface="Times New Roman" panose="02020603050405020304" pitchFamily="18" charset="0"/>
              </a:rPr>
              <a:t>plays </a:t>
            </a:r>
            <a:r>
              <a:rPr lang="en-US" sz="1600" dirty="0">
                <a:latin typeface="Times New Roman" panose="02020603050405020304" pitchFamily="18" charset="0"/>
                <a:cs typeface="Times New Roman" panose="02020603050405020304" pitchFamily="18" charset="0"/>
              </a:rPr>
              <a:t>a crucial role in the context of MapReduce within the Hadoop ecosystem. </a:t>
            </a:r>
            <a:endParaRPr lang="en-US"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YARN </a:t>
            </a:r>
            <a:r>
              <a:rPr lang="en-US" sz="1600" dirty="0">
                <a:latin typeface="Times New Roman" panose="02020603050405020304" pitchFamily="18" charset="0"/>
                <a:cs typeface="Times New Roman" panose="02020603050405020304" pitchFamily="18" charset="0"/>
              </a:rPr>
              <a:t>is responsible for resource management and job scheduling in a Hadoop cluster, and it is used to allocate resources to MapReduce jobs as well as other distributed computing applications. </a:t>
            </a:r>
            <a:endParaRPr lang="en-US" sz="1600" dirty="0" smtClean="0">
              <a:latin typeface="Times New Roman" panose="02020603050405020304" pitchFamily="18" charset="0"/>
              <a:cs typeface="Times New Roman" panose="02020603050405020304" pitchFamily="18" charset="0"/>
            </a:endParaRPr>
          </a:p>
          <a:p>
            <a:pPr marL="0" indent="0">
              <a:buNone/>
            </a:pPr>
            <a:endParaRPr lang="en-US" sz="1600" dirty="0" smtClean="0">
              <a:latin typeface="Times New Roman" panose="02020603050405020304" pitchFamily="18" charset="0"/>
              <a:cs typeface="Times New Roman" panose="02020603050405020304" pitchFamily="18" charset="0"/>
            </a:endParaRPr>
          </a:p>
          <a:p>
            <a:pPr marL="0" indent="0">
              <a:buNone/>
            </a:pPr>
            <a:r>
              <a:rPr lang="en-US" sz="1600" dirty="0" smtClean="0">
                <a:latin typeface="Times New Roman" panose="02020603050405020304" pitchFamily="18" charset="0"/>
                <a:cs typeface="Times New Roman" panose="02020603050405020304" pitchFamily="18" charset="0"/>
              </a:rPr>
              <a:t>Here's </a:t>
            </a:r>
            <a:r>
              <a:rPr lang="en-US" sz="1600" dirty="0">
                <a:latin typeface="Times New Roman" panose="02020603050405020304" pitchFamily="18" charset="0"/>
                <a:cs typeface="Times New Roman" panose="02020603050405020304" pitchFamily="18" charset="0"/>
              </a:rPr>
              <a:t>how YARN works with MapReduce</a:t>
            </a:r>
            <a:r>
              <a:rPr lang="en-US" sz="1600" dirty="0" smtClean="0">
                <a:latin typeface="Times New Roman" panose="02020603050405020304" pitchFamily="18" charset="0"/>
                <a:cs typeface="Times New Roman" panose="02020603050405020304" pitchFamily="18" charset="0"/>
              </a:rPr>
              <a:t>:</a:t>
            </a:r>
          </a:p>
          <a:p>
            <a:pPr marL="0" indent="0">
              <a:buNone/>
            </a:pPr>
            <a:r>
              <a:rPr lang="en-US" sz="1600" b="1" dirty="0">
                <a:latin typeface="Times New Roman" panose="02020603050405020304" pitchFamily="18" charset="0"/>
                <a:cs typeface="Times New Roman" panose="02020603050405020304" pitchFamily="18" charset="0"/>
              </a:rPr>
              <a:t>Resource Allocation</a:t>
            </a:r>
            <a:r>
              <a:rPr lang="en-US" sz="1600" dirty="0">
                <a:latin typeface="Times New Roman" panose="02020603050405020304" pitchFamily="18" charset="0"/>
                <a:cs typeface="Times New Roman" panose="02020603050405020304" pitchFamily="18" charset="0"/>
              </a:rPr>
              <a:t>: When a MapReduce job is submitted to the Hadoop cluster, the job's </a:t>
            </a:r>
            <a:r>
              <a:rPr lang="en-US" sz="1600" dirty="0" smtClean="0">
                <a:latin typeface="Times New Roman" panose="02020603050405020304" pitchFamily="18" charset="0"/>
                <a:cs typeface="Times New Roman" panose="02020603050405020304" pitchFamily="18" charset="0"/>
              </a:rPr>
              <a:t>Application Master </a:t>
            </a:r>
            <a:r>
              <a:rPr lang="en-US" sz="1600" dirty="0">
                <a:latin typeface="Times New Roman" panose="02020603050405020304" pitchFamily="18" charset="0"/>
                <a:cs typeface="Times New Roman" panose="02020603050405020304" pitchFamily="18" charset="0"/>
              </a:rPr>
              <a:t>(a component specific to that job) communicates with the YARN </a:t>
            </a:r>
            <a:r>
              <a:rPr lang="en-US" sz="1600" dirty="0" smtClean="0">
                <a:latin typeface="Times New Roman" panose="02020603050405020304" pitchFamily="18" charset="0"/>
                <a:cs typeface="Times New Roman" panose="02020603050405020304" pitchFamily="18" charset="0"/>
              </a:rPr>
              <a:t>Resource Manager </a:t>
            </a:r>
            <a:r>
              <a:rPr lang="en-US" sz="1600" dirty="0">
                <a:latin typeface="Times New Roman" panose="02020603050405020304" pitchFamily="18" charset="0"/>
                <a:cs typeface="Times New Roman" panose="02020603050405020304" pitchFamily="18" charset="0"/>
              </a:rPr>
              <a:t>to request resources for map and reduce tasks. </a:t>
            </a:r>
            <a:endParaRPr lang="en-US" sz="16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It </a:t>
            </a:r>
            <a:r>
              <a:rPr lang="en-US" sz="1600" dirty="0">
                <a:latin typeface="Times New Roman" panose="02020603050405020304" pitchFamily="18" charset="0"/>
                <a:cs typeface="Times New Roman" panose="02020603050405020304" pitchFamily="18" charset="0"/>
              </a:rPr>
              <a:t>specifies the number of containers it needs and the resource requirements for each container</a:t>
            </a:r>
            <a:r>
              <a:rPr lang="en-US" sz="1600" dirty="0" smtClean="0">
                <a:latin typeface="Times New Roman" panose="02020603050405020304" pitchFamily="18" charset="0"/>
                <a:cs typeface="Times New Roman" panose="02020603050405020304" pitchFamily="18" charset="0"/>
              </a:rPr>
              <a:t>.</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Resource Negotiation</a:t>
            </a:r>
            <a:r>
              <a:rPr lang="en-US" sz="1600" dirty="0">
                <a:latin typeface="Times New Roman" panose="02020603050405020304" pitchFamily="18" charset="0"/>
                <a:cs typeface="Times New Roman" panose="02020603050405020304" pitchFamily="18" charset="0"/>
              </a:rPr>
              <a:t>: The </a:t>
            </a:r>
            <a:r>
              <a:rPr lang="en-US" sz="1600" dirty="0" smtClean="0">
                <a:latin typeface="Times New Roman" panose="02020603050405020304" pitchFamily="18" charset="0"/>
                <a:cs typeface="Times New Roman" panose="02020603050405020304" pitchFamily="18" charset="0"/>
              </a:rPr>
              <a:t>Resource Manager </a:t>
            </a:r>
            <a:r>
              <a:rPr lang="en-US" sz="1600" dirty="0">
                <a:latin typeface="Times New Roman" panose="02020603050405020304" pitchFamily="18" charset="0"/>
                <a:cs typeface="Times New Roman" panose="02020603050405020304" pitchFamily="18" charset="0"/>
              </a:rPr>
              <a:t>negotiates with the </a:t>
            </a:r>
            <a:r>
              <a:rPr lang="en-US" sz="1600" dirty="0" smtClean="0">
                <a:latin typeface="Times New Roman" panose="02020603050405020304" pitchFamily="18" charset="0"/>
                <a:cs typeface="Times New Roman" panose="02020603050405020304" pitchFamily="18" charset="0"/>
              </a:rPr>
              <a:t>Application Master </a:t>
            </a:r>
            <a:r>
              <a:rPr lang="en-US" sz="1600" dirty="0">
                <a:latin typeface="Times New Roman" panose="02020603050405020304" pitchFamily="18" charset="0"/>
                <a:cs typeface="Times New Roman" panose="02020603050405020304" pitchFamily="18" charset="0"/>
              </a:rPr>
              <a:t>and allocates containers based on the job's requirements and the available cluster resources</a:t>
            </a:r>
            <a:r>
              <a:rPr lang="en-US" sz="16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It </a:t>
            </a:r>
            <a:r>
              <a:rPr lang="en-US" sz="1600" dirty="0">
                <a:latin typeface="Times New Roman" panose="02020603050405020304" pitchFamily="18" charset="0"/>
                <a:cs typeface="Times New Roman" panose="02020603050405020304" pitchFamily="18" charset="0"/>
              </a:rPr>
              <a:t>considers factors like available memory, CPU cores, and locality preferences (trying to allocate containers on nodes where the data is stored to minimize data transfer).</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4467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8763000" cy="5638800"/>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Task Execution</a:t>
            </a:r>
            <a:r>
              <a:rPr lang="en-US" sz="1800" dirty="0">
                <a:latin typeface="Times New Roman" panose="02020603050405020304" pitchFamily="18" charset="0"/>
                <a:cs typeface="Times New Roman" panose="02020603050405020304" pitchFamily="18" charset="0"/>
              </a:rPr>
              <a:t>: Once the </a:t>
            </a:r>
            <a:r>
              <a:rPr lang="en-US" sz="1800" dirty="0" smtClean="0">
                <a:latin typeface="Times New Roman" panose="02020603050405020304" pitchFamily="18" charset="0"/>
                <a:cs typeface="Times New Roman" panose="02020603050405020304" pitchFamily="18" charset="0"/>
              </a:rPr>
              <a:t>Resource Manager </a:t>
            </a:r>
            <a:r>
              <a:rPr lang="en-US" sz="1800" dirty="0">
                <a:latin typeface="Times New Roman" panose="02020603050405020304" pitchFamily="18" charset="0"/>
                <a:cs typeface="Times New Roman" panose="02020603050405020304" pitchFamily="18" charset="0"/>
              </a:rPr>
              <a:t>allocates resources, the </a:t>
            </a:r>
            <a:r>
              <a:rPr lang="en-US" sz="1800" dirty="0" smtClean="0">
                <a:latin typeface="Times New Roman" panose="02020603050405020304" pitchFamily="18" charset="0"/>
                <a:cs typeface="Times New Roman" panose="02020603050405020304" pitchFamily="18" charset="0"/>
              </a:rPr>
              <a:t>Application Master </a:t>
            </a:r>
            <a:r>
              <a:rPr lang="en-US" sz="1800" dirty="0">
                <a:latin typeface="Times New Roman" panose="02020603050405020304" pitchFamily="18" charset="0"/>
                <a:cs typeface="Times New Roman" panose="02020603050405020304" pitchFamily="18" charset="0"/>
              </a:rPr>
              <a:t>is responsible for launching the map and reduce tasks within those containers. </a:t>
            </a: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800" dirty="0" smtClean="0">
                <a:latin typeface="Times New Roman" panose="02020603050405020304" pitchFamily="18" charset="0"/>
                <a:cs typeface="Times New Roman" panose="02020603050405020304" pitchFamily="18" charset="0"/>
              </a:rPr>
              <a:t>These </a:t>
            </a:r>
            <a:r>
              <a:rPr lang="en-US" sz="1800" dirty="0">
                <a:latin typeface="Times New Roman" panose="02020603050405020304" pitchFamily="18" charset="0"/>
                <a:cs typeface="Times New Roman" panose="02020603050405020304" pitchFamily="18" charset="0"/>
              </a:rPr>
              <a:t>tasks are then executed on the allocated cluster nodes</a:t>
            </a:r>
            <a:r>
              <a:rPr lang="en-US" sz="1800" dirty="0" smtClean="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Resource Monitoring</a:t>
            </a:r>
            <a:r>
              <a:rPr lang="en-US" sz="1800" dirty="0">
                <a:latin typeface="Times New Roman" panose="02020603050405020304" pitchFamily="18" charset="0"/>
                <a:cs typeface="Times New Roman" panose="02020603050405020304" pitchFamily="18" charset="0"/>
              </a:rPr>
              <a:t>: YARN continuously monitors the resource utilization of containers and can make adjustments as needed. </a:t>
            </a: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800" dirty="0" smtClean="0">
                <a:latin typeface="Times New Roman" panose="02020603050405020304" pitchFamily="18" charset="0"/>
                <a:cs typeface="Times New Roman" panose="02020603050405020304" pitchFamily="18" charset="0"/>
              </a:rPr>
              <a:t>If </a:t>
            </a:r>
            <a:r>
              <a:rPr lang="en-US" sz="1800" dirty="0">
                <a:latin typeface="Times New Roman" panose="02020603050405020304" pitchFamily="18" charset="0"/>
                <a:cs typeface="Times New Roman" panose="02020603050405020304" pitchFamily="18" charset="0"/>
              </a:rPr>
              <a:t>a task fails or a container becomes unhealthy, YARN can reschedule the task on a different node to ensure fault tolerance</a:t>
            </a:r>
            <a:r>
              <a:rPr lang="en-US" sz="1800" dirty="0" smtClean="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Task Completion</a:t>
            </a:r>
            <a:r>
              <a:rPr lang="en-US" sz="1800" dirty="0">
                <a:latin typeface="Times New Roman" panose="02020603050405020304" pitchFamily="18" charset="0"/>
                <a:cs typeface="Times New Roman" panose="02020603050405020304" pitchFamily="18" charset="0"/>
              </a:rPr>
              <a:t>: As map and reduce tasks complete, they notify the </a:t>
            </a:r>
            <a:r>
              <a:rPr lang="en-US" sz="1800" dirty="0" smtClean="0">
                <a:latin typeface="Times New Roman" panose="02020603050405020304" pitchFamily="18" charset="0"/>
                <a:cs typeface="Times New Roman" panose="02020603050405020304" pitchFamily="18" charset="0"/>
              </a:rPr>
              <a:t>Application Master</a:t>
            </a:r>
            <a:r>
              <a:rPr lang="en-US" sz="1800" dirty="0">
                <a:latin typeface="Times New Roman" panose="02020603050405020304" pitchFamily="18" charset="0"/>
                <a:cs typeface="Times New Roman" panose="02020603050405020304" pitchFamily="18" charset="0"/>
              </a:rPr>
              <a:t>. </a:t>
            </a:r>
            <a:endParaRPr lang="en-US" sz="18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800" dirty="0" smtClean="0">
                <a:latin typeface="Times New Roman" panose="02020603050405020304" pitchFamily="18" charset="0"/>
                <a:cs typeface="Times New Roman" panose="02020603050405020304" pitchFamily="18" charset="0"/>
              </a:rPr>
              <a:t>The Application Master </a:t>
            </a:r>
            <a:r>
              <a:rPr lang="en-US" sz="1800" dirty="0">
                <a:latin typeface="Times New Roman" panose="02020603050405020304" pitchFamily="18" charset="0"/>
                <a:cs typeface="Times New Roman" panose="02020603050405020304" pitchFamily="18" charset="0"/>
              </a:rPr>
              <a:t>tracks the progress of the job and informs the </a:t>
            </a:r>
            <a:r>
              <a:rPr lang="en-US" sz="1800" dirty="0" smtClean="0">
                <a:latin typeface="Times New Roman" panose="02020603050405020304" pitchFamily="18" charset="0"/>
                <a:cs typeface="Times New Roman" panose="02020603050405020304" pitchFamily="18" charset="0"/>
              </a:rPr>
              <a:t>Resource Manager </a:t>
            </a:r>
            <a:r>
              <a:rPr lang="en-US" sz="1800" dirty="0">
                <a:latin typeface="Times New Roman" panose="02020603050405020304" pitchFamily="18" charset="0"/>
                <a:cs typeface="Times New Roman" panose="02020603050405020304" pitchFamily="18" charset="0"/>
              </a:rPr>
              <a:t>about the status of its tasks</a:t>
            </a:r>
            <a:r>
              <a:rPr lang="en-US" sz="18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endParaRPr lang="en-US" sz="1800" dirty="0" smtClean="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Resource De-Allocation</a:t>
            </a:r>
            <a:r>
              <a:rPr lang="en-US" sz="1800" dirty="0">
                <a:latin typeface="Times New Roman" panose="02020603050405020304" pitchFamily="18" charset="0"/>
                <a:cs typeface="Times New Roman" panose="02020603050405020304" pitchFamily="18" charset="0"/>
              </a:rPr>
              <a:t>: Once the MapReduce job is finished, the Resource Manager releases the allocated resources, making them available for other jobs or applications.</a:t>
            </a:r>
          </a:p>
          <a:p>
            <a:pPr marL="0" indent="0">
              <a:buNone/>
            </a:pPr>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7913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0"/>
            <a:ext cx="8229600"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Failures in YARN</a:t>
            </a:r>
            <a:br>
              <a:rPr lang="en-US" sz="3600" b="1" dirty="0" smtClean="0">
                <a:solidFill>
                  <a:srgbClr val="FF0000"/>
                </a:solidFill>
                <a:latin typeface="Times New Roman" panose="02020603050405020304" pitchFamily="18" charset="0"/>
                <a:cs typeface="Times New Roman" panose="02020603050405020304" pitchFamily="18" charset="0"/>
              </a:rPr>
            </a:b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1524000"/>
            <a:ext cx="8610600" cy="5257800"/>
          </a:xfrm>
        </p:spPr>
        <p:txBody>
          <a:bodyPr>
            <a:noAutofit/>
          </a:bodyPr>
          <a:lstStyle/>
          <a:p>
            <a:r>
              <a:rPr lang="en-US" sz="1600" dirty="0" smtClean="0">
                <a:latin typeface="Times New Roman" panose="02020603050405020304" pitchFamily="18" charset="0"/>
                <a:cs typeface="Times New Roman" panose="02020603050405020304" pitchFamily="18" charset="0"/>
              </a:rPr>
              <a:t>YARN is </a:t>
            </a:r>
            <a:r>
              <a:rPr lang="en-US" sz="1600" dirty="0">
                <a:latin typeface="Times New Roman" panose="02020603050405020304" pitchFamily="18" charset="0"/>
                <a:cs typeface="Times New Roman" panose="02020603050405020304" pitchFamily="18" charset="0"/>
              </a:rPr>
              <a:t>the resource management layer in the Hadoop ecosystem, can impact the stability and reliability of big data applications running on a cluster</a:t>
            </a:r>
            <a:r>
              <a:rPr lang="en-US" sz="1600" dirty="0" smtClean="0">
                <a:latin typeface="Times New Roman" panose="02020603050405020304" pitchFamily="18" charset="0"/>
                <a:cs typeface="Times New Roman" panose="02020603050405020304" pitchFamily="18" charset="0"/>
              </a:rPr>
              <a:t>. </a:t>
            </a:r>
          </a:p>
          <a:p>
            <a:pPr marL="0" indent="0">
              <a:buNone/>
            </a:pPr>
            <a:r>
              <a:rPr lang="en-US" sz="1600" dirty="0" smtClean="0">
                <a:latin typeface="Times New Roman" panose="02020603050405020304" pitchFamily="18" charset="0"/>
                <a:cs typeface="Times New Roman" panose="02020603050405020304" pitchFamily="18" charset="0"/>
              </a:rPr>
              <a:t>Here </a:t>
            </a:r>
            <a:r>
              <a:rPr lang="en-US" sz="1600" dirty="0">
                <a:latin typeface="Times New Roman" panose="02020603050405020304" pitchFamily="18" charset="0"/>
                <a:cs typeface="Times New Roman" panose="02020603050405020304" pitchFamily="18" charset="0"/>
              </a:rPr>
              <a:t>are some common types of failures in YARN and how they are typically managed:</a:t>
            </a:r>
          </a:p>
          <a:p>
            <a:pPr marL="0" indent="0">
              <a:buNone/>
            </a:pPr>
            <a:r>
              <a:rPr lang="en-US" sz="1600" b="1" dirty="0">
                <a:latin typeface="Times New Roman" panose="02020603050405020304" pitchFamily="18" charset="0"/>
                <a:cs typeface="Times New Roman" panose="02020603050405020304" pitchFamily="18" charset="0"/>
              </a:rPr>
              <a:t>Node Manager Failures</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smtClean="0">
                <a:latin typeface="Times New Roman" panose="02020603050405020304" pitchFamily="18" charset="0"/>
                <a:cs typeface="Times New Roman" panose="02020603050405020304" pitchFamily="18" charset="0"/>
              </a:rPr>
              <a:t>Node </a:t>
            </a:r>
            <a:r>
              <a:rPr lang="en-US" sz="1600" dirty="0">
                <a:latin typeface="Times New Roman" panose="02020603050405020304" pitchFamily="18" charset="0"/>
                <a:cs typeface="Times New Roman" panose="02020603050405020304" pitchFamily="18" charset="0"/>
              </a:rPr>
              <a:t>Managers are responsible for managing resources on individual worker nodes in a YARN cluster.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Failures </a:t>
            </a:r>
            <a:r>
              <a:rPr lang="en-US" sz="1600" dirty="0">
                <a:latin typeface="Times New Roman" panose="02020603050405020304" pitchFamily="18" charset="0"/>
                <a:cs typeface="Times New Roman" panose="02020603050405020304" pitchFamily="18" charset="0"/>
              </a:rPr>
              <a:t>can occur due to hardware issues, software bugs, or network problems.</a:t>
            </a:r>
          </a:p>
          <a:p>
            <a:pPr marL="393192" lvl="1" indent="0">
              <a:buNone/>
            </a:pPr>
            <a:r>
              <a:rPr lang="en-US" sz="1600" b="1" dirty="0">
                <a:latin typeface="Times New Roman" panose="02020603050405020304" pitchFamily="18" charset="0"/>
                <a:cs typeface="Times New Roman" panose="02020603050405020304" pitchFamily="18" charset="0"/>
              </a:rPr>
              <a:t>Management</a:t>
            </a:r>
            <a:r>
              <a:rPr lang="en-US" sz="1600" dirty="0">
                <a:latin typeface="Times New Roman" panose="02020603050405020304" pitchFamily="18" charset="0"/>
                <a:cs typeface="Times New Roman" panose="02020603050405020304" pitchFamily="18" charset="0"/>
              </a:rPr>
              <a:t>: YARN uses a heartbeat mechanism to monitor the health of Node Managers.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If </a:t>
            </a:r>
            <a:r>
              <a:rPr lang="en-US" sz="1600" dirty="0">
                <a:latin typeface="Times New Roman" panose="02020603050405020304" pitchFamily="18" charset="0"/>
                <a:cs typeface="Times New Roman" panose="02020603050405020304" pitchFamily="18" charset="0"/>
              </a:rPr>
              <a:t>a Node Manager fails to send heartbeats to the </a:t>
            </a:r>
            <a:r>
              <a:rPr lang="en-US" sz="1600" dirty="0" smtClean="0">
                <a:latin typeface="Times New Roman" panose="02020603050405020304" pitchFamily="18" charset="0"/>
                <a:cs typeface="Times New Roman" panose="02020603050405020304" pitchFamily="18" charset="0"/>
              </a:rPr>
              <a:t>Resource Manager </a:t>
            </a:r>
            <a:r>
              <a:rPr lang="en-US" sz="1600" dirty="0">
                <a:latin typeface="Times New Roman" panose="02020603050405020304" pitchFamily="18" charset="0"/>
                <a:cs typeface="Times New Roman" panose="02020603050405020304" pitchFamily="18" charset="0"/>
              </a:rPr>
              <a:t>within a specified time frame, it is marked as failed.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Resource Manager </a:t>
            </a:r>
            <a:r>
              <a:rPr lang="en-US" sz="1600" dirty="0">
                <a:latin typeface="Times New Roman" panose="02020603050405020304" pitchFamily="18" charset="0"/>
                <a:cs typeface="Times New Roman" panose="02020603050405020304" pitchFamily="18" charset="0"/>
              </a:rPr>
              <a:t>reallocates the resources managed by the failed Node Manager to other healthy nodes, ensuring that containers can continue to run</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smtClean="0">
                <a:latin typeface="Times New Roman" panose="02020603050405020304" pitchFamily="18" charset="0"/>
                <a:cs typeface="Times New Roman" panose="02020603050405020304" pitchFamily="18" charset="0"/>
              </a:rPr>
              <a:t>Resource Manager </a:t>
            </a:r>
            <a:r>
              <a:rPr lang="en-US" sz="1600" b="1" dirty="0">
                <a:latin typeface="Times New Roman" panose="02020603050405020304" pitchFamily="18" charset="0"/>
                <a:cs typeface="Times New Roman" panose="02020603050405020304" pitchFamily="18" charset="0"/>
              </a:rPr>
              <a:t>Failures</a:t>
            </a:r>
            <a:r>
              <a:rPr lang="en-US" sz="1600" dirty="0">
                <a:latin typeface="Times New Roman" panose="02020603050405020304" pitchFamily="18" charset="0"/>
                <a:cs typeface="Times New Roman" panose="02020603050405020304" pitchFamily="18" charset="0"/>
              </a:rPr>
              <a:t>:</a:t>
            </a:r>
          </a:p>
          <a:p>
            <a:pPr marL="393192" lvl="1" indent="0">
              <a:buNone/>
            </a:pPr>
            <a:r>
              <a:rPr lang="en-US" sz="1600" b="1" dirty="0">
                <a:latin typeface="Times New Roman" panose="02020603050405020304" pitchFamily="18" charset="0"/>
                <a:cs typeface="Times New Roman" panose="02020603050405020304" pitchFamily="18" charset="0"/>
              </a:rPr>
              <a:t>Cause</a:t>
            </a:r>
            <a:r>
              <a:rPr lang="en-US" sz="1600" dirty="0">
                <a:latin typeface="Times New Roman" panose="02020603050405020304" pitchFamily="18" charset="0"/>
                <a:cs typeface="Times New Roman" panose="02020603050405020304" pitchFamily="18" charset="0"/>
              </a:rPr>
              <a:t>: While </a:t>
            </a:r>
            <a:r>
              <a:rPr lang="en-US" sz="1600" dirty="0" smtClean="0">
                <a:latin typeface="Times New Roman" panose="02020603050405020304" pitchFamily="18" charset="0"/>
                <a:cs typeface="Times New Roman" panose="02020603050405020304" pitchFamily="18" charset="0"/>
              </a:rPr>
              <a:t>Resource Manager </a:t>
            </a:r>
            <a:r>
              <a:rPr lang="en-US" sz="1600" dirty="0">
                <a:latin typeface="Times New Roman" panose="02020603050405020304" pitchFamily="18" charset="0"/>
                <a:cs typeface="Times New Roman" panose="02020603050405020304" pitchFamily="18" charset="0"/>
              </a:rPr>
              <a:t>failures are rare, they can disrupt the entire cluster.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Failures </a:t>
            </a:r>
            <a:r>
              <a:rPr lang="en-US" sz="1600" dirty="0">
                <a:latin typeface="Times New Roman" panose="02020603050405020304" pitchFamily="18" charset="0"/>
                <a:cs typeface="Times New Roman" panose="02020603050405020304" pitchFamily="18" charset="0"/>
              </a:rPr>
              <a:t>can happen due to hardware issues, software bugs, or other reasons.</a:t>
            </a:r>
          </a:p>
          <a:p>
            <a:pPr marL="393192" lvl="1" indent="0">
              <a:buNone/>
            </a:pPr>
            <a:r>
              <a:rPr lang="en-US" sz="1600" b="1" dirty="0">
                <a:latin typeface="Times New Roman" panose="02020603050405020304" pitchFamily="18" charset="0"/>
                <a:cs typeface="Times New Roman" panose="02020603050405020304" pitchFamily="18" charset="0"/>
              </a:rPr>
              <a:t>Management</a:t>
            </a:r>
            <a:r>
              <a:rPr lang="en-US" sz="1600" dirty="0">
                <a:latin typeface="Times New Roman" panose="02020603050405020304" pitchFamily="18" charset="0"/>
                <a:cs typeface="Times New Roman" panose="02020603050405020304" pitchFamily="18" charset="0"/>
              </a:rPr>
              <a:t>: To provide high availability, YARN can be configured with standby </a:t>
            </a:r>
            <a:r>
              <a:rPr lang="en-US" sz="1600" dirty="0" smtClean="0">
                <a:latin typeface="Times New Roman" panose="02020603050405020304" pitchFamily="18" charset="0"/>
                <a:cs typeface="Times New Roman" panose="02020603050405020304" pitchFamily="18" charset="0"/>
              </a:rPr>
              <a:t>Resource Manager(s).</a:t>
            </a: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If </a:t>
            </a:r>
            <a:r>
              <a:rPr lang="en-US" sz="1600" dirty="0">
                <a:latin typeface="Times New Roman" panose="02020603050405020304" pitchFamily="18" charset="0"/>
                <a:cs typeface="Times New Roman" panose="02020603050405020304" pitchFamily="18" charset="0"/>
              </a:rPr>
              <a:t>the primary </a:t>
            </a:r>
            <a:r>
              <a:rPr lang="en-US" sz="1600" dirty="0" smtClean="0">
                <a:latin typeface="Times New Roman" panose="02020603050405020304" pitchFamily="18" charset="0"/>
                <a:cs typeface="Times New Roman" panose="02020603050405020304" pitchFamily="18" charset="0"/>
              </a:rPr>
              <a:t>Resource Manager </a:t>
            </a:r>
            <a:r>
              <a:rPr lang="en-US" sz="1600" dirty="0">
                <a:latin typeface="Times New Roman" panose="02020603050405020304" pitchFamily="18" charset="0"/>
                <a:cs typeface="Times New Roman" panose="02020603050405020304" pitchFamily="18" charset="0"/>
              </a:rPr>
              <a:t>fails, one of the standby </a:t>
            </a:r>
            <a:r>
              <a:rPr lang="en-US" sz="1600" dirty="0" smtClean="0">
                <a:latin typeface="Times New Roman" panose="02020603050405020304" pitchFamily="18" charset="0"/>
                <a:cs typeface="Times New Roman" panose="02020603050405020304" pitchFamily="18" charset="0"/>
              </a:rPr>
              <a:t>Resource Managers </a:t>
            </a:r>
            <a:r>
              <a:rPr lang="en-US" sz="1600" dirty="0">
                <a:latin typeface="Times New Roman" panose="02020603050405020304" pitchFamily="18" charset="0"/>
                <a:cs typeface="Times New Roman" panose="02020603050405020304" pitchFamily="18" charset="0"/>
              </a:rPr>
              <a:t>takes over.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This </a:t>
            </a:r>
            <a:r>
              <a:rPr lang="en-US" sz="1600" dirty="0">
                <a:latin typeface="Times New Roman" panose="02020603050405020304" pitchFamily="18" charset="0"/>
                <a:cs typeface="Times New Roman" panose="02020603050405020304" pitchFamily="18" charset="0"/>
              </a:rPr>
              <a:t>minimizes downtime and ensures resource allocation continues without interruption.</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7439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763000" cy="5638800"/>
          </a:xfrm>
        </p:spPr>
        <p:txBody>
          <a:bodyPr>
            <a:normAutofit lnSpcReduction="10000"/>
          </a:bodyPr>
          <a:lstStyle/>
          <a:p>
            <a:pPr marL="0" indent="0">
              <a:buNone/>
            </a:pPr>
            <a:r>
              <a:rPr lang="en-US" sz="1600" b="1" dirty="0">
                <a:latin typeface="Times New Roman" panose="02020603050405020304" pitchFamily="18" charset="0"/>
                <a:cs typeface="Times New Roman" panose="02020603050405020304" pitchFamily="18" charset="0"/>
              </a:rPr>
              <a:t>Application Master Failures</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393192" lvl="1" indent="0">
              <a:buNone/>
            </a:pPr>
            <a:r>
              <a:rPr lang="en-US" sz="1600" b="1" dirty="0">
                <a:latin typeface="Times New Roman" panose="02020603050405020304" pitchFamily="18" charset="0"/>
                <a:cs typeface="Times New Roman" panose="02020603050405020304" pitchFamily="18" charset="0"/>
              </a:rPr>
              <a:t>Cause</a:t>
            </a:r>
            <a:r>
              <a:rPr lang="en-US" sz="1600" dirty="0">
                <a:latin typeface="Times New Roman" panose="02020603050405020304" pitchFamily="18" charset="0"/>
                <a:cs typeface="Times New Roman" panose="02020603050405020304" pitchFamily="18" charset="0"/>
              </a:rPr>
              <a:t>: Each YARN application has an Application Master (AM) that manages its execution and resource requirements</a:t>
            </a:r>
            <a:r>
              <a:rPr lang="en-US" sz="1600" dirty="0" smtClean="0">
                <a:latin typeface="Times New Roman" panose="02020603050405020304" pitchFamily="18" charset="0"/>
                <a:cs typeface="Times New Roman" panose="02020603050405020304" pitchFamily="18" charset="0"/>
              </a:rPr>
              <a:t>. </a:t>
            </a: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AM failures can occur due to application errors, crashes, or other issues.</a:t>
            </a:r>
          </a:p>
          <a:p>
            <a:pPr marL="393192" lvl="1" indent="0">
              <a:buNone/>
            </a:pPr>
            <a:r>
              <a:rPr lang="en-US" sz="1600" b="1" dirty="0">
                <a:latin typeface="Times New Roman" panose="02020603050405020304" pitchFamily="18" charset="0"/>
                <a:cs typeface="Times New Roman" panose="02020603050405020304" pitchFamily="18" charset="0"/>
              </a:rPr>
              <a:t>Management</a:t>
            </a:r>
            <a:r>
              <a:rPr lang="en-US" sz="1600" dirty="0">
                <a:latin typeface="Times New Roman" panose="02020603050405020304" pitchFamily="18" charset="0"/>
                <a:cs typeface="Times New Roman" panose="02020603050405020304" pitchFamily="18" charset="0"/>
              </a:rPr>
              <a:t>: The </a:t>
            </a:r>
            <a:r>
              <a:rPr lang="en-US" sz="1600" dirty="0" smtClean="0">
                <a:latin typeface="Times New Roman" panose="02020603050405020304" pitchFamily="18" charset="0"/>
                <a:cs typeface="Times New Roman" panose="02020603050405020304" pitchFamily="18" charset="0"/>
              </a:rPr>
              <a:t>Resource Manager </a:t>
            </a:r>
            <a:r>
              <a:rPr lang="en-US" sz="1600" dirty="0">
                <a:latin typeface="Times New Roman" panose="02020603050405020304" pitchFamily="18" charset="0"/>
                <a:cs typeface="Times New Roman" panose="02020603050405020304" pitchFamily="18" charset="0"/>
              </a:rPr>
              <a:t>monitors the health of Application Masters and can take action if an AM fails.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YARN </a:t>
            </a:r>
            <a:r>
              <a:rPr lang="en-US" sz="1600" dirty="0">
                <a:latin typeface="Times New Roman" panose="02020603050405020304" pitchFamily="18" charset="0"/>
                <a:cs typeface="Times New Roman" panose="02020603050405020304" pitchFamily="18" charset="0"/>
              </a:rPr>
              <a:t>can automatically restart a failed AM on a different node to continue the application's execution</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Container Failures</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393192" lvl="1" indent="0">
              <a:buNone/>
            </a:pPr>
            <a:r>
              <a:rPr lang="en-US" sz="1600" b="1" dirty="0">
                <a:latin typeface="Times New Roman" panose="02020603050405020304" pitchFamily="18" charset="0"/>
                <a:cs typeface="Times New Roman" panose="02020603050405020304" pitchFamily="18" charset="0"/>
              </a:rPr>
              <a:t>Cause</a:t>
            </a:r>
            <a:r>
              <a:rPr lang="en-US" sz="1600" dirty="0">
                <a:latin typeface="Times New Roman" panose="02020603050405020304" pitchFamily="18" charset="0"/>
                <a:cs typeface="Times New Roman" panose="02020603050405020304" pitchFamily="18" charset="0"/>
              </a:rPr>
              <a:t>: Failures within containers can occur due to various reasons, such as application bugs, resource exhaustion, or hardware problems.</a:t>
            </a:r>
          </a:p>
          <a:p>
            <a:pPr marL="393192" lvl="1" indent="0">
              <a:buNone/>
            </a:pPr>
            <a:r>
              <a:rPr lang="en-US" sz="1600" b="1" dirty="0">
                <a:latin typeface="Times New Roman" panose="02020603050405020304" pitchFamily="18" charset="0"/>
                <a:cs typeface="Times New Roman" panose="02020603050405020304" pitchFamily="18" charset="0"/>
              </a:rPr>
              <a:t>Management</a:t>
            </a:r>
            <a:r>
              <a:rPr lang="en-US" sz="1600" dirty="0">
                <a:latin typeface="Times New Roman" panose="02020603050405020304" pitchFamily="18" charset="0"/>
                <a:cs typeface="Times New Roman" panose="02020603050405020304" pitchFamily="18" charset="0"/>
              </a:rPr>
              <a:t>: YARN provides mechanisms for configuring retry policies for tasks within containers.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You </a:t>
            </a:r>
            <a:r>
              <a:rPr lang="en-US" sz="1600" dirty="0">
                <a:latin typeface="Times New Roman" panose="02020603050405020304" pitchFamily="18" charset="0"/>
                <a:cs typeface="Times New Roman" panose="02020603050405020304" pitchFamily="18" charset="0"/>
              </a:rPr>
              <a:t>can specify the number of retries and actions to take if a container repeatedly fails (e.g., kill the application or keep retrying</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Resource Preemption</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393192" lvl="1" indent="0">
              <a:buNone/>
            </a:pPr>
            <a:r>
              <a:rPr lang="en-US" sz="1600" b="1" dirty="0">
                <a:latin typeface="Times New Roman" panose="02020603050405020304" pitchFamily="18" charset="0"/>
                <a:cs typeface="Times New Roman" panose="02020603050405020304" pitchFamily="18" charset="0"/>
              </a:rPr>
              <a:t>Cause</a:t>
            </a:r>
            <a:r>
              <a:rPr lang="en-US" sz="1600" dirty="0">
                <a:latin typeface="Times New Roman" panose="02020603050405020304" pitchFamily="18" charset="0"/>
                <a:cs typeface="Times New Roman" panose="02020603050405020304" pitchFamily="18" charset="0"/>
              </a:rPr>
              <a:t>: In cases of resource scarcity, YARN may need to preempt resources from one application to allocate them to another to ensure fairness and completion of critical jobs.</a:t>
            </a:r>
          </a:p>
          <a:p>
            <a:pPr marL="393192" lvl="1" indent="0">
              <a:buNone/>
            </a:pPr>
            <a:r>
              <a:rPr lang="en-US" sz="1600" b="1" dirty="0">
                <a:latin typeface="Times New Roman" panose="02020603050405020304" pitchFamily="18" charset="0"/>
                <a:cs typeface="Times New Roman" panose="02020603050405020304" pitchFamily="18" charset="0"/>
              </a:rPr>
              <a:t>Management</a:t>
            </a:r>
            <a:r>
              <a:rPr lang="en-US" sz="1600" dirty="0">
                <a:latin typeface="Times New Roman" panose="02020603050405020304" pitchFamily="18" charset="0"/>
                <a:cs typeface="Times New Roman" panose="02020603050405020304" pitchFamily="18" charset="0"/>
              </a:rPr>
              <a:t>: YARN includes resource preemption mechanisms that allow it to take back resources from less critical applications to allocate them to higher-priority ones.</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2699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6800"/>
            <a:ext cx="8686800" cy="5638800"/>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Network Failures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393192" lvl="1" indent="0">
              <a:buNone/>
            </a:pPr>
            <a:r>
              <a:rPr lang="en-US" sz="2000" b="1" dirty="0">
                <a:latin typeface="Times New Roman" panose="02020603050405020304" pitchFamily="18" charset="0"/>
                <a:cs typeface="Times New Roman" panose="02020603050405020304" pitchFamily="18" charset="0"/>
              </a:rPr>
              <a:t>Cause</a:t>
            </a:r>
            <a:r>
              <a:rPr lang="en-US" sz="2000" dirty="0">
                <a:latin typeface="Times New Roman" panose="02020603050405020304" pitchFamily="18" charset="0"/>
                <a:cs typeface="Times New Roman" panose="02020603050405020304" pitchFamily="18" charset="0"/>
              </a:rPr>
              <a:t>: Network issues can disrupt communication between YARN components, leading to failures.</a:t>
            </a:r>
          </a:p>
          <a:p>
            <a:pPr marL="393192" lvl="1" indent="0">
              <a:buNone/>
            </a:pPr>
            <a:r>
              <a:rPr lang="en-US" sz="2000" b="1" dirty="0">
                <a:latin typeface="Times New Roman" panose="02020603050405020304" pitchFamily="18" charset="0"/>
                <a:cs typeface="Times New Roman" panose="02020603050405020304" pitchFamily="18" charset="0"/>
              </a:rPr>
              <a:t>Management</a:t>
            </a:r>
            <a:r>
              <a:rPr lang="en-US" sz="2000" dirty="0">
                <a:latin typeface="Times New Roman" panose="02020603050405020304" pitchFamily="18" charset="0"/>
                <a:cs typeface="Times New Roman" panose="02020603050405020304" pitchFamily="18" charset="0"/>
              </a:rPr>
              <a:t>: Proper network configuration, redundancy, and monitoring are essential to minimize network-related failures. </a:t>
            </a:r>
            <a:endParaRPr lang="en-US"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Ensuring </a:t>
            </a:r>
            <a:r>
              <a:rPr lang="en-US" sz="2000" dirty="0">
                <a:latin typeface="Times New Roman" panose="02020603050405020304" pitchFamily="18" charset="0"/>
                <a:cs typeface="Times New Roman" panose="02020603050405020304" pitchFamily="18" charset="0"/>
              </a:rPr>
              <a:t>reliable network connectivity between nodes in the cluster is crucial</a:t>
            </a:r>
            <a:r>
              <a:rPr lang="en-US" sz="2000" dirty="0" smtClean="0">
                <a:latin typeface="Times New Roman" panose="02020603050405020304" pitchFamily="18" charset="0"/>
                <a:cs typeface="Times New Roman" panose="02020603050405020304" pitchFamily="18" charset="0"/>
              </a:rPr>
              <a:t>.</a:t>
            </a:r>
          </a:p>
          <a:p>
            <a:pPr marL="393192" lvl="1"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Resource Overuse</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393192" lvl="1" indent="0">
              <a:buNone/>
            </a:pPr>
            <a:r>
              <a:rPr lang="en-US" sz="2000" b="1" dirty="0">
                <a:latin typeface="Times New Roman" panose="02020603050405020304" pitchFamily="18" charset="0"/>
                <a:cs typeface="Times New Roman" panose="02020603050405020304" pitchFamily="18" charset="0"/>
              </a:rPr>
              <a:t>Cause</a:t>
            </a:r>
            <a:r>
              <a:rPr lang="en-US" sz="2000" dirty="0">
                <a:latin typeface="Times New Roman" panose="02020603050405020304" pitchFamily="18" charset="0"/>
                <a:cs typeface="Times New Roman" panose="02020603050405020304" pitchFamily="18" charset="0"/>
              </a:rPr>
              <a:t>: Applications that consume more resources than allocated can impact the cluster's stability and the performance of other applications.</a:t>
            </a:r>
          </a:p>
          <a:p>
            <a:pPr marL="393192" lvl="1" indent="0">
              <a:buNone/>
            </a:pPr>
            <a:r>
              <a:rPr lang="en-US" sz="2000" b="1" dirty="0">
                <a:latin typeface="Times New Roman" panose="02020603050405020304" pitchFamily="18" charset="0"/>
                <a:cs typeface="Times New Roman" panose="02020603050405020304" pitchFamily="18" charset="0"/>
              </a:rPr>
              <a:t>Management</a:t>
            </a:r>
            <a:r>
              <a:rPr lang="en-US" sz="2000" dirty="0">
                <a:latin typeface="Times New Roman" panose="02020603050405020304" pitchFamily="18" charset="0"/>
                <a:cs typeface="Times New Roman" panose="02020603050405020304" pitchFamily="18" charset="0"/>
              </a:rPr>
              <a:t>: YARN includes mechanisms for enforcing resource quotas and limits on applications to prevent excessive resource usage.</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2023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762000"/>
            <a:ext cx="8229600"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Shuffle &amp; Sort</a:t>
            </a:r>
            <a:br>
              <a:rPr lang="en-US" sz="3600" b="1" dirty="0" smtClean="0">
                <a:solidFill>
                  <a:srgbClr val="FF0000"/>
                </a:solidFill>
                <a:latin typeface="Times New Roman" panose="02020603050405020304" pitchFamily="18" charset="0"/>
                <a:cs typeface="Times New Roman" panose="02020603050405020304" pitchFamily="18" charset="0"/>
              </a:rPr>
            </a:b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485900"/>
            <a:ext cx="8610600" cy="5219700"/>
          </a:xfrm>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The "shuffle and sort" phase is a crucial step in the MapReduce programming </a:t>
            </a:r>
            <a:r>
              <a:rPr lang="en-US" dirty="0" smtClean="0">
                <a:latin typeface="Times New Roman" panose="02020603050405020304" pitchFamily="18" charset="0"/>
                <a:cs typeface="Times New Roman" panose="02020603050405020304" pitchFamily="18" charset="0"/>
              </a:rPr>
              <a:t>model. </a:t>
            </a:r>
          </a:p>
          <a:p>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occurs between the Map phase and the Reduce phase </a:t>
            </a:r>
            <a:endParaRPr lang="en-US" dirty="0" smtClean="0">
              <a:latin typeface="Times New Roman" panose="02020603050405020304" pitchFamily="18" charset="0"/>
              <a:cs typeface="Times New Roman" panose="02020603050405020304" pitchFamily="18" charset="0"/>
            </a:endParaRP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Explanation </a:t>
            </a:r>
            <a:r>
              <a:rPr lang="en-US" dirty="0">
                <a:latin typeface="Times New Roman" panose="02020603050405020304" pitchFamily="18" charset="0"/>
                <a:cs typeface="Times New Roman" panose="02020603050405020304" pitchFamily="18" charset="0"/>
              </a:rPr>
              <a:t>of the shuffle and sort phase:</a:t>
            </a:r>
          </a:p>
          <a:p>
            <a:pPr marL="0" indent="0">
              <a:buNone/>
            </a:pPr>
            <a:r>
              <a:rPr lang="en-US" b="1" dirty="0">
                <a:latin typeface="Times New Roman" panose="02020603050405020304" pitchFamily="18" charset="0"/>
                <a:cs typeface="Times New Roman" panose="02020603050405020304" pitchFamily="18" charset="0"/>
              </a:rPr>
              <a:t>Map Phase</a:t>
            </a:r>
            <a:r>
              <a:rPr lang="en-US"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In the Map phase, data is processed by a set of Mapper tasks.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Each </a:t>
            </a:r>
            <a:r>
              <a:rPr lang="en-US" dirty="0">
                <a:latin typeface="Times New Roman" panose="02020603050405020304" pitchFamily="18" charset="0"/>
                <a:cs typeface="Times New Roman" panose="02020603050405020304" pitchFamily="18" charset="0"/>
              </a:rPr>
              <a:t>Mapper task reads input data, applies a user-defined Mapper function, and emits a set of key-value pairs as intermediate output.</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These intermediate key-value pairs are not organized or sorted and are generated independently by different Mapper tasks. </a:t>
            </a:r>
            <a:endParaRPr lang="en-US"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keys can be of different types, and there is no guarantee of order</a:t>
            </a:r>
            <a:r>
              <a:rPr lang="en-US" dirty="0" smtClean="0">
                <a:latin typeface="Times New Roman" panose="02020603050405020304" pitchFamily="18" charset="0"/>
                <a:cs typeface="Times New Roman" panose="02020603050405020304" pitchFamily="18" charset="0"/>
              </a:rPr>
              <a:t>.</a:t>
            </a:r>
          </a:p>
          <a:p>
            <a:pPr marL="393192" lvl="1"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Shuffle and Sort Phase</a:t>
            </a:r>
            <a:r>
              <a:rPr lang="en-US"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After the Mapper tasks have completed their work, the MapReduce framework initiates the shuffle and sort phase.</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primary objectives of this phase are to:</a:t>
            </a:r>
          </a:p>
          <a:p>
            <a:pPr lvl="2">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Group together all intermediate key-value pairs that share the same key.</a:t>
            </a:r>
          </a:p>
          <a:p>
            <a:pPr lvl="2">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Sort the key-value pairs based on their keys.</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This grouping and sorting process ensures that when Reducer tasks receive the data, they have all values associated with the same key located together and in a sorted order.</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174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763000" cy="5638800"/>
          </a:xfrm>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Data Movement</a:t>
            </a:r>
            <a:r>
              <a:rPr lang="en-US" sz="1600"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During the shuffle and sort phase, the MapReduce framework takes care of moving the intermediate data from the Mapper tasks to the Reducer tasks. </a:t>
            </a:r>
            <a:endParaRPr lang="en-US" sz="1600" dirty="0" smtClean="0">
              <a:latin typeface="Times New Roman" panose="02020603050405020304" pitchFamily="18" charset="0"/>
              <a:cs typeface="Times New Roman" panose="02020603050405020304" pitchFamily="18" charset="0"/>
            </a:endParaRPr>
          </a:p>
          <a:p>
            <a:pPr lvl="1"/>
            <a:r>
              <a:rPr lang="en-US" sz="1600" dirty="0" smtClean="0">
                <a:latin typeface="Times New Roman" panose="02020603050405020304" pitchFamily="18" charset="0"/>
                <a:cs typeface="Times New Roman" panose="02020603050405020304" pitchFamily="18" charset="0"/>
              </a:rPr>
              <a:t>This </a:t>
            </a:r>
            <a:r>
              <a:rPr lang="en-US" sz="1600" dirty="0">
                <a:latin typeface="Times New Roman" panose="02020603050405020304" pitchFamily="18" charset="0"/>
                <a:cs typeface="Times New Roman" panose="02020603050405020304" pitchFamily="18" charset="0"/>
              </a:rPr>
              <a:t>can involve data transfer across the network from various nodes in the cluster.</a:t>
            </a:r>
          </a:p>
          <a:p>
            <a:pPr lvl="1"/>
            <a:r>
              <a:rPr lang="en-US" sz="1600" dirty="0">
                <a:latin typeface="Times New Roman" panose="02020603050405020304" pitchFamily="18" charset="0"/>
                <a:cs typeface="Times New Roman" panose="02020603050405020304" pitchFamily="18" charset="0"/>
              </a:rPr>
              <a:t>The framework ensures that all values for a particular key are routed to the same Reducer task. </a:t>
            </a:r>
            <a:endParaRPr lang="en-US" sz="1600" dirty="0" smtClean="0">
              <a:latin typeface="Times New Roman" panose="02020603050405020304" pitchFamily="18" charset="0"/>
              <a:cs typeface="Times New Roman" panose="02020603050405020304" pitchFamily="18" charset="0"/>
            </a:endParaRPr>
          </a:p>
          <a:p>
            <a:pPr lvl="1"/>
            <a:r>
              <a:rPr lang="en-US" sz="1600" dirty="0" smtClean="0">
                <a:latin typeface="Times New Roman" panose="02020603050405020304" pitchFamily="18" charset="0"/>
                <a:cs typeface="Times New Roman" panose="02020603050405020304" pitchFamily="18" charset="0"/>
              </a:rPr>
              <a:t>This </a:t>
            </a:r>
            <a:r>
              <a:rPr lang="en-US" sz="1600" dirty="0">
                <a:latin typeface="Times New Roman" panose="02020603050405020304" pitchFamily="18" charset="0"/>
                <a:cs typeface="Times New Roman" panose="02020603050405020304" pitchFamily="18" charset="0"/>
              </a:rPr>
              <a:t>routing is based on a partitioning function, which may be user-defined or default behavior.</a:t>
            </a:r>
          </a:p>
          <a:p>
            <a:pPr lvl="1"/>
            <a:r>
              <a:rPr lang="en-US" sz="1600" dirty="0">
                <a:latin typeface="Times New Roman" panose="02020603050405020304" pitchFamily="18" charset="0"/>
                <a:cs typeface="Times New Roman" panose="02020603050405020304" pitchFamily="18" charset="0"/>
              </a:rPr>
              <a:t>Data is transferred efficiently to minimize network traffic and optimize data locality when possible.</a:t>
            </a:r>
          </a:p>
          <a:p>
            <a:pPr marL="0" indent="0">
              <a:buNone/>
            </a:pPr>
            <a:r>
              <a:rPr lang="en-US" sz="1600" b="1" dirty="0">
                <a:latin typeface="Times New Roman" panose="02020603050405020304" pitchFamily="18" charset="0"/>
                <a:cs typeface="Times New Roman" panose="02020603050405020304" pitchFamily="18" charset="0"/>
              </a:rPr>
              <a:t>Grouping and Sorting</a:t>
            </a:r>
            <a:r>
              <a:rPr lang="en-US" sz="1600"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Once the data has been moved to the Reducer nodes, it is grouped by key. </a:t>
            </a:r>
            <a:endParaRPr lang="en-US" sz="1600" dirty="0" smtClean="0">
              <a:latin typeface="Times New Roman" panose="02020603050405020304" pitchFamily="18" charset="0"/>
              <a:cs typeface="Times New Roman" panose="02020603050405020304" pitchFamily="18" charset="0"/>
            </a:endParaRPr>
          </a:p>
          <a:p>
            <a:pPr lvl="1"/>
            <a:r>
              <a:rPr lang="en-US" sz="1600" dirty="0" smtClean="0">
                <a:latin typeface="Times New Roman" panose="02020603050405020304" pitchFamily="18" charset="0"/>
                <a:cs typeface="Times New Roman" panose="02020603050405020304" pitchFamily="18" charset="0"/>
              </a:rPr>
              <a:t>All </a:t>
            </a:r>
            <a:r>
              <a:rPr lang="en-US" sz="1600" dirty="0">
                <a:latin typeface="Times New Roman" panose="02020603050405020304" pitchFamily="18" charset="0"/>
                <a:cs typeface="Times New Roman" panose="02020603050405020304" pitchFamily="18" charset="0"/>
              </a:rPr>
              <a:t>values associated with the same key are collected together.</a:t>
            </a:r>
          </a:p>
          <a:p>
            <a:pPr lvl="1"/>
            <a:r>
              <a:rPr lang="en-US" sz="1600" dirty="0">
                <a:latin typeface="Times New Roman" panose="02020603050405020304" pitchFamily="18" charset="0"/>
                <a:cs typeface="Times New Roman" panose="02020603050405020304" pitchFamily="18" charset="0"/>
              </a:rPr>
              <a:t>After grouping, the data is sorted by key. </a:t>
            </a:r>
            <a:endParaRPr lang="en-US" sz="1600" dirty="0" smtClean="0">
              <a:latin typeface="Times New Roman" panose="02020603050405020304" pitchFamily="18" charset="0"/>
              <a:cs typeface="Times New Roman" panose="02020603050405020304" pitchFamily="18" charset="0"/>
            </a:endParaRPr>
          </a:p>
          <a:p>
            <a:pPr lvl="1"/>
            <a:r>
              <a:rPr lang="en-US" sz="1600" dirty="0" smtClean="0">
                <a:latin typeface="Times New Roman" panose="02020603050405020304" pitchFamily="18" charset="0"/>
                <a:cs typeface="Times New Roman" panose="02020603050405020304" pitchFamily="18" charset="0"/>
              </a:rPr>
              <a:t>Sorting </a:t>
            </a:r>
            <a:r>
              <a:rPr lang="en-US" sz="1600" dirty="0">
                <a:latin typeface="Times New Roman" panose="02020603050405020304" pitchFamily="18" charset="0"/>
                <a:cs typeface="Times New Roman" panose="02020603050405020304" pitchFamily="18" charset="0"/>
              </a:rPr>
              <a:t>makes it easier for Reducer tasks to process the data sequentially, which can improve performance and simplify computations.</a:t>
            </a:r>
          </a:p>
          <a:p>
            <a:pPr marL="0" indent="0">
              <a:buNone/>
            </a:pPr>
            <a:r>
              <a:rPr lang="en-US" sz="1600" b="1" dirty="0">
                <a:latin typeface="Times New Roman" panose="02020603050405020304" pitchFamily="18" charset="0"/>
                <a:cs typeface="Times New Roman" panose="02020603050405020304" pitchFamily="18" charset="0"/>
              </a:rPr>
              <a:t>Reducer Input</a:t>
            </a:r>
            <a:r>
              <a:rPr lang="en-US" sz="1600"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The output of the shuffle and sort phase serves as the input to the Reducer tasks. Each Reducer task receives a group of key-value pairs with the same key and in sorted order.</a:t>
            </a:r>
          </a:p>
          <a:p>
            <a:pPr lvl="1"/>
            <a:r>
              <a:rPr lang="en-US" sz="1600" dirty="0">
                <a:latin typeface="Times New Roman" panose="02020603050405020304" pitchFamily="18" charset="0"/>
                <a:cs typeface="Times New Roman" panose="02020603050405020304" pitchFamily="18" charset="0"/>
              </a:rPr>
              <a:t>Reducer tasks can then iterate through the sorted data and perform the required computations, aggregations, or transformations on each group of values associated with a key.</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7346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Task Execution</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1447800"/>
            <a:ext cx="8839200" cy="5334000"/>
          </a:xfrm>
        </p:spPr>
        <p:txBody>
          <a:bodyPr>
            <a:noAutofit/>
          </a:bodyPr>
          <a:lstStyle/>
          <a:p>
            <a:r>
              <a:rPr lang="en-US" sz="1600" dirty="0">
                <a:latin typeface="Times New Roman" panose="02020603050405020304" pitchFamily="18" charset="0"/>
                <a:cs typeface="Times New Roman" panose="02020603050405020304" pitchFamily="18" charset="0"/>
              </a:rPr>
              <a:t>Task execution is a fundamental concept in distributed computing and parallel processing frameworks like Hadoop MapReduce and Apache Spark. </a:t>
            </a:r>
            <a:endParaRPr lang="en-US"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It </a:t>
            </a:r>
            <a:r>
              <a:rPr lang="en-US" sz="1600" dirty="0">
                <a:latin typeface="Times New Roman" panose="02020603050405020304" pitchFamily="18" charset="0"/>
                <a:cs typeface="Times New Roman" panose="02020603050405020304" pitchFamily="18" charset="0"/>
              </a:rPr>
              <a:t>refers to the process of running a specific unit of work, often called a "task," on a node or machine within a cluster. </a:t>
            </a:r>
            <a:endParaRPr lang="en-US"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Task </a:t>
            </a:r>
            <a:r>
              <a:rPr lang="en-US" sz="1600" dirty="0">
                <a:latin typeface="Times New Roman" panose="02020603050405020304" pitchFamily="18" charset="0"/>
                <a:cs typeface="Times New Roman" panose="02020603050405020304" pitchFamily="18" charset="0"/>
              </a:rPr>
              <a:t>execution is essential for processing data in parallel across multiple nodes to achieve high-performance computing. </a:t>
            </a:r>
            <a:endParaRPr lang="en-US" sz="1600" dirty="0" smtClean="0">
              <a:latin typeface="Times New Roman" panose="02020603050405020304" pitchFamily="18" charset="0"/>
              <a:cs typeface="Times New Roman" panose="02020603050405020304" pitchFamily="18" charset="0"/>
            </a:endParaRPr>
          </a:p>
          <a:p>
            <a:pPr marL="0" indent="0">
              <a:buNone/>
            </a:pPr>
            <a:r>
              <a:rPr lang="en-US" sz="1600" dirty="0" smtClean="0">
                <a:latin typeface="Times New Roman" panose="02020603050405020304" pitchFamily="18" charset="0"/>
                <a:cs typeface="Times New Roman" panose="02020603050405020304" pitchFamily="18" charset="0"/>
              </a:rPr>
              <a:t>Here's </a:t>
            </a:r>
            <a:r>
              <a:rPr lang="en-US" sz="1600" dirty="0">
                <a:latin typeface="Times New Roman" panose="02020603050405020304" pitchFamily="18" charset="0"/>
                <a:cs typeface="Times New Roman" panose="02020603050405020304" pitchFamily="18" charset="0"/>
              </a:rPr>
              <a:t>an overview of task execution:</a:t>
            </a:r>
          </a:p>
          <a:p>
            <a:pPr marL="0" indent="0">
              <a:buNone/>
            </a:pPr>
            <a:r>
              <a:rPr lang="en-US" sz="1600" b="1" dirty="0">
                <a:latin typeface="Times New Roman" panose="02020603050405020304" pitchFamily="18" charset="0"/>
                <a:cs typeface="Times New Roman" panose="02020603050405020304" pitchFamily="18" charset="0"/>
              </a:rPr>
              <a:t>Task Definition</a:t>
            </a:r>
            <a:r>
              <a:rPr lang="en-US" sz="1600"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A task is a self-contained unit of work that can be executed independently. </a:t>
            </a:r>
            <a:endParaRPr lang="en-US" sz="1600" dirty="0" smtClean="0">
              <a:latin typeface="Times New Roman" panose="02020603050405020304" pitchFamily="18" charset="0"/>
              <a:cs typeface="Times New Roman" panose="02020603050405020304" pitchFamily="18" charset="0"/>
            </a:endParaRPr>
          </a:p>
          <a:p>
            <a:pPr lvl="1"/>
            <a:r>
              <a:rPr lang="en-US" sz="1600" dirty="0" smtClean="0">
                <a:latin typeface="Times New Roman" panose="02020603050405020304" pitchFamily="18" charset="0"/>
                <a:cs typeface="Times New Roman" panose="02020603050405020304" pitchFamily="18" charset="0"/>
              </a:rPr>
              <a:t>In </a:t>
            </a:r>
            <a:r>
              <a:rPr lang="en-US" sz="1600" dirty="0">
                <a:latin typeface="Times New Roman" panose="02020603050405020304" pitchFamily="18" charset="0"/>
                <a:cs typeface="Times New Roman" panose="02020603050405020304" pitchFamily="18" charset="0"/>
              </a:rPr>
              <a:t>the context of distributed data processing frameworks like MapReduce or Spark, tasks are typically associated with processing a portion of the input data.</a:t>
            </a:r>
          </a:p>
          <a:p>
            <a:pPr marL="0" indent="0">
              <a:buNone/>
            </a:pPr>
            <a:r>
              <a:rPr lang="en-US" sz="1600" b="1" dirty="0">
                <a:latin typeface="Times New Roman" panose="02020603050405020304" pitchFamily="18" charset="0"/>
                <a:cs typeface="Times New Roman" panose="02020603050405020304" pitchFamily="18" charset="0"/>
              </a:rPr>
              <a:t>Task Scheduling</a:t>
            </a:r>
            <a:r>
              <a:rPr lang="en-US" sz="1600"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The task scheduling component of the framework is responsible for assigning tasks to available worker nodes or machines in the cluster. </a:t>
            </a:r>
            <a:endParaRPr lang="en-US" sz="1600" dirty="0" smtClean="0">
              <a:latin typeface="Times New Roman" panose="02020603050405020304" pitchFamily="18" charset="0"/>
              <a:cs typeface="Times New Roman" panose="02020603050405020304" pitchFamily="18" charset="0"/>
            </a:endParaRPr>
          </a:p>
          <a:p>
            <a:pPr lvl="1"/>
            <a:r>
              <a:rPr lang="en-US" sz="1600" dirty="0" smtClean="0">
                <a:latin typeface="Times New Roman" panose="02020603050405020304" pitchFamily="18" charset="0"/>
                <a:cs typeface="Times New Roman" panose="02020603050405020304" pitchFamily="18" charset="0"/>
              </a:rPr>
              <a:t>This </a:t>
            </a:r>
            <a:r>
              <a:rPr lang="en-US" sz="1600" dirty="0">
                <a:latin typeface="Times New Roman" panose="02020603050405020304" pitchFamily="18" charset="0"/>
                <a:cs typeface="Times New Roman" panose="02020603050405020304" pitchFamily="18" charset="0"/>
              </a:rPr>
              <a:t>process involves selecting the most suitable node based on factors like data locality, available resources, and load balancing.</a:t>
            </a:r>
          </a:p>
          <a:p>
            <a:pPr marL="0" indent="0">
              <a:buNone/>
            </a:pPr>
            <a:r>
              <a:rPr lang="en-US" sz="1600" b="1" dirty="0">
                <a:latin typeface="Times New Roman" panose="02020603050405020304" pitchFamily="18" charset="0"/>
                <a:cs typeface="Times New Roman" panose="02020603050405020304" pitchFamily="18" charset="0"/>
              </a:rPr>
              <a:t>Task Launching</a:t>
            </a:r>
            <a:r>
              <a:rPr lang="en-US" sz="1600"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Once a task is scheduled to run on a specific node, the framework launches the task on that node. </a:t>
            </a:r>
            <a:endParaRPr lang="en-US" sz="1600" dirty="0" smtClean="0">
              <a:latin typeface="Times New Roman" panose="02020603050405020304" pitchFamily="18" charset="0"/>
              <a:cs typeface="Times New Roman" panose="02020603050405020304" pitchFamily="18" charset="0"/>
            </a:endParaRPr>
          </a:p>
          <a:p>
            <a:pPr lvl="1"/>
            <a:r>
              <a:rPr lang="en-US" sz="1600" dirty="0" smtClean="0">
                <a:latin typeface="Times New Roman" panose="02020603050405020304" pitchFamily="18" charset="0"/>
                <a:cs typeface="Times New Roman" panose="02020603050405020304" pitchFamily="18" charset="0"/>
              </a:rPr>
              <a:t>This </a:t>
            </a:r>
            <a:r>
              <a:rPr lang="en-US" sz="1600" dirty="0">
                <a:latin typeface="Times New Roman" panose="02020603050405020304" pitchFamily="18" charset="0"/>
                <a:cs typeface="Times New Roman" panose="02020603050405020304" pitchFamily="18" charset="0"/>
              </a:rPr>
              <a:t>involves sending the task code and any required input data to the node.</a:t>
            </a:r>
          </a:p>
          <a:p>
            <a:pPr marL="0" indent="0">
              <a:buNone/>
            </a:pP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0996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66800"/>
            <a:ext cx="8839200" cy="5715000"/>
          </a:xfrm>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Task Execution</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The task code is executed on the node by a worker process.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This </a:t>
            </a:r>
            <a:r>
              <a:rPr lang="en-US" sz="1600" dirty="0">
                <a:latin typeface="Times New Roman" panose="02020603050405020304" pitchFamily="18" charset="0"/>
                <a:cs typeface="Times New Roman" panose="02020603050405020304" pitchFamily="18" charset="0"/>
              </a:rPr>
              <a:t>code can be a Mapper or Reducer function in the case of MapReduce or a user-defined transformation or action in the case of Apache Spark.</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During execution, the task processes the input data it has been assigned, performs computations, and generates intermediate results</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Data Processing</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In many distributed data processing frameworks, tasks operate on portions of the input data.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These </a:t>
            </a:r>
            <a:r>
              <a:rPr lang="en-US" sz="1600" dirty="0">
                <a:latin typeface="Times New Roman" panose="02020603050405020304" pitchFamily="18" charset="0"/>
                <a:cs typeface="Times New Roman" panose="02020603050405020304" pitchFamily="18" charset="0"/>
              </a:rPr>
              <a:t>portions may be divided into smaller chunks or partitions.</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Each task processes its assigned data independently.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For </a:t>
            </a:r>
            <a:r>
              <a:rPr lang="en-US" sz="1600" dirty="0">
                <a:latin typeface="Times New Roman" panose="02020603050405020304" pitchFamily="18" charset="0"/>
                <a:cs typeface="Times New Roman" panose="02020603050405020304" pitchFamily="18" charset="0"/>
              </a:rPr>
              <a:t>example, in a MapReduce job, Mapper tasks process individual input splits, while Reducer tasks work on grouped and sorted data</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Intermediate Data</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During task execution, intermediate results may be generated.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These </a:t>
            </a:r>
            <a:r>
              <a:rPr lang="en-US" sz="1600" dirty="0">
                <a:latin typeface="Times New Roman" panose="02020603050405020304" pitchFamily="18" charset="0"/>
                <a:cs typeface="Times New Roman" panose="02020603050405020304" pitchFamily="18" charset="0"/>
              </a:rPr>
              <a:t>intermediate data can be written to temporary storage on the local node and later used during the shuffle and sort phase (in the case of MapReduce) or for further processing.</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006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8610600" cy="5715000"/>
          </a:xfrm>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Task Completion</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Once a task has finished its work, it notifies the framework of its completion.</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The framework may also collect any intermediate data generated by the task for further processing or transfer it to other nodes if necessary</a:t>
            </a:r>
            <a:r>
              <a:rPr lang="en-US" sz="16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Task Failure</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Tasks can fail for various reasons, such as hardware failures, software errors, or resource constraints.</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The framework is designed to handle task failures gracefully. </a:t>
            </a:r>
            <a:endParaRPr lang="en-US" sz="16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smtClean="0">
                <a:latin typeface="Times New Roman" panose="02020603050405020304" pitchFamily="18" charset="0"/>
                <a:cs typeface="Times New Roman" panose="02020603050405020304" pitchFamily="18" charset="0"/>
              </a:rPr>
              <a:t>Depending </a:t>
            </a:r>
            <a:r>
              <a:rPr lang="en-US" sz="1600" dirty="0">
                <a:latin typeface="Times New Roman" panose="02020603050405020304" pitchFamily="18" charset="0"/>
                <a:cs typeface="Times New Roman" panose="02020603050405020304" pitchFamily="18" charset="0"/>
              </a:rPr>
              <a:t>on the framework and the specific task, it may automatically retry a failed task on the same or a different node to ensure that the job progresses</a:t>
            </a:r>
            <a:r>
              <a:rPr lang="en-US" sz="16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Result Output</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The final results or outputs of tasks are typically written to distributed storage systems, such as Hadoop Distributed File System (HDFS) in Hadoop or external data sinks in Apache Spark.</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These results can be used for further analysis, reporting, or as input for subsequent stages of a data processing pipeline.</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608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anose="02020603050405020304" pitchFamily="18" charset="0"/>
                <a:cs typeface="Times New Roman" panose="02020603050405020304" pitchFamily="18" charset="0"/>
              </a:rPr>
              <a:t>Unit-3  </a:t>
            </a:r>
            <a:br>
              <a:rPr lang="en-US" dirty="0" smtClean="0">
                <a:latin typeface="Times New Roman" panose="02020603050405020304" pitchFamily="18" charset="0"/>
                <a:cs typeface="Times New Roman" panose="02020603050405020304" pitchFamily="18" charset="0"/>
              </a:rPr>
            </a:br>
            <a:r>
              <a:rPr lang="en-US" sz="3600" dirty="0" smtClean="0">
                <a:latin typeface="Times New Roman" panose="02020603050405020304" pitchFamily="18" charset="0"/>
                <a:cs typeface="Times New Roman" panose="02020603050405020304" pitchFamily="18" charset="0"/>
              </a:rPr>
              <a:t>Part-3</a:t>
            </a:r>
            <a:endParaRPr lang="en-IN" sz="36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p:txBody>
          <a:bodyPr>
            <a:noAutofit/>
          </a:bodyPr>
          <a:lstStyle/>
          <a:p>
            <a:pPr algn="ctr"/>
            <a:endParaRPr lang="en-US" sz="4400" b="1" dirty="0" smtClean="0">
              <a:solidFill>
                <a:srgbClr val="002060"/>
              </a:solidFill>
              <a:latin typeface="Times New Roman" panose="02020603050405020304" pitchFamily="18" charset="0"/>
              <a:cs typeface="Times New Roman" panose="02020603050405020304" pitchFamily="18" charset="0"/>
            </a:endParaRPr>
          </a:p>
          <a:p>
            <a:pPr algn="ctr"/>
            <a:endParaRPr lang="en-US" sz="4400" b="1" dirty="0">
              <a:solidFill>
                <a:srgbClr val="002060"/>
              </a:solidFill>
              <a:latin typeface="Times New Roman" panose="02020603050405020304" pitchFamily="18" charset="0"/>
              <a:cs typeface="Times New Roman" panose="02020603050405020304" pitchFamily="18" charset="0"/>
            </a:endParaRPr>
          </a:p>
          <a:p>
            <a:pPr algn="ctr"/>
            <a:r>
              <a:rPr lang="en-US" sz="4400" b="1" dirty="0" smtClean="0">
                <a:solidFill>
                  <a:srgbClr val="002060"/>
                </a:solidFill>
                <a:latin typeface="Times New Roman" panose="02020603050405020304" pitchFamily="18" charset="0"/>
                <a:cs typeface="Times New Roman" panose="02020603050405020304" pitchFamily="18" charset="0"/>
              </a:rPr>
              <a:t>Map Reduce Types And Formats</a:t>
            </a:r>
            <a:endParaRPr lang="en-IN" sz="44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1585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Map Reduce Types</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4800" y="1524000"/>
            <a:ext cx="8229600" cy="4389120"/>
          </a:xfrm>
        </p:spPr>
        <p:txBody>
          <a:bodyPr>
            <a:noAutofit/>
          </a:bodyPr>
          <a:lstStyle/>
          <a:p>
            <a:pPr marL="0" indent="0">
              <a:buNone/>
            </a:pPr>
            <a:r>
              <a:rPr lang="en-US" sz="1400" dirty="0">
                <a:latin typeface="Times New Roman" panose="02020603050405020304" pitchFamily="18" charset="0"/>
                <a:cs typeface="Times New Roman" panose="02020603050405020304" pitchFamily="18" charset="0"/>
              </a:rPr>
              <a:t>MapReduce is a programming model and processing framework that can be categorized into different types based on variations and use cases. </a:t>
            </a:r>
            <a:endParaRPr lang="en-US" sz="1400" dirty="0" smtClean="0">
              <a:latin typeface="Times New Roman" panose="02020603050405020304" pitchFamily="18" charset="0"/>
              <a:cs typeface="Times New Roman" panose="02020603050405020304" pitchFamily="18" charset="0"/>
            </a:endParaRPr>
          </a:p>
          <a:p>
            <a:pPr marL="0" indent="0">
              <a:buNone/>
            </a:pPr>
            <a:endParaRPr lang="en-US" sz="1400" dirty="0" smtClean="0">
              <a:latin typeface="Times New Roman" panose="02020603050405020304" pitchFamily="18" charset="0"/>
              <a:cs typeface="Times New Roman" panose="02020603050405020304" pitchFamily="18" charset="0"/>
            </a:endParaRPr>
          </a:p>
          <a:p>
            <a:pPr marL="0" indent="0">
              <a:buNone/>
            </a:pPr>
            <a:r>
              <a:rPr lang="en-US" sz="1400" dirty="0" smtClean="0">
                <a:latin typeface="Times New Roman" panose="02020603050405020304" pitchFamily="18" charset="0"/>
                <a:cs typeface="Times New Roman" panose="02020603050405020304" pitchFamily="18" charset="0"/>
              </a:rPr>
              <a:t>Here </a:t>
            </a:r>
            <a:r>
              <a:rPr lang="en-US" sz="1400" dirty="0">
                <a:latin typeface="Times New Roman" panose="02020603050405020304" pitchFamily="18" charset="0"/>
                <a:cs typeface="Times New Roman" panose="02020603050405020304" pitchFamily="18" charset="0"/>
              </a:rPr>
              <a:t>are several types of MapReduce</a:t>
            </a:r>
            <a:r>
              <a:rPr lang="en-US" sz="1400" dirty="0" smtClean="0">
                <a:latin typeface="Times New Roman" panose="02020603050405020304" pitchFamily="18" charset="0"/>
                <a:cs typeface="Times New Roman" panose="02020603050405020304" pitchFamily="18" charset="0"/>
              </a:rPr>
              <a:t>:</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Batch MapReduce</a:t>
            </a:r>
            <a:r>
              <a:rPr lang="en-US" sz="1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This is the traditional form of MapReduce and is used for batch processing of large datasets.</a:t>
            </a:r>
          </a:p>
          <a:p>
            <a:pPr lvl="1">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It divides a computation into Map and Reduce phases, where Mappers process input data and Reducers aggregate and analyze the results.</a:t>
            </a:r>
          </a:p>
          <a:p>
            <a:pPr lvl="1">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Batch MapReduce is well-suited for tasks that do not require real-time processing and can handle large volumes of data</a:t>
            </a:r>
            <a:r>
              <a:rPr lang="en-US" sz="1400" dirty="0" smtClean="0">
                <a:latin typeface="Times New Roman" panose="02020603050405020304" pitchFamily="18" charset="0"/>
                <a:cs typeface="Times New Roman" panose="02020603050405020304" pitchFamily="18" charset="0"/>
              </a:rPr>
              <a:t>.</a:t>
            </a:r>
          </a:p>
          <a:p>
            <a:pPr marL="393192" lvl="1"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Streaming MapReduce</a:t>
            </a:r>
            <a:r>
              <a:rPr lang="en-US" sz="14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Streaming MapReduce extends the MapReduce model to handle real-time data processing.</a:t>
            </a:r>
          </a:p>
          <a:p>
            <a:pPr lvl="1">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It allows data to be continuously streamed into the system, and Mappers and Reducers process data as it arrives.</a:t>
            </a:r>
          </a:p>
          <a:p>
            <a:pPr lvl="1">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Streaming MapReduce is suitable for scenarios where low-latency data processing is required, such as log analysis and real-time monitoring</a:t>
            </a:r>
            <a:r>
              <a:rPr lang="en-US" sz="1400" dirty="0" smtClean="0">
                <a:latin typeface="Times New Roman" panose="02020603050405020304" pitchFamily="18" charset="0"/>
                <a:cs typeface="Times New Roman" panose="02020603050405020304" pitchFamily="18" charset="0"/>
              </a:rPr>
              <a:t>.</a:t>
            </a:r>
          </a:p>
          <a:p>
            <a:pPr marL="393192" lvl="1"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11247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763000" cy="5562600"/>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Recursive MapReduce</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Recursive MapReduce is used for problems that involve recursive subtasks.</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Each MapReduce job can spawn additional MapReduce jobs as subtasks.</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Recursive MapReduce is often used in applications like web crawling and hierarchical data processing</a:t>
            </a:r>
            <a:r>
              <a:rPr lang="en-US" sz="1800" dirty="0" smtClean="0">
                <a:latin typeface="Times New Roman" panose="02020603050405020304" pitchFamily="18" charset="0"/>
                <a:cs typeface="Times New Roman" panose="02020603050405020304" pitchFamily="18" charset="0"/>
              </a:rPr>
              <a:t>.</a:t>
            </a:r>
          </a:p>
          <a:p>
            <a:pPr lvl="1"/>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Incremental MapReduce</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Incremental MapReduce processes only the new or changed data since the last run.</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It is efficient for maintaining and updating aggregates, indexes, or derived datasets.</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Incremental MapReduce reduces the need to reprocess entire datasets, saving computational resources</a:t>
            </a:r>
            <a:r>
              <a:rPr lang="en-US" sz="1800" dirty="0" smtClean="0">
                <a:latin typeface="Times New Roman" panose="02020603050405020304" pitchFamily="18" charset="0"/>
                <a:cs typeface="Times New Roman" panose="02020603050405020304" pitchFamily="18" charset="0"/>
              </a:rPr>
              <a:t>.</a:t>
            </a:r>
          </a:p>
          <a:p>
            <a:pPr lvl="1"/>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Multi-Step MapReduce</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Some complex data processing tasks require multiple MapReduce jobs in sequence.</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Each job may perform a different transformation or aggregation step.</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Multi-step MapReduce pipelines are used for tasks like data cleaning, transformation, and analysis.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5576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534400" cy="5562600"/>
          </a:xfrm>
        </p:spPr>
        <p:txBody>
          <a:bodyPr>
            <a:normAutofit lnSpcReduction="10000"/>
          </a:bodyPr>
          <a:lstStyle/>
          <a:p>
            <a:pPr marL="0" indent="0">
              <a:buNone/>
            </a:pPr>
            <a:r>
              <a:rPr lang="en-US" sz="1600" b="1" dirty="0">
                <a:latin typeface="Times New Roman" panose="02020603050405020304" pitchFamily="18" charset="0"/>
                <a:cs typeface="Times New Roman" panose="02020603050405020304" pitchFamily="18" charset="0"/>
              </a:rPr>
              <a:t>Hybrid MapReduce</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Hybrid MapReduce combines the MapReduce model with other processing models, such as in-memory processing or data streaming.</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It leverages the strengths of different processing paradigms to optimize performance and flexibility.</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Examples include Apache Spark, which combines batch and stream processing with in-memory computation</a:t>
            </a:r>
            <a:r>
              <a:rPr lang="en-US" sz="1600" dirty="0" smtClean="0">
                <a:latin typeface="Times New Roman" panose="02020603050405020304" pitchFamily="18" charset="0"/>
                <a:cs typeface="Times New Roman" panose="02020603050405020304" pitchFamily="18" charset="0"/>
              </a:rPr>
              <a:t>.</a:t>
            </a:r>
          </a:p>
          <a:p>
            <a:pPr lvl="1"/>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MapReduce on Cloud Services</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Cloud-based MapReduce services, like Amazon EMR and Google </a:t>
            </a:r>
            <a:r>
              <a:rPr lang="en-US" sz="1600" dirty="0" smtClean="0">
                <a:latin typeface="Times New Roman" panose="02020603050405020304" pitchFamily="18" charset="0"/>
                <a:cs typeface="Times New Roman" panose="02020603050405020304" pitchFamily="18" charset="0"/>
              </a:rPr>
              <a:t>Data prep</a:t>
            </a:r>
            <a:r>
              <a:rPr lang="en-US" sz="1600" dirty="0">
                <a:latin typeface="Times New Roman" panose="02020603050405020304" pitchFamily="18" charset="0"/>
                <a:cs typeface="Times New Roman" panose="02020603050405020304" pitchFamily="18" charset="0"/>
              </a:rPr>
              <a:t>, provide MapReduce capabilities in a cloud environment.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They offer scalability, flexibility, and ease of use for running MapReduce jobs on cloud infrastructure</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smtClean="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Iterative MapReduce</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Some algorithms, like graph processing or machine learning algorithms, require multiple iterations over the same dataset.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Iterative MapReduce frameworks optimize the process of running MapReduce jobs repeatedly, reducing data read and write overhead.</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Examples include Hadoop's support for iterative algorithms and Apache Giraph for graph processing.</a:t>
            </a:r>
          </a:p>
          <a:p>
            <a:pPr lvl="1">
              <a:buFont typeface="Wingdings" panose="05000000000000000000" pitchFamily="2" charset="2"/>
              <a:buChar char="ü"/>
            </a:pP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23191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Map Reduce – Types - Summary</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The choice of MapReduce type depends on the specific data processing requirements and the nature of the problem to be solved. </a:t>
            </a:r>
            <a:endParaRPr lang="en-US" sz="2400" dirty="0" smtClean="0">
              <a:latin typeface="Times New Roman" panose="02020603050405020304" pitchFamily="18" charset="0"/>
              <a:cs typeface="Times New Roman" panose="02020603050405020304" pitchFamily="18" charset="0"/>
            </a:endParaRPr>
          </a:p>
          <a:p>
            <a:pPr marL="0" indent="0">
              <a:buNone/>
            </a:pP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Different </a:t>
            </a:r>
            <a:r>
              <a:rPr lang="en-US" sz="2400" dirty="0">
                <a:latin typeface="Times New Roman" panose="02020603050405020304" pitchFamily="18" charset="0"/>
                <a:cs typeface="Times New Roman" panose="02020603050405020304" pitchFamily="18" charset="0"/>
              </a:rPr>
              <a:t>types of MapReduce can be selected to optimize factors like data volume, processing speed, and complexity.</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53718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011" y="304800"/>
            <a:ext cx="8229600"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Map Reduce - Input Formats</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marL="0" indent="0">
              <a:buNone/>
            </a:pPr>
            <a:r>
              <a:rPr lang="en-US" sz="1600" dirty="0">
                <a:latin typeface="Times New Roman" panose="02020603050405020304" pitchFamily="18" charset="0"/>
                <a:cs typeface="Times New Roman" panose="02020603050405020304" pitchFamily="18" charset="0"/>
              </a:rPr>
              <a:t>In Hadoop MapReduce and similar distributed data processing frameworks, input data is typically read from various sources and formats. The choice of input format depends on the structure of the data and the requirements of the processing job. </a:t>
            </a:r>
            <a:endParaRPr lang="en-US" sz="1600" dirty="0" smtClean="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dirty="0" smtClean="0">
                <a:latin typeface="Times New Roman" panose="02020603050405020304" pitchFamily="18" charset="0"/>
                <a:cs typeface="Times New Roman" panose="02020603050405020304" pitchFamily="18" charset="0"/>
              </a:rPr>
              <a:t>Here </a:t>
            </a:r>
            <a:r>
              <a:rPr lang="en-US" sz="1600" dirty="0">
                <a:latin typeface="Times New Roman" panose="02020603050405020304" pitchFamily="18" charset="0"/>
                <a:cs typeface="Times New Roman" panose="02020603050405020304" pitchFamily="18" charset="0"/>
              </a:rPr>
              <a:t>are some common input formats used in MapReduce</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smtClean="0">
                <a:latin typeface="Times New Roman" panose="02020603050405020304" pitchFamily="18" charset="0"/>
                <a:cs typeface="Times New Roman" panose="02020603050405020304" pitchFamily="18" charset="0"/>
              </a:rPr>
              <a:t>Text Input Format</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This is the default input format in Hadoop MapReduce.</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It treats each line in the input files as a separate record and emits the offset as the key and the line as the value.</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Useful for processing text data, log files, and other line-based formats</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smtClean="0">
                <a:latin typeface="Times New Roman" panose="02020603050405020304" pitchFamily="18" charset="0"/>
                <a:cs typeface="Times New Roman" panose="02020603050405020304" pitchFamily="18" charset="0"/>
              </a:rPr>
              <a:t>Key-Value Text Input Format</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This format is similar to TextInputFormat but interprets each line as a key-value pair separated by a delimiter (usually a tab or a comma).</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It splits each line into key and value parts and emits them accordingly.</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Suitable for structured data stored as key-value pairs in text files.</a:t>
            </a:r>
          </a:p>
          <a:p>
            <a:pPr marL="0" indent="0">
              <a:buNone/>
            </a:pP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78666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8534400" cy="5486400"/>
          </a:xfrm>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Sequence-File Input Format</a:t>
            </a:r>
            <a:r>
              <a:rPr lang="en-US" sz="1600"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Sequence files are binary files used to store key-value pairs efficiently.</a:t>
            </a:r>
          </a:p>
          <a:p>
            <a:pPr lvl="1"/>
            <a:r>
              <a:rPr lang="en-US" sz="1600" dirty="0">
                <a:latin typeface="Times New Roman" panose="02020603050405020304" pitchFamily="18" charset="0"/>
                <a:cs typeface="Times New Roman" panose="02020603050405020304" pitchFamily="18" charset="0"/>
              </a:rPr>
              <a:t>Sequence-File Input Format is used to read data from Sequence files.</a:t>
            </a:r>
          </a:p>
          <a:p>
            <a:pPr lvl="1"/>
            <a:r>
              <a:rPr lang="en-US" sz="1600" dirty="0">
                <a:latin typeface="Times New Roman" panose="02020603050405020304" pitchFamily="18" charset="0"/>
                <a:cs typeface="Times New Roman" panose="02020603050405020304" pitchFamily="18" charset="0"/>
              </a:rPr>
              <a:t>It allows for efficient serialization and deserialization of complex data structures</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Avro Input Format</a:t>
            </a:r>
            <a:r>
              <a:rPr lang="en-US" sz="1600"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Avro is a data serialization framework that stores data in a compact binary format.</a:t>
            </a:r>
          </a:p>
          <a:p>
            <a:pPr lvl="1"/>
            <a:r>
              <a:rPr lang="en-US" sz="1600" dirty="0">
                <a:latin typeface="Times New Roman" panose="02020603050405020304" pitchFamily="18" charset="0"/>
                <a:cs typeface="Times New Roman" panose="02020603050405020304" pitchFamily="18" charset="0"/>
              </a:rPr>
              <a:t>Avro Input Format is used to read data in the Avro format.</a:t>
            </a:r>
          </a:p>
          <a:p>
            <a:pPr lvl="1"/>
            <a:r>
              <a:rPr lang="en-US" sz="1600" dirty="0">
                <a:latin typeface="Times New Roman" panose="02020603050405020304" pitchFamily="18" charset="0"/>
                <a:cs typeface="Times New Roman" panose="02020603050405020304" pitchFamily="18" charset="0"/>
              </a:rPr>
              <a:t>It supports schema evolution, making it suitable for semi-structured or evolving data</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smtClean="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Custom Input Formats</a:t>
            </a:r>
            <a:r>
              <a:rPr lang="en-US" sz="1600"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You can implement custom Input Formats and Record-Readers to handle specialized or proprietary data formats.</a:t>
            </a:r>
          </a:p>
          <a:p>
            <a:pPr lvl="1"/>
            <a:r>
              <a:rPr lang="en-US" sz="1600" dirty="0">
                <a:latin typeface="Times New Roman" panose="02020603050405020304" pitchFamily="18" charset="0"/>
                <a:cs typeface="Times New Roman" panose="02020603050405020304" pitchFamily="18" charset="0"/>
              </a:rPr>
              <a:t>Custom input formats are useful when dealing with unique data structures</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Binary Formats (e.g., Parquet, ORC)</a:t>
            </a:r>
            <a:r>
              <a:rPr lang="en-US" sz="1600" dirty="0">
                <a:latin typeface="Times New Roman" panose="02020603050405020304" pitchFamily="18" charset="0"/>
                <a:cs typeface="Times New Roman" panose="02020603050405020304" pitchFamily="18" charset="0"/>
              </a:rPr>
              <a:t>:</a:t>
            </a:r>
          </a:p>
          <a:p>
            <a:pPr lvl="1"/>
            <a:r>
              <a:rPr lang="en-US" sz="1600" dirty="0">
                <a:latin typeface="Times New Roman" panose="02020603050405020304" pitchFamily="18" charset="0"/>
                <a:cs typeface="Times New Roman" panose="02020603050405020304" pitchFamily="18" charset="0"/>
              </a:rPr>
              <a:t>MapReduce can also read data from binary formats like Parquet and ORC.</a:t>
            </a:r>
          </a:p>
          <a:p>
            <a:pPr lvl="1"/>
            <a:r>
              <a:rPr lang="en-US" sz="1600" dirty="0">
                <a:latin typeface="Times New Roman" panose="02020603050405020304" pitchFamily="18" charset="0"/>
                <a:cs typeface="Times New Roman" panose="02020603050405020304" pitchFamily="18" charset="0"/>
              </a:rPr>
              <a:t>These formats are columnar storage formats optimized for performance and compression.</a:t>
            </a:r>
          </a:p>
          <a:p>
            <a:endParaRPr lang="en-IN" sz="1600" dirty="0">
              <a:latin typeface="Times New Roman" panose="02020603050405020304" pitchFamily="18" charset="0"/>
              <a:cs typeface="Times New Roman" panose="02020603050405020304" pitchFamily="18" charset="0"/>
            </a:endParaRPr>
          </a:p>
          <a:p>
            <a:pPr lvl="1"/>
            <a:endParaRPr lang="en-US" sz="1600" dirty="0">
              <a:latin typeface="Times New Roman" panose="02020603050405020304" pitchFamily="18" charset="0"/>
              <a:cs typeface="Times New Roman" panose="02020603050405020304" pitchFamily="18" charset="0"/>
            </a:endParaRPr>
          </a:p>
          <a:p>
            <a:endParaRPr lang="en-IN" sz="1600" dirty="0"/>
          </a:p>
        </p:txBody>
      </p:sp>
    </p:spTree>
    <p:extLst>
      <p:ext uri="{BB962C8B-B14F-4D97-AF65-F5344CB8AC3E}">
        <p14:creationId xmlns:p14="http://schemas.microsoft.com/office/powerpoint/2010/main" val="2773924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6800"/>
            <a:ext cx="8686800" cy="5638800"/>
          </a:xfrm>
        </p:spPr>
        <p:txBody>
          <a:bodyPr>
            <a:noAutofit/>
          </a:bodyPr>
          <a:lstStyle/>
          <a:p>
            <a:pPr marL="0" indent="0">
              <a:buNone/>
            </a:pPr>
            <a:r>
              <a:rPr lang="en-US" sz="1800" b="1" dirty="0" smtClean="0">
                <a:latin typeface="Times New Roman" panose="02020603050405020304" pitchFamily="18" charset="0"/>
                <a:cs typeface="Times New Roman" panose="02020603050405020304" pitchFamily="18" charset="0"/>
              </a:rPr>
              <a:t>Text-Input Format </a:t>
            </a:r>
            <a:r>
              <a:rPr lang="en-US" sz="1800" b="1" dirty="0">
                <a:latin typeface="Times New Roman" panose="02020603050405020304" pitchFamily="18" charset="0"/>
                <a:cs typeface="Times New Roman" panose="02020603050405020304" pitchFamily="18" charset="0"/>
              </a:rPr>
              <a:t>with Custom </a:t>
            </a:r>
            <a:r>
              <a:rPr lang="en-US" sz="1800" b="1" dirty="0" smtClean="0">
                <a:latin typeface="Times New Roman" panose="02020603050405020304" pitchFamily="18" charset="0"/>
                <a:cs typeface="Times New Roman" panose="02020603050405020304" pitchFamily="18" charset="0"/>
              </a:rPr>
              <a:t>Record-Reader</a:t>
            </a:r>
            <a:r>
              <a:rPr lang="en-US" sz="18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You can create custom </a:t>
            </a:r>
            <a:r>
              <a:rPr lang="en-US" sz="1800" dirty="0" smtClean="0">
                <a:latin typeface="Times New Roman" panose="02020603050405020304" pitchFamily="18" charset="0"/>
                <a:cs typeface="Times New Roman" panose="02020603050405020304" pitchFamily="18" charset="0"/>
              </a:rPr>
              <a:t>Record-Readers </a:t>
            </a:r>
            <a:r>
              <a:rPr lang="en-US" sz="1800" dirty="0">
                <a:latin typeface="Times New Roman" panose="02020603050405020304" pitchFamily="18" charset="0"/>
                <a:cs typeface="Times New Roman" panose="02020603050405020304" pitchFamily="18" charset="0"/>
              </a:rPr>
              <a:t>to parse and process input data in specific formats.</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This approach is flexible and allows you to handle non-standard data formats effectively</a:t>
            </a:r>
            <a:r>
              <a:rPr lang="en-US" sz="1800" dirty="0" smtClean="0">
                <a:latin typeface="Times New Roman" panose="02020603050405020304" pitchFamily="18" charset="0"/>
                <a:cs typeface="Times New Roman" panose="02020603050405020304" pitchFamily="18" charset="0"/>
              </a:rPr>
              <a:t>.</a:t>
            </a:r>
          </a:p>
          <a:p>
            <a:pPr marL="393192" lvl="1"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smtClean="0">
                <a:latin typeface="Times New Roman" panose="02020603050405020304" pitchFamily="18" charset="0"/>
                <a:cs typeface="Times New Roman" panose="02020603050405020304" pitchFamily="18" charset="0"/>
              </a:rPr>
              <a:t>Combine File Input Format</a:t>
            </a:r>
            <a:r>
              <a:rPr lang="en-US" sz="18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This format is used to combine multiple small input files into larger input splits to reduce the number of map tasks.</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It helps reduce task overhead and improve job performance when dealing with a large number of small files</a:t>
            </a:r>
            <a:r>
              <a:rPr lang="en-US" sz="1800" dirty="0" smtClean="0">
                <a:latin typeface="Times New Roman" panose="02020603050405020304" pitchFamily="18" charset="0"/>
                <a:cs typeface="Times New Roman" panose="02020603050405020304" pitchFamily="18" charset="0"/>
              </a:rPr>
              <a:t>.</a:t>
            </a:r>
          </a:p>
          <a:p>
            <a:pPr marL="393192" lvl="1"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smtClean="0">
                <a:latin typeface="Times New Roman" panose="02020603050405020304" pitchFamily="18" charset="0"/>
                <a:cs typeface="Times New Roman" panose="02020603050405020304" pitchFamily="18" charset="0"/>
              </a:rPr>
              <a:t>DB Input Format</a:t>
            </a:r>
            <a:r>
              <a:rPr lang="en-US" sz="18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800" dirty="0" smtClean="0">
                <a:latin typeface="Times New Roman" panose="02020603050405020304" pitchFamily="18" charset="0"/>
                <a:cs typeface="Times New Roman" panose="02020603050405020304" pitchFamily="18" charset="0"/>
              </a:rPr>
              <a:t>DB Input Format </a:t>
            </a:r>
            <a:r>
              <a:rPr lang="en-US" sz="1800" dirty="0">
                <a:latin typeface="Times New Roman" panose="02020603050405020304" pitchFamily="18" charset="0"/>
                <a:cs typeface="Times New Roman" panose="02020603050405020304" pitchFamily="18" charset="0"/>
              </a:rPr>
              <a:t>allows MapReduce jobs to read data directly from relational databases.</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It splits the table data into input splits and uses a DB-specific </a:t>
            </a:r>
            <a:r>
              <a:rPr lang="en-US" sz="1800" dirty="0" smtClean="0">
                <a:latin typeface="Times New Roman" panose="02020603050405020304" pitchFamily="18" charset="0"/>
                <a:cs typeface="Times New Roman" panose="02020603050405020304" pitchFamily="18" charset="0"/>
              </a:rPr>
              <a:t>Record-Reader </a:t>
            </a:r>
            <a:r>
              <a:rPr lang="en-US" sz="1800" dirty="0">
                <a:latin typeface="Times New Roman" panose="02020603050405020304" pitchFamily="18" charset="0"/>
                <a:cs typeface="Times New Roman" panose="02020603050405020304" pitchFamily="18" charset="0"/>
              </a:rPr>
              <a:t>to read records.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92263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MR – Input Formats -Summary</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The choice of input format depends on the nature of the input data and the processing requirements of the MapReduce job. </a:t>
            </a:r>
            <a:endParaRPr lang="en-US" sz="2000" dirty="0" smtClean="0">
              <a:latin typeface="Times New Roman" panose="02020603050405020304" pitchFamily="18" charset="0"/>
              <a:cs typeface="Times New Roman" panose="02020603050405020304" pitchFamily="18" charset="0"/>
            </a:endParaRPr>
          </a:p>
          <a:p>
            <a:pPr marL="0" indent="0">
              <a:buNone/>
            </a:pP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It's </a:t>
            </a:r>
            <a:r>
              <a:rPr lang="en-US" sz="2000" dirty="0">
                <a:latin typeface="Times New Roman" panose="02020603050405020304" pitchFamily="18" charset="0"/>
                <a:cs typeface="Times New Roman" panose="02020603050405020304" pitchFamily="18" charset="0"/>
              </a:rPr>
              <a:t>essential to select the appropriate input format to efficiently process and analyze the data. </a:t>
            </a:r>
            <a:endParaRPr lang="en-US" sz="2000" dirty="0" smtClean="0">
              <a:latin typeface="Times New Roman" panose="02020603050405020304" pitchFamily="18" charset="0"/>
              <a:cs typeface="Times New Roman" panose="02020603050405020304" pitchFamily="18" charset="0"/>
            </a:endParaRPr>
          </a:p>
          <a:p>
            <a:pPr marL="0" indent="0">
              <a:buNone/>
            </a:pP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Additionally</a:t>
            </a:r>
            <a:r>
              <a:rPr lang="en-US" sz="2000" dirty="0">
                <a:latin typeface="Times New Roman" panose="02020603050405020304" pitchFamily="18" charset="0"/>
                <a:cs typeface="Times New Roman" panose="02020603050405020304" pitchFamily="18" charset="0"/>
              </a:rPr>
              <a:t>, custom input formats can be created to handle unique data sources and formats.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49996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698" y="228600"/>
            <a:ext cx="8229600"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Map Reduce - Output formats</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marL="0" indent="0">
              <a:buNone/>
            </a:pPr>
            <a:r>
              <a:rPr lang="en-US" sz="1800" dirty="0">
                <a:latin typeface="Times New Roman" panose="02020603050405020304" pitchFamily="18" charset="0"/>
                <a:cs typeface="Times New Roman" panose="02020603050405020304" pitchFamily="18" charset="0"/>
              </a:rPr>
              <a:t>T</a:t>
            </a:r>
            <a:r>
              <a:rPr lang="en-US" sz="1800" dirty="0" smtClean="0">
                <a:latin typeface="Times New Roman" panose="02020603050405020304" pitchFamily="18" charset="0"/>
                <a:cs typeface="Times New Roman" panose="02020603050405020304" pitchFamily="18" charset="0"/>
              </a:rPr>
              <a:t>he </a:t>
            </a:r>
            <a:r>
              <a:rPr lang="en-US" sz="1800" dirty="0">
                <a:latin typeface="Times New Roman" panose="02020603050405020304" pitchFamily="18" charset="0"/>
                <a:cs typeface="Times New Roman" panose="02020603050405020304" pitchFamily="18" charset="0"/>
              </a:rPr>
              <a:t>output of </a:t>
            </a:r>
            <a:r>
              <a:rPr lang="en-US" sz="1800" dirty="0" smtClean="0">
                <a:latin typeface="Times New Roman" panose="02020603050405020304" pitchFamily="18" charset="0"/>
                <a:cs typeface="Times New Roman" panose="02020603050405020304" pitchFamily="18" charset="0"/>
              </a:rPr>
              <a:t>Map Reduce </a:t>
            </a:r>
            <a:r>
              <a:rPr lang="en-US" sz="1800" dirty="0">
                <a:latin typeface="Times New Roman" panose="02020603050405020304" pitchFamily="18" charset="0"/>
                <a:cs typeface="Times New Roman" panose="02020603050405020304" pitchFamily="18" charset="0"/>
              </a:rPr>
              <a:t>jobs can be stored in various formats to suit different use cases and requirements. </a:t>
            </a:r>
            <a:endParaRPr lang="en-US" sz="1800" dirty="0" smtClean="0">
              <a:latin typeface="Times New Roman" panose="02020603050405020304" pitchFamily="18" charset="0"/>
              <a:cs typeface="Times New Roman" panose="02020603050405020304" pitchFamily="18" charset="0"/>
            </a:endParaRPr>
          </a:p>
          <a:p>
            <a:endParaRPr lang="en-US" sz="1800" dirty="0" smtClean="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Here </a:t>
            </a:r>
            <a:r>
              <a:rPr lang="en-US" sz="1800" dirty="0">
                <a:latin typeface="Times New Roman" panose="02020603050405020304" pitchFamily="18" charset="0"/>
                <a:cs typeface="Times New Roman" panose="02020603050405020304" pitchFamily="18" charset="0"/>
              </a:rPr>
              <a:t>are some common output formats used in MapReduce</a:t>
            </a:r>
            <a:r>
              <a:rPr lang="en-US" sz="1800" dirty="0" smtClean="0">
                <a:latin typeface="Times New Roman" panose="02020603050405020304" pitchFamily="18" charset="0"/>
                <a:cs typeface="Times New Roman" panose="02020603050405020304" pitchFamily="18" charset="0"/>
              </a:rPr>
              <a:t>:</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smtClean="0">
                <a:latin typeface="Times New Roman" panose="02020603050405020304" pitchFamily="18" charset="0"/>
                <a:cs typeface="Times New Roman" panose="02020603050405020304" pitchFamily="18" charset="0"/>
              </a:rPr>
              <a:t>Text Output Format</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This is the default output format in Hadoop MapReduce.</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It stores output data as plain text with each key-value pair on a separate line.</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Suitable for human-readable output and simple text-based storage</a:t>
            </a:r>
            <a:r>
              <a:rPr lang="en-US" sz="1800" dirty="0" smtClean="0">
                <a:latin typeface="Times New Roman" panose="02020603050405020304" pitchFamily="18" charset="0"/>
                <a:cs typeface="Times New Roman" panose="02020603050405020304" pitchFamily="18" charset="0"/>
              </a:rPr>
              <a:t>.</a:t>
            </a:r>
          </a:p>
          <a:p>
            <a:pPr marL="393192" lvl="1"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smtClean="0">
                <a:latin typeface="Times New Roman" panose="02020603050405020304" pitchFamily="18" charset="0"/>
                <a:cs typeface="Times New Roman" panose="02020603050405020304" pitchFamily="18" charset="0"/>
              </a:rPr>
              <a:t>SequenceFile Output Format</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Sequence files are binary files used to store key-value pairs efficiently.</a:t>
            </a:r>
          </a:p>
          <a:p>
            <a:pPr lvl="1">
              <a:buFont typeface="Wingdings" panose="05000000000000000000" pitchFamily="2" charset="2"/>
              <a:buChar char="ü"/>
            </a:pPr>
            <a:r>
              <a:rPr lang="en-US" sz="1800" dirty="0" smtClean="0">
                <a:latin typeface="Times New Roman" panose="02020603050405020304" pitchFamily="18" charset="0"/>
                <a:cs typeface="Times New Roman" panose="02020603050405020304" pitchFamily="18" charset="0"/>
              </a:rPr>
              <a:t>SequenceFile Output Format </a:t>
            </a:r>
            <a:r>
              <a:rPr lang="en-US" sz="1800" dirty="0">
                <a:latin typeface="Times New Roman" panose="02020603050405020304" pitchFamily="18" charset="0"/>
                <a:cs typeface="Times New Roman" panose="02020603050405020304" pitchFamily="18" charset="0"/>
              </a:rPr>
              <a:t>is used to write output data to Sequence files.</a:t>
            </a:r>
          </a:p>
          <a:p>
            <a:pPr lvl="1">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It offers high performance and efficient storage of serialized data.</a:t>
            </a:r>
          </a:p>
          <a:p>
            <a:pPr marL="0" indent="0">
              <a:buNone/>
            </a:pP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50977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763000" cy="5562600"/>
          </a:xfrm>
        </p:spPr>
        <p:txBody>
          <a:bodyPr>
            <a:normAutofit/>
          </a:bodyPr>
          <a:lstStyle/>
          <a:p>
            <a:pPr marL="0" indent="0">
              <a:buNone/>
            </a:pPr>
            <a:r>
              <a:rPr lang="en-US" sz="2000" b="1" dirty="0" smtClean="0">
                <a:latin typeface="Times New Roman" panose="02020603050405020304" pitchFamily="18" charset="0"/>
                <a:cs typeface="Times New Roman" panose="02020603050405020304" pitchFamily="18" charset="0"/>
              </a:rPr>
              <a:t>Key-Value Text Output Format</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This format is similar to </a:t>
            </a:r>
            <a:r>
              <a:rPr lang="en-US" sz="2000" dirty="0" smtClean="0">
                <a:latin typeface="Times New Roman" panose="02020603050405020304" pitchFamily="18" charset="0"/>
                <a:cs typeface="Times New Roman" panose="02020603050405020304" pitchFamily="18" charset="0"/>
              </a:rPr>
              <a:t>Text Output Format </a:t>
            </a:r>
            <a:r>
              <a:rPr lang="en-US" sz="2000" dirty="0">
                <a:latin typeface="Times New Roman" panose="02020603050405020304" pitchFamily="18" charset="0"/>
                <a:cs typeface="Times New Roman" panose="02020603050405020304" pitchFamily="18" charset="0"/>
              </a:rPr>
              <a:t>but writes key-value pairs in a tab-separated format.</a:t>
            </a:r>
          </a:p>
          <a:p>
            <a:pPr lvl="1">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It is useful when you want to produce structured text output</a:t>
            </a:r>
            <a:r>
              <a:rPr lang="en-US" sz="2000" dirty="0" smtClean="0">
                <a:latin typeface="Times New Roman" panose="02020603050405020304" pitchFamily="18" charset="0"/>
                <a:cs typeface="Times New Roman" panose="02020603050405020304" pitchFamily="18" charset="0"/>
              </a:rPr>
              <a:t>.</a:t>
            </a:r>
          </a:p>
          <a:p>
            <a:pPr marL="393192" lvl="1"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smtClean="0">
                <a:latin typeface="Times New Roman" panose="02020603050405020304" pitchFamily="18" charset="0"/>
                <a:cs typeface="Times New Roman" panose="02020603050405020304" pitchFamily="18" charset="0"/>
              </a:rPr>
              <a:t>Avro Output Format</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Avro Output Format </a:t>
            </a:r>
            <a:r>
              <a:rPr lang="en-US" sz="2000" dirty="0">
                <a:latin typeface="Times New Roman" panose="02020603050405020304" pitchFamily="18" charset="0"/>
                <a:cs typeface="Times New Roman" panose="02020603050405020304" pitchFamily="18" charset="0"/>
              </a:rPr>
              <a:t>is used to write output data in the Avro format.</a:t>
            </a:r>
          </a:p>
          <a:p>
            <a:pPr lvl="1">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Avro is a compact binary format that supports schema evolution, making it suitable for semi-structured data</a:t>
            </a:r>
            <a:r>
              <a:rPr lang="en-US" sz="2000" dirty="0" smtClean="0">
                <a:latin typeface="Times New Roman" panose="02020603050405020304" pitchFamily="18" charset="0"/>
                <a:cs typeface="Times New Roman" panose="02020603050405020304" pitchFamily="18" charset="0"/>
              </a:rPr>
              <a:t>.</a:t>
            </a:r>
          </a:p>
          <a:p>
            <a:pPr marL="393192" lvl="1"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smtClean="0">
                <a:latin typeface="Times New Roman" panose="02020603050405020304" pitchFamily="18" charset="0"/>
                <a:cs typeface="Times New Roman" panose="02020603050405020304" pitchFamily="18" charset="0"/>
              </a:rPr>
              <a:t>Multiple Outputs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2000" dirty="0" smtClean="0">
                <a:latin typeface="Times New Roman" panose="02020603050405020304" pitchFamily="18" charset="0"/>
                <a:cs typeface="Times New Roman" panose="02020603050405020304" pitchFamily="18" charset="0"/>
              </a:rPr>
              <a:t>Multiple Outputs </a:t>
            </a:r>
            <a:r>
              <a:rPr lang="en-US" sz="2000" dirty="0">
                <a:latin typeface="Times New Roman" panose="02020603050405020304" pitchFamily="18" charset="0"/>
                <a:cs typeface="Times New Roman" panose="02020603050405020304" pitchFamily="18" charset="0"/>
              </a:rPr>
              <a:t>is a mechanism that allows you to write data to multiple output files or directories from a single MapReduce job.</a:t>
            </a:r>
          </a:p>
          <a:p>
            <a:pPr lvl="1">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It's useful when you want to produce multiple outputs with different formats or to separate data based on criteria.</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50847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8610600" cy="5486400"/>
          </a:xfrm>
        </p:spPr>
        <p:txBody>
          <a:bodyPr>
            <a:noAutofit/>
          </a:bodyPr>
          <a:lstStyle/>
          <a:p>
            <a:pPr marL="0" indent="0">
              <a:buNone/>
            </a:pPr>
            <a:r>
              <a:rPr lang="en-US" sz="1600" b="1" dirty="0">
                <a:latin typeface="Times New Roman" panose="02020603050405020304" pitchFamily="18" charset="0"/>
                <a:cs typeface="Times New Roman" panose="02020603050405020304" pitchFamily="18" charset="0"/>
              </a:rPr>
              <a:t>Custom Output Formats</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You can create custom output formats to store output data in formats specific to your use case.</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Custom output formats are beneficial when dealing with proprietary storage systems or unique data formats</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Database Output (e.g., </a:t>
            </a:r>
            <a:r>
              <a:rPr lang="en-US" sz="1600" b="1" dirty="0" smtClean="0">
                <a:latin typeface="Times New Roman" panose="02020603050405020304" pitchFamily="18" charset="0"/>
                <a:cs typeface="Times New Roman" panose="02020603050405020304" pitchFamily="18" charset="0"/>
              </a:rPr>
              <a:t>DB Output Format</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MapReduce jobs can write output data directly to relational databases using output formats like </a:t>
            </a:r>
            <a:r>
              <a:rPr lang="en-US" sz="1600" dirty="0" smtClean="0">
                <a:latin typeface="Times New Roman" panose="02020603050405020304" pitchFamily="18" charset="0"/>
                <a:cs typeface="Times New Roman" panose="02020603050405020304" pitchFamily="18" charset="0"/>
              </a:rPr>
              <a:t>DB Output Format.</a:t>
            </a:r>
            <a:endParaRPr lang="en-US" sz="1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This is useful for updating or populating databases with processed data</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smtClean="0">
                <a:latin typeface="Times New Roman" panose="02020603050405020304" pitchFamily="18" charset="0"/>
                <a:cs typeface="Times New Roman" panose="02020603050405020304" pitchFamily="18" charset="0"/>
              </a:rPr>
              <a:t>Parquet Output Format </a:t>
            </a:r>
            <a:r>
              <a:rPr lang="en-US" sz="1600" b="1" dirty="0">
                <a:latin typeface="Times New Roman" panose="02020603050405020304" pitchFamily="18" charset="0"/>
                <a:cs typeface="Times New Roman" panose="02020603050405020304" pitchFamily="18" charset="0"/>
              </a:rPr>
              <a:t>and </a:t>
            </a:r>
            <a:r>
              <a:rPr lang="en-US" sz="1600" b="1" dirty="0" smtClean="0">
                <a:latin typeface="Times New Roman" panose="02020603050405020304" pitchFamily="18" charset="0"/>
                <a:cs typeface="Times New Roman" panose="02020603050405020304" pitchFamily="18" charset="0"/>
              </a:rPr>
              <a:t>ORC Output Format</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These output formats are used to write output data in columnar storage formats like Parquet and ORC.</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Columnar storage formats are optimized for query performance and compression</a:t>
            </a:r>
            <a:r>
              <a:rPr lang="en-US" sz="1600" dirty="0" smtClean="0">
                <a:latin typeface="Times New Roman" panose="02020603050405020304" pitchFamily="18" charset="0"/>
                <a:cs typeface="Times New Roman" panose="02020603050405020304" pitchFamily="18" charset="0"/>
              </a:rPr>
              <a:t>.</a:t>
            </a:r>
          </a:p>
          <a:p>
            <a:pPr marL="393192" lvl="1"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Binary Output Formats</a:t>
            </a:r>
            <a:r>
              <a:rPr lang="en-US" sz="1600"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MapReduce can write data in various binary formats when efficiency and compact storage are important.</a:t>
            </a:r>
          </a:p>
          <a:p>
            <a:pPr lvl="1">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These formats are suitable for storing data that will be processed further using other tools or systems.</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72668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951" y="304800"/>
            <a:ext cx="8229600" cy="1143000"/>
          </a:xfrm>
        </p:spPr>
        <p:txBody>
          <a:bodyPr>
            <a:normAutofit/>
          </a:bodyPr>
          <a:lstStyle/>
          <a:p>
            <a:r>
              <a:rPr lang="en-US" sz="3600" b="1" dirty="0" smtClean="0">
                <a:solidFill>
                  <a:srgbClr val="FF0000"/>
                </a:solidFill>
                <a:latin typeface="Times New Roman" panose="02020603050405020304" pitchFamily="18" charset="0"/>
                <a:cs typeface="Times New Roman" panose="02020603050405020304" pitchFamily="18" charset="0"/>
              </a:rPr>
              <a:t>MR – Output Formats - Summary</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The choice of output format depends on the nature of the data and the subsequent processing or analysis steps. </a:t>
            </a:r>
            <a:r>
              <a:rPr lang="en-US" sz="2000" dirty="0" smtClean="0">
                <a:latin typeface="Times New Roman" panose="02020603050405020304" pitchFamily="18" charset="0"/>
                <a:cs typeface="Times New Roman" panose="02020603050405020304" pitchFamily="18" charset="0"/>
              </a:rPr>
              <a:t>  </a:t>
            </a:r>
          </a:p>
          <a:p>
            <a:pPr marL="0" indent="0">
              <a:buNone/>
            </a:pP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It's </a:t>
            </a:r>
            <a:r>
              <a:rPr lang="en-US" sz="2000" dirty="0">
                <a:latin typeface="Times New Roman" panose="02020603050405020304" pitchFamily="18" charset="0"/>
                <a:cs typeface="Times New Roman" panose="02020603050405020304" pitchFamily="18" charset="0"/>
              </a:rPr>
              <a:t>essential to select the appropriate output format to ensure efficient data storage, compatibility with downstream tools, and ease of data retrieval and processing. </a:t>
            </a:r>
            <a:endParaRPr lang="en-US" sz="2000" dirty="0" smtClean="0">
              <a:latin typeface="Times New Roman" panose="02020603050405020304" pitchFamily="18" charset="0"/>
              <a:cs typeface="Times New Roman" panose="02020603050405020304" pitchFamily="18" charset="0"/>
            </a:endParaRPr>
          </a:p>
          <a:p>
            <a:pPr marL="0" indent="0">
              <a:buNone/>
            </a:pP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Custom </a:t>
            </a:r>
            <a:r>
              <a:rPr lang="en-US" sz="2000" dirty="0">
                <a:latin typeface="Times New Roman" panose="02020603050405020304" pitchFamily="18" charset="0"/>
                <a:cs typeface="Times New Roman" panose="02020603050405020304" pitchFamily="18" charset="0"/>
              </a:rPr>
              <a:t>output formats can be implemented to handle specific storage or data format requirements.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41454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334</TotalTime>
  <Words>5172</Words>
  <Application>Microsoft Office PowerPoint</Application>
  <PresentationFormat>On-screen Show (4:3)</PresentationFormat>
  <Paragraphs>464</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Calibri</vt:lpstr>
      <vt:lpstr>Constantia</vt:lpstr>
      <vt:lpstr>Times New Roman</vt:lpstr>
      <vt:lpstr>Wingdings</vt:lpstr>
      <vt:lpstr>Wingdings 2</vt:lpstr>
      <vt:lpstr>Flow</vt:lpstr>
      <vt:lpstr>Unit -3</vt:lpstr>
      <vt:lpstr>Map Reduce – Unit Testing</vt:lpstr>
      <vt:lpstr> </vt:lpstr>
      <vt:lpstr>PowerPoint Presentation</vt:lpstr>
      <vt:lpstr>PowerPoint Presentation</vt:lpstr>
      <vt:lpstr>Unit-3         Part-2</vt:lpstr>
      <vt:lpstr>Anatomy of Map Reduce</vt:lpstr>
      <vt:lpstr>PowerPoint Presentation</vt:lpstr>
      <vt:lpstr>PowerPoint Presentation</vt:lpstr>
      <vt:lpstr>PowerPoint Presentation</vt:lpstr>
      <vt:lpstr>Classic Map reduce - Original Implementation</vt:lpstr>
      <vt:lpstr>PowerPoint Presentation</vt:lpstr>
      <vt:lpstr>PowerPoint Presentation</vt:lpstr>
      <vt:lpstr>Developments in MR compared to CMR</vt:lpstr>
      <vt:lpstr>Failures in Classic Map Reduce</vt:lpstr>
      <vt:lpstr>PowerPoint Presentation</vt:lpstr>
      <vt:lpstr>PowerPoint Presentation</vt:lpstr>
      <vt:lpstr>YARN</vt:lpstr>
      <vt:lpstr>PowerPoint Presentation</vt:lpstr>
      <vt:lpstr>Failures in YARN </vt:lpstr>
      <vt:lpstr>PowerPoint Presentation</vt:lpstr>
      <vt:lpstr>PowerPoint Presentation</vt:lpstr>
      <vt:lpstr>Shuffle &amp; Sort </vt:lpstr>
      <vt:lpstr>PowerPoint Presentation</vt:lpstr>
      <vt:lpstr>Task Execution</vt:lpstr>
      <vt:lpstr>PowerPoint Presentation</vt:lpstr>
      <vt:lpstr>PowerPoint Presentation</vt:lpstr>
      <vt:lpstr>Unit-3   Part-3</vt:lpstr>
      <vt:lpstr>Map Reduce Types</vt:lpstr>
      <vt:lpstr>PowerPoint Presentation</vt:lpstr>
      <vt:lpstr>PowerPoint Presentation</vt:lpstr>
      <vt:lpstr>Map Reduce – Types - Summary</vt:lpstr>
      <vt:lpstr>Map Reduce - Input Formats</vt:lpstr>
      <vt:lpstr>PowerPoint Presentation</vt:lpstr>
      <vt:lpstr>PowerPoint Presentation</vt:lpstr>
      <vt:lpstr>MR – Input Formats -Summary</vt:lpstr>
      <vt:lpstr>Map Reduce - Output formats</vt:lpstr>
      <vt:lpstr>PowerPoint Presentation</vt:lpstr>
      <vt:lpstr>PowerPoint Presentation</vt:lpstr>
      <vt:lpstr>MR – Output Formats - Summary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Yes</dc:creator>
  <cp:lastModifiedBy>MRUH</cp:lastModifiedBy>
  <cp:revision>149</cp:revision>
  <dcterms:created xsi:type="dcterms:W3CDTF">2006-08-16T00:00:00Z</dcterms:created>
  <dcterms:modified xsi:type="dcterms:W3CDTF">2023-10-03T09:32:14Z</dcterms:modified>
</cp:coreProperties>
</file>