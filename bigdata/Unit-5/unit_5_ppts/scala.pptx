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Layouts/slideLayout1.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4" r:id="rId1"/>
  </p:sldMasterIdLst>
  <p:sldIdLst>
    <p:sldId id="257" r:id="rId2"/>
    <p:sldId id="256" r:id="rId3"/>
    <p:sldId id="259" r:id="rId4"/>
    <p:sldId id="258" r:id="rId5"/>
    <p:sldId id="277" r:id="rId6"/>
    <p:sldId id="260" r:id="rId7"/>
    <p:sldId id="261" r:id="rId8"/>
    <p:sldId id="262" r:id="rId9"/>
    <p:sldId id="263" r:id="rId10"/>
    <p:sldId id="267" r:id="rId11"/>
    <p:sldId id="264" r:id="rId12"/>
    <p:sldId id="265" r:id="rId13"/>
    <p:sldId id="266" r:id="rId14"/>
    <p:sldId id="268" r:id="rId15"/>
    <p:sldId id="269" r:id="rId16"/>
    <p:sldId id="270" r:id="rId17"/>
    <p:sldId id="271" r:id="rId18"/>
    <p:sldId id="272" r:id="rId19"/>
    <p:sldId id="273" r:id="rId20"/>
    <p:sldId id="274" r:id="rId21"/>
    <p:sldId id="275" r:id="rId22"/>
    <p:sldId id="276" r:id="rId2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68" d="100"/>
          <a:sy n="68" d="100"/>
        </p:scale>
        <p:origin x="-822"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8466" y="-8468"/>
            <a:ext cx="9169804" cy="6874935"/>
            <a:chOff x="-8466" y="-8468"/>
            <a:chExt cx="9169804" cy="6874935"/>
          </a:xfrm>
        </p:grpSpPr>
        <p:cxnSp>
          <p:nvCxnSpPr>
            <p:cNvPr id="17" name="Straight Connector 16"/>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9" name="Freeform 18"/>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Freeform 19"/>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Freeform 20"/>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21"/>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Freeform 22"/>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Freeform 23"/>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Freeform 24"/>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Freeform 2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595" y="2404534"/>
            <a:ext cx="5826719"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11/13/2023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xmlns="" val="36158791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11/13/2023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xmlns="" val="42210412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09598" y="4527448"/>
            <a:ext cx="6347715"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11/13/2023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xmlns="" val="29940571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1320800"/>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pPr/>
              <a:t>11/13/2023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xmlns="" val="6768432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599" y="2737246"/>
            <a:ext cx="3090672"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11/13/2023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xmlns="" val="20587253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pPr/>
              <a:t>11/13/2023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xmlns="" val="8545461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11/13/2023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xmlns="" val="37232579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3571275" y="514925"/>
            <a:ext cx="3386037" cy="552643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xmlns="" val="20030976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09599" y="609600"/>
            <a:ext cx="6347714"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xmlns="" val="13870029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11/13/2023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xmlns="" val="17111183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11/13/2023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xmlns="" val="278252614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11/13/2023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xmlns="" val="194953174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11/13/2023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xmlns="" val="10909534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11/13/2023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xmlns="" val="216865440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11/13/2023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xmlns="" val="339492662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09599" y="609600"/>
            <a:ext cx="5195026" cy="5251451"/>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11/13/2023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xmlns="" val="4254468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8467" y="-8468"/>
            <a:ext cx="9169805" cy="6874935"/>
            <a:chOff x="-8467" y="-8468"/>
            <a:chExt cx="9169805" cy="6874935"/>
          </a:xfrm>
        </p:grpSpPr>
        <p:sp>
          <p:nvSpPr>
            <p:cNvPr id="7" name="Freeform 6"/>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8" name="Straight Connector 7"/>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09599" y="609600"/>
            <a:ext cx="6347713"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09599" y="2160590"/>
            <a:ext cx="6347714" cy="388077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5405258" y="6041363"/>
            <a:ext cx="684132"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1D8BD707-D9CF-40AE-B4C6-C98DA3205C09}" type="datetimeFigureOut">
              <a:rPr lang="en-US" smtClean="0"/>
              <a:pPr/>
              <a:t>11/13/2023</a:t>
            </a:fld>
            <a:endParaRPr lang="en-US"/>
          </a:p>
        </p:txBody>
      </p:sp>
      <p:sp>
        <p:nvSpPr>
          <p:cNvPr id="5" name="Footer Placeholder 4"/>
          <p:cNvSpPr>
            <a:spLocks noGrp="1"/>
          </p:cNvSpPr>
          <p:nvPr>
            <p:ph type="ftr" sz="quarter" idx="3"/>
          </p:nvPr>
        </p:nvSpPr>
        <p:spPr>
          <a:xfrm>
            <a:off x="609599" y="6041363"/>
            <a:ext cx="4622973"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44676" y="6041363"/>
            <a:ext cx="512638" cy="365125"/>
          </a:xfrm>
          <a:prstGeom prst="rect">
            <a:avLst/>
          </a:prstGeom>
        </p:spPr>
        <p:txBody>
          <a:bodyPr vert="horz" lIns="91440" tIns="45720" rIns="91440" bIns="45720" rtlCol="0" anchor="ctr"/>
          <a:lstStyle>
            <a:lvl1pPr algn="r">
              <a:defRPr sz="900">
                <a:solidFill>
                  <a:schemeClr val="accent1"/>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xmlns="" val="1340444802"/>
      </p:ext>
    </p:extLst>
  </p:cSld>
  <p:clrMap bg1="lt1" tx1="dk1" bg2="lt2" tx2="dk2" accent1="accent1" accent2="accent2" accent3="accent3" accent4="accent4" accent5="accent5" accent6="accent6" hlink="hlink" folHlink="folHlink"/>
  <p:sldLayoutIdLst>
    <p:sldLayoutId id="2147483805" r:id="rId1"/>
    <p:sldLayoutId id="2147483806"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 id="2147483816" r:id="rId12"/>
    <p:sldLayoutId id="2147483817" r:id="rId13"/>
    <p:sldLayoutId id="2147483818" r:id="rId14"/>
    <p:sldLayoutId id="2147483819" r:id="rId15"/>
    <p:sldLayoutId id="2147483820"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381000"/>
            <a:ext cx="3886200" cy="990600"/>
          </a:xfrm>
        </p:spPr>
        <p:txBody>
          <a:bodyPr/>
          <a:lstStyle/>
          <a:p>
            <a:r>
              <a:rPr lang="en-US" b="1" dirty="0" smtClean="0">
                <a:solidFill>
                  <a:srgbClr val="002060"/>
                </a:solidFill>
                <a:latin typeface="Times New Roman" panose="02020603050405020304" pitchFamily="18" charset="0"/>
                <a:cs typeface="Times New Roman" panose="02020603050405020304" pitchFamily="18" charset="0"/>
              </a:rPr>
              <a:t>Unit - V</a:t>
            </a:r>
            <a:endParaRPr lang="en-US" b="1" dirty="0">
              <a:solidFill>
                <a:srgbClr val="002060"/>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533400" y="1905000"/>
            <a:ext cx="6231465" cy="35052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smtClean="0">
                <a:solidFill>
                  <a:srgbClr val="FF0000"/>
                </a:solidFill>
                <a:latin typeface="Times New Roman" panose="02020603050405020304" pitchFamily="18" charset="0"/>
                <a:cs typeface="Times New Roman" panose="02020603050405020304" pitchFamily="18" charset="0"/>
              </a:rPr>
              <a:t>Scala</a:t>
            </a:r>
            <a:endParaRPr lang="en-US" sz="3600"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28600" y="1447800"/>
            <a:ext cx="7391400" cy="4267200"/>
          </a:xfrm>
        </p:spPr>
        <p:txBody>
          <a:bodyPr>
            <a:noAutofit/>
          </a:bodyPr>
          <a:lstStyle/>
          <a:p>
            <a:r>
              <a:rPr lang="en-US" sz="2000" dirty="0" smtClean="0">
                <a:solidFill>
                  <a:schemeClr val="tx1"/>
                </a:solidFill>
                <a:latin typeface="Times New Roman" panose="02020603050405020304" pitchFamily="18" charset="0"/>
                <a:cs typeface="Times New Roman" panose="02020603050405020304" pitchFamily="18" charset="0"/>
              </a:rPr>
              <a:t>Scala is a </a:t>
            </a:r>
            <a:r>
              <a:rPr lang="en-US" sz="2000" b="1" dirty="0" smtClean="0">
                <a:solidFill>
                  <a:schemeClr val="tx1"/>
                </a:solidFill>
                <a:latin typeface="Times New Roman" panose="02020603050405020304" pitchFamily="18" charset="0"/>
                <a:cs typeface="Times New Roman" panose="02020603050405020304" pitchFamily="18" charset="0"/>
              </a:rPr>
              <a:t>General-purpose Programming Language</a:t>
            </a:r>
            <a:r>
              <a:rPr lang="en-US" sz="2000" dirty="0" smtClean="0">
                <a:solidFill>
                  <a:schemeClr val="tx1"/>
                </a:solidFill>
                <a:latin typeface="Times New Roman" panose="02020603050405020304" pitchFamily="18" charset="0"/>
                <a:cs typeface="Times New Roman" panose="02020603050405020304" pitchFamily="18" charset="0"/>
              </a:rPr>
              <a:t> that supports both </a:t>
            </a:r>
            <a:r>
              <a:rPr lang="en-US" sz="2000" b="1" dirty="0" smtClean="0">
                <a:solidFill>
                  <a:schemeClr val="tx1"/>
                </a:solidFill>
                <a:latin typeface="Times New Roman" panose="02020603050405020304" pitchFamily="18" charset="0"/>
                <a:cs typeface="Times New Roman" panose="02020603050405020304" pitchFamily="18" charset="0"/>
              </a:rPr>
              <a:t>Functional And Object-oriented Programming</a:t>
            </a:r>
            <a:r>
              <a:rPr lang="en-US" sz="2000" dirty="0" smtClean="0">
                <a:solidFill>
                  <a:schemeClr val="tx1"/>
                </a:solidFill>
                <a:latin typeface="Times New Roman" panose="02020603050405020304" pitchFamily="18" charset="0"/>
                <a:cs typeface="Times New Roman" panose="02020603050405020304" pitchFamily="18" charset="0"/>
              </a:rPr>
              <a:t> </a:t>
            </a:r>
            <a:r>
              <a:rPr lang="en-US" sz="2000" dirty="0" smtClean="0">
                <a:solidFill>
                  <a:schemeClr val="tx1"/>
                </a:solidFill>
                <a:latin typeface="Times New Roman" panose="02020603050405020304" pitchFamily="18" charset="0"/>
                <a:cs typeface="Times New Roman" panose="02020603050405020304" pitchFamily="18" charset="0"/>
              </a:rPr>
              <a:t>styles. </a:t>
            </a:r>
          </a:p>
          <a:p>
            <a:r>
              <a:rPr lang="en-US" sz="2000" dirty="0" smtClean="0">
                <a:solidFill>
                  <a:schemeClr val="tx1"/>
                </a:solidFill>
                <a:latin typeface="Times New Roman" panose="02020603050405020304" pitchFamily="18" charset="0"/>
                <a:cs typeface="Times New Roman" panose="02020603050405020304" pitchFamily="18" charset="0"/>
              </a:rPr>
              <a:t>It is designed to be concise, expressive, and scalable. </a:t>
            </a:r>
          </a:p>
          <a:p>
            <a:r>
              <a:rPr lang="en-US" sz="2000" dirty="0" smtClean="0">
                <a:solidFill>
                  <a:schemeClr val="tx1"/>
                </a:solidFill>
                <a:latin typeface="Times New Roman" panose="02020603050405020304" pitchFamily="18" charset="0"/>
                <a:cs typeface="Times New Roman" panose="02020603050405020304" pitchFamily="18" charset="0"/>
              </a:rPr>
              <a:t>Scala is </a:t>
            </a:r>
            <a:r>
              <a:rPr lang="en-US" sz="2000" b="1" dirty="0" smtClean="0">
                <a:solidFill>
                  <a:schemeClr val="tx1"/>
                </a:solidFill>
                <a:latin typeface="Times New Roman" panose="02020603050405020304" pitchFamily="18" charset="0"/>
                <a:cs typeface="Times New Roman" panose="02020603050405020304" pitchFamily="18" charset="0"/>
              </a:rPr>
              <a:t>Compiled To Java Byte Code</a:t>
            </a:r>
            <a:r>
              <a:rPr lang="en-US" sz="2000" dirty="0" smtClean="0">
                <a:solidFill>
                  <a:schemeClr val="tx1"/>
                </a:solidFill>
                <a:latin typeface="Times New Roman" panose="02020603050405020304" pitchFamily="18" charset="0"/>
                <a:cs typeface="Times New Roman" panose="02020603050405020304" pitchFamily="18" charset="0"/>
              </a:rPr>
              <a:t>, </a:t>
            </a:r>
            <a:r>
              <a:rPr lang="en-US" sz="2000" dirty="0" smtClean="0">
                <a:solidFill>
                  <a:schemeClr val="tx1"/>
                </a:solidFill>
                <a:latin typeface="Times New Roman" panose="02020603050405020304" pitchFamily="18" charset="0"/>
                <a:cs typeface="Times New Roman" panose="02020603050405020304" pitchFamily="18" charset="0"/>
              </a:rPr>
              <a:t>so it can run on any </a:t>
            </a:r>
            <a:r>
              <a:rPr lang="en-US" sz="2000" b="1" dirty="0" smtClean="0">
                <a:solidFill>
                  <a:schemeClr val="tx1"/>
                </a:solidFill>
                <a:latin typeface="Times New Roman" panose="02020603050405020304" pitchFamily="18" charset="0"/>
                <a:cs typeface="Times New Roman" panose="02020603050405020304" pitchFamily="18" charset="0"/>
              </a:rPr>
              <a:t>Java Virtual Machine</a:t>
            </a:r>
            <a:r>
              <a:rPr lang="en-US" sz="2000" dirty="0" smtClean="0">
                <a:solidFill>
                  <a:schemeClr val="tx1"/>
                </a:solidFill>
                <a:latin typeface="Times New Roman" panose="02020603050405020304" pitchFamily="18" charset="0"/>
                <a:cs typeface="Times New Roman" panose="02020603050405020304" pitchFamily="18" charset="0"/>
              </a:rPr>
              <a:t> </a:t>
            </a:r>
            <a:r>
              <a:rPr lang="en-US" sz="2000" dirty="0" smtClean="0">
                <a:solidFill>
                  <a:schemeClr val="tx1"/>
                </a:solidFill>
                <a:latin typeface="Times New Roman" panose="02020603050405020304" pitchFamily="18" charset="0"/>
                <a:cs typeface="Times New Roman" panose="02020603050405020304" pitchFamily="18" charset="0"/>
              </a:rPr>
              <a:t>(JVM).</a:t>
            </a:r>
          </a:p>
          <a:p>
            <a:r>
              <a:rPr lang="en-US" sz="2000" dirty="0" smtClean="0">
                <a:solidFill>
                  <a:schemeClr val="tx1"/>
                </a:solidFill>
                <a:latin typeface="Times New Roman" panose="02020603050405020304" pitchFamily="18" charset="0"/>
                <a:cs typeface="Times New Roman" panose="02020603050405020304" pitchFamily="18" charset="0"/>
              </a:rPr>
              <a:t>Scala is often used for </a:t>
            </a:r>
          </a:p>
          <a:p>
            <a:pPr>
              <a:buNone/>
            </a:pPr>
            <a:r>
              <a:rPr lang="en-US" sz="2000" b="1" dirty="0" smtClean="0">
                <a:solidFill>
                  <a:schemeClr val="tx1"/>
                </a:solidFill>
                <a:latin typeface="Times New Roman" panose="02020603050405020304" pitchFamily="18" charset="0"/>
                <a:cs typeface="Times New Roman" panose="02020603050405020304" pitchFamily="18" charset="0"/>
              </a:rPr>
              <a:t>Developing Web Applications</a:t>
            </a:r>
          </a:p>
          <a:p>
            <a:pPr>
              <a:buNone/>
            </a:pPr>
            <a:r>
              <a:rPr lang="en-US" sz="2000" b="1" dirty="0" smtClean="0">
                <a:solidFill>
                  <a:schemeClr val="tx1"/>
                </a:solidFill>
                <a:latin typeface="Times New Roman" panose="02020603050405020304" pitchFamily="18" charset="0"/>
                <a:cs typeface="Times New Roman" panose="02020603050405020304" pitchFamily="18" charset="0"/>
              </a:rPr>
              <a:t>Distributed Systems</a:t>
            </a:r>
          </a:p>
          <a:p>
            <a:pPr>
              <a:buNone/>
            </a:pPr>
            <a:r>
              <a:rPr lang="en-US" sz="2000" b="1" dirty="0" smtClean="0">
                <a:solidFill>
                  <a:schemeClr val="tx1"/>
                </a:solidFill>
                <a:latin typeface="Times New Roman" panose="02020603050405020304" pitchFamily="18" charset="0"/>
                <a:cs typeface="Times New Roman" panose="02020603050405020304" pitchFamily="18" charset="0"/>
              </a:rPr>
              <a:t> Big Data Processing Applications. </a:t>
            </a:r>
          </a:p>
          <a:p>
            <a:r>
              <a:rPr lang="en-US" sz="2000" dirty="0" smtClean="0">
                <a:solidFill>
                  <a:schemeClr val="tx1"/>
                </a:solidFill>
                <a:latin typeface="Times New Roman" panose="02020603050405020304" pitchFamily="18" charset="0"/>
                <a:cs typeface="Times New Roman" panose="02020603050405020304" pitchFamily="18" charset="0"/>
              </a:rPr>
              <a:t>It is also used in academia and research for developing new programming language features and tools.</a:t>
            </a:r>
          </a:p>
          <a:p>
            <a:pPr marL="0" indent="0">
              <a:buNone/>
            </a:pPr>
            <a:r>
              <a:rPr lang="en-US" sz="2000" dirty="0" smtClean="0">
                <a:solidFill>
                  <a:schemeClr val="tx1"/>
                </a:solidFill>
                <a:latin typeface="Times New Roman" panose="02020603050405020304" pitchFamily="18" charset="0"/>
                <a:cs typeface="Times New Roman" panose="02020603050405020304" pitchFamily="18" charset="0"/>
              </a:rPr>
              <a:t/>
            </a:r>
            <a:br>
              <a:rPr lang="en-US" sz="2000" dirty="0" smtClean="0">
                <a:solidFill>
                  <a:schemeClr val="tx1"/>
                </a:solidFill>
                <a:latin typeface="Times New Roman" panose="02020603050405020304" pitchFamily="18" charset="0"/>
                <a:cs typeface="Times New Roman" panose="02020603050405020304" pitchFamily="18" charset="0"/>
              </a:rPr>
            </a:br>
            <a:endParaRPr lang="en-US" sz="20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 y="76200"/>
            <a:ext cx="7772400" cy="4572000"/>
          </a:xfrm>
        </p:spPr>
        <p:txBody>
          <a:bodyPr>
            <a:normAutofit/>
          </a:bodyPr>
          <a:lstStyle/>
          <a:p>
            <a:pPr marL="0" indent="0">
              <a:buNone/>
            </a:pPr>
            <a:r>
              <a:rPr lang="en-US" sz="2000" b="1" dirty="0" smtClean="0">
                <a:solidFill>
                  <a:srgbClr val="002060"/>
                </a:solidFill>
                <a:latin typeface="Times New Roman" panose="02020603050405020304" pitchFamily="18" charset="0"/>
                <a:cs typeface="Times New Roman" panose="02020603050405020304" pitchFamily="18" charset="0"/>
              </a:rPr>
              <a:t>Popular Scala Frameworks And Libraries</a:t>
            </a:r>
          </a:p>
          <a:p>
            <a:pPr>
              <a:buFont typeface="Wingdings" panose="05000000000000000000" pitchFamily="2" charset="2"/>
              <a:buChar char="ü"/>
            </a:pPr>
            <a:r>
              <a:rPr lang="en-US" sz="2000" b="1" dirty="0" smtClean="0">
                <a:latin typeface="Times New Roman" panose="02020603050405020304" pitchFamily="18" charset="0"/>
                <a:cs typeface="Times New Roman" panose="02020603050405020304" pitchFamily="18" charset="0"/>
              </a:rPr>
              <a:t>Play Framework</a:t>
            </a:r>
            <a:r>
              <a:rPr lang="en-US" sz="2000" dirty="0" smtClean="0">
                <a:latin typeface="Times New Roman" panose="02020603050405020304" pitchFamily="18" charset="0"/>
                <a:cs typeface="Times New Roman" panose="02020603050405020304" pitchFamily="18" charset="0"/>
              </a:rPr>
              <a:t>: A web application framework</a:t>
            </a:r>
          </a:p>
          <a:p>
            <a:pPr>
              <a:buFont typeface="Wingdings" panose="05000000000000000000" pitchFamily="2" charset="2"/>
              <a:buChar char="ü"/>
            </a:pPr>
            <a:r>
              <a:rPr lang="en-US" sz="2000" b="1" dirty="0" smtClean="0">
                <a:latin typeface="Times New Roman" panose="02020603050405020304" pitchFamily="18" charset="0"/>
                <a:cs typeface="Times New Roman" panose="02020603050405020304" pitchFamily="18" charset="0"/>
              </a:rPr>
              <a:t>Akka</a:t>
            </a:r>
            <a:r>
              <a:rPr lang="en-US" sz="2000" dirty="0" smtClean="0">
                <a:latin typeface="Times New Roman" panose="02020603050405020304" pitchFamily="18" charset="0"/>
                <a:cs typeface="Times New Roman" panose="02020603050405020304" pitchFamily="18" charset="0"/>
              </a:rPr>
              <a:t>: A distributed systems framework</a:t>
            </a:r>
          </a:p>
          <a:p>
            <a:pPr>
              <a:buFont typeface="Wingdings" panose="05000000000000000000" pitchFamily="2" charset="2"/>
              <a:buChar char="ü"/>
            </a:pPr>
            <a:r>
              <a:rPr lang="en-US" sz="2000" b="1" dirty="0" smtClean="0">
                <a:latin typeface="Times New Roman" panose="02020603050405020304" pitchFamily="18" charset="0"/>
                <a:cs typeface="Times New Roman" panose="02020603050405020304" pitchFamily="18" charset="0"/>
              </a:rPr>
              <a:t>Spark</a:t>
            </a:r>
            <a:r>
              <a:rPr lang="en-US" sz="2000" dirty="0" smtClean="0">
                <a:latin typeface="Times New Roman" panose="02020603050405020304" pitchFamily="18" charset="0"/>
                <a:cs typeface="Times New Roman" panose="02020603050405020304" pitchFamily="18" charset="0"/>
              </a:rPr>
              <a:t>: A big data processing framework</a:t>
            </a:r>
          </a:p>
          <a:p>
            <a:pPr>
              <a:buFont typeface="Wingdings" panose="05000000000000000000" pitchFamily="2" charset="2"/>
              <a:buChar char="ü"/>
            </a:pPr>
            <a:r>
              <a:rPr lang="en-US" sz="2000" b="1" dirty="0" smtClean="0">
                <a:latin typeface="Times New Roman" panose="02020603050405020304" pitchFamily="18" charset="0"/>
                <a:cs typeface="Times New Roman" panose="02020603050405020304" pitchFamily="18" charset="0"/>
              </a:rPr>
              <a:t>Scalatra</a:t>
            </a:r>
            <a:r>
              <a:rPr lang="en-US" sz="2000" dirty="0" smtClean="0">
                <a:latin typeface="Times New Roman" panose="02020603050405020304" pitchFamily="18" charset="0"/>
                <a:cs typeface="Times New Roman" panose="02020603050405020304" pitchFamily="18" charset="0"/>
              </a:rPr>
              <a:t>: A web framework</a:t>
            </a:r>
          </a:p>
          <a:p>
            <a:pPr>
              <a:buFont typeface="Wingdings" panose="05000000000000000000" pitchFamily="2" charset="2"/>
              <a:buChar char="ü"/>
            </a:pPr>
            <a:r>
              <a:rPr lang="en-US" sz="2000" b="1" dirty="0" smtClean="0">
                <a:latin typeface="Times New Roman" panose="02020603050405020304" pitchFamily="18" charset="0"/>
                <a:cs typeface="Times New Roman" panose="02020603050405020304" pitchFamily="18" charset="0"/>
              </a:rPr>
              <a:t>Slick</a:t>
            </a:r>
            <a:r>
              <a:rPr lang="en-US" sz="2000" dirty="0" smtClean="0">
                <a:latin typeface="Times New Roman" panose="02020603050405020304" pitchFamily="18" charset="0"/>
                <a:cs typeface="Times New Roman" panose="02020603050405020304" pitchFamily="18" charset="0"/>
              </a:rPr>
              <a:t>: A database access library</a:t>
            </a:r>
          </a:p>
          <a:p>
            <a:pPr marL="0" indent="0">
              <a:buNone/>
            </a:pPr>
            <a:r>
              <a:rPr lang="en-US" sz="2000" dirty="0" smtClean="0">
                <a:latin typeface="Times New Roman" panose="02020603050405020304" pitchFamily="18" charset="0"/>
                <a:cs typeface="Times New Roman" panose="02020603050405020304" pitchFamily="18" charset="0"/>
              </a:rPr>
              <a:t/>
            </a:r>
            <a:br>
              <a:rPr lang="en-US" sz="2000" dirty="0" smtClean="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609600" y="2895600"/>
            <a:ext cx="6324600" cy="367678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228600"/>
            <a:ext cx="7467600" cy="5791200"/>
          </a:xfrm>
        </p:spPr>
        <p:txBody>
          <a:bodyPr>
            <a:noAutofit/>
          </a:bodyPr>
          <a:lstStyle/>
          <a:p>
            <a:pPr>
              <a:buNone/>
            </a:pPr>
            <a:r>
              <a:rPr lang="en-US" sz="2000" b="1" dirty="0" smtClean="0">
                <a:latin typeface="Times New Roman" panose="02020603050405020304" pitchFamily="18" charset="0"/>
                <a:cs typeface="Times New Roman" panose="02020603050405020304" pitchFamily="18" charset="0"/>
              </a:rPr>
              <a:t>Some Of The Key Features Of Scala Include:</a:t>
            </a:r>
          </a:p>
          <a:p>
            <a:pPr marL="0" indent="0">
              <a:buNone/>
            </a:pPr>
            <a:r>
              <a:rPr lang="en-US" sz="2000" b="1" dirty="0" smtClean="0">
                <a:solidFill>
                  <a:srgbClr val="002060"/>
                </a:solidFill>
                <a:latin typeface="Times New Roman" panose="02020603050405020304" pitchFamily="18" charset="0"/>
                <a:cs typeface="Times New Roman" panose="02020603050405020304" pitchFamily="18" charset="0"/>
              </a:rPr>
              <a:t>Conciseness</a:t>
            </a:r>
            <a:r>
              <a:rPr lang="en-US" sz="2000" dirty="0" smtClean="0">
                <a:latin typeface="Times New Roman" panose="02020603050405020304" pitchFamily="18" charset="0"/>
                <a:cs typeface="Times New Roman" panose="02020603050405020304" pitchFamily="18" charset="0"/>
              </a:rPr>
              <a:t>: Scala is a very concise language, thanks to its powerful expressiveness and support for functional programming. </a:t>
            </a:r>
          </a:p>
          <a:p>
            <a:pPr>
              <a:buFont typeface="Wingdings" panose="05000000000000000000" pitchFamily="2" charset="2"/>
              <a:buChar char="ü"/>
            </a:pPr>
            <a:r>
              <a:rPr lang="en-US" sz="2000" dirty="0" smtClean="0">
                <a:latin typeface="Times New Roman" panose="02020603050405020304" pitchFamily="18" charset="0"/>
                <a:cs typeface="Times New Roman" panose="02020603050405020304" pitchFamily="18" charset="0"/>
              </a:rPr>
              <a:t>This makes it possible to write code that is shorter and easier to read than code written in other languages.</a:t>
            </a:r>
          </a:p>
          <a:p>
            <a:pPr marL="0" indent="0">
              <a:buNone/>
            </a:pPr>
            <a:r>
              <a:rPr lang="en-US" sz="2000" b="1" dirty="0" smtClean="0">
                <a:solidFill>
                  <a:srgbClr val="002060"/>
                </a:solidFill>
                <a:latin typeface="Times New Roman" panose="02020603050405020304" pitchFamily="18" charset="0"/>
                <a:cs typeface="Times New Roman" panose="02020603050405020304" pitchFamily="18" charset="0"/>
              </a:rPr>
              <a:t>Expressiveness</a:t>
            </a:r>
            <a:r>
              <a:rPr lang="en-US" sz="2000" dirty="0" smtClean="0">
                <a:latin typeface="Times New Roman" panose="02020603050405020304" pitchFamily="18" charset="0"/>
                <a:cs typeface="Times New Roman" panose="02020603050405020304" pitchFamily="18" charset="0"/>
              </a:rPr>
              <a:t>: Scala is a very expressive language, thanks to its support for higher-order functions, closures, and pattern matching. </a:t>
            </a:r>
          </a:p>
          <a:p>
            <a:pPr>
              <a:buFont typeface="Wingdings" panose="05000000000000000000" pitchFamily="2" charset="2"/>
              <a:buChar char="ü"/>
            </a:pPr>
            <a:r>
              <a:rPr lang="en-US" sz="2000" dirty="0" smtClean="0">
                <a:latin typeface="Times New Roman" panose="02020603050405020304" pitchFamily="18" charset="0"/>
                <a:cs typeface="Times New Roman" panose="02020603050405020304" pitchFamily="18" charset="0"/>
              </a:rPr>
              <a:t>This makes it possible to write code that is more concise and elegant.</a:t>
            </a:r>
          </a:p>
          <a:p>
            <a:pPr marL="0" indent="0">
              <a:buNone/>
            </a:pPr>
            <a:r>
              <a:rPr lang="en-US" sz="2000" b="1" dirty="0" smtClean="0">
                <a:solidFill>
                  <a:srgbClr val="002060"/>
                </a:solidFill>
                <a:latin typeface="Times New Roman" panose="02020603050405020304" pitchFamily="18" charset="0"/>
                <a:cs typeface="Times New Roman" panose="02020603050405020304" pitchFamily="18" charset="0"/>
              </a:rPr>
              <a:t>Scalability</a:t>
            </a:r>
            <a:r>
              <a:rPr lang="en-US" sz="2000" dirty="0" smtClean="0">
                <a:latin typeface="Times New Roman" panose="02020603050405020304" pitchFamily="18" charset="0"/>
                <a:cs typeface="Times New Roman" panose="02020603050405020304" pitchFamily="18" charset="0"/>
              </a:rPr>
              <a:t>: Scala is a scalable language, thanks to its support for multithreading and asynchronous programming. </a:t>
            </a:r>
          </a:p>
          <a:p>
            <a:pPr>
              <a:buFont typeface="Wingdings" panose="05000000000000000000" pitchFamily="2" charset="2"/>
              <a:buChar char="ü"/>
            </a:pPr>
            <a:r>
              <a:rPr lang="en-US" sz="2000" dirty="0" smtClean="0">
                <a:latin typeface="Times New Roman" panose="02020603050405020304" pitchFamily="18" charset="0"/>
                <a:cs typeface="Times New Roman" panose="02020603050405020304" pitchFamily="18" charset="0"/>
              </a:rPr>
              <a:t>This makes it possible to write code that can handle large amounts of data and traffic.</a:t>
            </a:r>
          </a:p>
          <a:p>
            <a:pPr marL="0" indent="0">
              <a:buNone/>
            </a:pPr>
            <a:r>
              <a:rPr lang="en-US" sz="2000" b="1" dirty="0" smtClean="0">
                <a:solidFill>
                  <a:srgbClr val="002060"/>
                </a:solidFill>
                <a:latin typeface="Times New Roman" panose="02020603050405020304" pitchFamily="18" charset="0"/>
                <a:cs typeface="Times New Roman" panose="02020603050405020304" pitchFamily="18" charset="0"/>
              </a:rPr>
              <a:t>Interoperability</a:t>
            </a:r>
            <a:r>
              <a:rPr lang="en-US" sz="2000" dirty="0" smtClean="0">
                <a:latin typeface="Times New Roman" panose="02020603050405020304" pitchFamily="18" charset="0"/>
                <a:cs typeface="Times New Roman" panose="02020603050405020304" pitchFamily="18" charset="0"/>
              </a:rPr>
              <a:t>: Scala is interoperable with Java, so it can be used to develop applications that run on the JVM. </a:t>
            </a:r>
          </a:p>
          <a:p>
            <a:pPr>
              <a:buFont typeface="Wingdings" panose="05000000000000000000" pitchFamily="2" charset="2"/>
              <a:buChar char="ü"/>
            </a:pPr>
            <a:r>
              <a:rPr lang="en-US" sz="2000" dirty="0" smtClean="0">
                <a:latin typeface="Times New Roman" panose="02020603050405020304" pitchFamily="18" charset="0"/>
                <a:cs typeface="Times New Roman" panose="02020603050405020304" pitchFamily="18" charset="0"/>
              </a:rPr>
              <a:t>This makes it easy to integrate Scala code with existing Java code.</a:t>
            </a:r>
          </a:p>
          <a:p>
            <a:pPr marL="0" indent="0">
              <a:buNone/>
            </a:pPr>
            <a:r>
              <a:rPr lang="en-US" sz="2000" dirty="0" smtClean="0">
                <a:latin typeface="Times New Roman" panose="02020603050405020304" pitchFamily="18" charset="0"/>
                <a:cs typeface="Times New Roman" panose="02020603050405020304" pitchFamily="18" charset="0"/>
              </a:rPr>
              <a:t/>
            </a:r>
            <a:br>
              <a:rPr lang="en-US" sz="2000" dirty="0" smtClean="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52400"/>
            <a:ext cx="7315201" cy="1320800"/>
          </a:xfrm>
        </p:spPr>
        <p:txBody>
          <a:bodyPr/>
          <a:lstStyle/>
          <a:p>
            <a:r>
              <a:rPr lang="en-US" dirty="0" smtClean="0">
                <a:latin typeface="Times New Roman" pitchFamily="18" charset="0"/>
                <a:cs typeface="Times New Roman" pitchFamily="18" charset="0"/>
              </a:rPr>
              <a:t>Important Thing for Any Programming Language</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152400" y="1524000"/>
            <a:ext cx="8686800" cy="5105400"/>
          </a:xfrm>
        </p:spPr>
        <p:txBody>
          <a:bodyPr>
            <a:normAutofit/>
          </a:bodyPr>
          <a:lstStyle/>
          <a:p>
            <a:pPr>
              <a:buAutoNum type="arabicPeriod"/>
            </a:pPr>
            <a:r>
              <a:rPr lang="en-US" sz="2000" b="1" dirty="0" smtClean="0">
                <a:solidFill>
                  <a:srgbClr val="FF0000"/>
                </a:solidFill>
                <a:latin typeface="Times New Roman" pitchFamily="18" charset="0"/>
                <a:cs typeface="Times New Roman" pitchFamily="18" charset="0"/>
              </a:rPr>
              <a:t>Environmental </a:t>
            </a:r>
            <a:r>
              <a:rPr lang="en-US" sz="2000" b="1" dirty="0" smtClean="0">
                <a:solidFill>
                  <a:srgbClr val="FF0000"/>
                </a:solidFill>
                <a:latin typeface="Times New Roman" pitchFamily="18" charset="0"/>
                <a:cs typeface="Times New Roman" pitchFamily="18" charset="0"/>
              </a:rPr>
              <a:t>Set-up</a:t>
            </a:r>
          </a:p>
          <a:p>
            <a:pPr lvl="1"/>
            <a:r>
              <a:rPr lang="en-US" sz="2000" b="1" dirty="0" smtClean="0">
                <a:solidFill>
                  <a:schemeClr val="tx1"/>
                </a:solidFill>
                <a:latin typeface="Times New Roman" pitchFamily="18" charset="0"/>
                <a:cs typeface="Times New Roman" pitchFamily="18" charset="0"/>
              </a:rPr>
              <a:t>Java Development Kit (JDK)</a:t>
            </a:r>
          </a:p>
          <a:p>
            <a:pPr lvl="1"/>
            <a:r>
              <a:rPr lang="en-US" sz="2000" b="1" dirty="0" smtClean="0">
                <a:solidFill>
                  <a:schemeClr val="tx1"/>
                </a:solidFill>
                <a:latin typeface="Times New Roman" pitchFamily="18" charset="0"/>
                <a:cs typeface="Times New Roman" pitchFamily="18" charset="0"/>
              </a:rPr>
              <a:t>Scala Compiler</a:t>
            </a:r>
          </a:p>
          <a:p>
            <a:pPr lvl="1"/>
            <a:r>
              <a:rPr lang="en-US" sz="2000" b="1" dirty="0" smtClean="0">
                <a:solidFill>
                  <a:schemeClr val="tx1"/>
                </a:solidFill>
                <a:latin typeface="Times New Roman" pitchFamily="18" charset="0"/>
                <a:cs typeface="Times New Roman" pitchFamily="18" charset="0"/>
              </a:rPr>
              <a:t>Integrated Development Environment (IDE) – Graphical Interface</a:t>
            </a:r>
          </a:p>
          <a:p>
            <a:pPr lvl="1">
              <a:buNone/>
            </a:pPr>
            <a:r>
              <a:rPr lang="en-US" sz="2000" dirty="0" smtClean="0">
                <a:solidFill>
                  <a:srgbClr val="1F1F1F"/>
                </a:solidFill>
                <a:latin typeface="Times New Roman" panose="02020603050405020304" pitchFamily="18" charset="0"/>
                <a:cs typeface="Times New Roman" panose="02020603050405020304" pitchFamily="18" charset="0"/>
              </a:rPr>
              <a:t>Once you have installed the necessary software, you can start setting up your Scala development environment</a:t>
            </a:r>
            <a:r>
              <a:rPr lang="en-US" sz="2000" dirty="0" smtClean="0">
                <a:solidFill>
                  <a:srgbClr val="1F1F1F"/>
                </a:solidFill>
                <a:latin typeface="Times New Roman" panose="02020603050405020304" pitchFamily="18" charset="0"/>
                <a:cs typeface="Times New Roman" panose="02020603050405020304" pitchFamily="18" charset="0"/>
              </a:rPr>
              <a:t>.</a:t>
            </a:r>
          </a:p>
          <a:p>
            <a:pPr lvl="1"/>
            <a:r>
              <a:rPr lang="en-US" sz="2000" b="1" dirty="0" smtClean="0">
                <a:solidFill>
                  <a:schemeClr val="tx1"/>
                </a:solidFill>
                <a:latin typeface="Times New Roman" panose="02020603050405020304" pitchFamily="18" charset="0"/>
                <a:cs typeface="Times New Roman" panose="02020603050405020304" pitchFamily="18" charset="0"/>
              </a:rPr>
              <a:t>Setting the Environmental Variables</a:t>
            </a:r>
          </a:p>
          <a:p>
            <a:pPr lvl="1"/>
            <a:r>
              <a:rPr lang="en-US" sz="2000" b="1" dirty="0" smtClean="0">
                <a:solidFill>
                  <a:schemeClr val="tx1"/>
                </a:solidFill>
                <a:latin typeface="Times New Roman" panose="02020603050405020304" pitchFamily="18" charset="0"/>
                <a:cs typeface="Times New Roman" panose="02020603050405020304" pitchFamily="18" charset="0"/>
              </a:rPr>
              <a:t>Verifying the Installation</a:t>
            </a:r>
          </a:p>
          <a:p>
            <a:pPr lvl="1"/>
            <a:r>
              <a:rPr lang="en-US" sz="2000" b="1" dirty="0" smtClean="0">
                <a:solidFill>
                  <a:schemeClr val="tx1"/>
                </a:solidFill>
                <a:latin typeface="Times New Roman" pitchFamily="18" charset="0"/>
                <a:cs typeface="Times New Roman" pitchFamily="18" charset="0"/>
              </a:rPr>
              <a:t>Configure the IDE</a:t>
            </a:r>
          </a:p>
          <a:p>
            <a:pPr lvl="1"/>
            <a:endParaRPr lang="en-US" sz="2000" b="1" dirty="0" smtClean="0">
              <a:solidFill>
                <a:schemeClr val="tx1"/>
              </a:solidFill>
              <a:latin typeface="Times New Roman" pitchFamily="18" charset="0"/>
              <a:cs typeface="Times New Roman" pitchFamily="18" charset="0"/>
            </a:endParaRPr>
          </a:p>
          <a:p>
            <a:pPr>
              <a:buAutoNum type="arabicPeriod"/>
            </a:pPr>
            <a:r>
              <a:rPr lang="en-US" sz="2000" b="1" dirty="0" smtClean="0">
                <a:solidFill>
                  <a:srgbClr val="FF0000"/>
                </a:solidFill>
                <a:latin typeface="Times New Roman" pitchFamily="18" charset="0"/>
                <a:cs typeface="Times New Roman" pitchFamily="18" charset="0"/>
              </a:rPr>
              <a:t>Code - Syntax</a:t>
            </a:r>
          </a:p>
          <a:p>
            <a:pPr>
              <a:buAutoNum type="arabicPeriod"/>
            </a:pPr>
            <a:r>
              <a:rPr lang="en-US" sz="2000" b="1" dirty="0" smtClean="0">
                <a:solidFill>
                  <a:srgbClr val="FF0000"/>
                </a:solidFill>
                <a:latin typeface="Times New Roman" pitchFamily="18" charset="0"/>
                <a:cs typeface="Times New Roman" pitchFamily="18" charset="0"/>
              </a:rPr>
              <a:t>Data types</a:t>
            </a:r>
          </a:p>
          <a:p>
            <a:pPr>
              <a:buAutoNum type="arabicPeriod"/>
            </a:pPr>
            <a:endParaRPr lang="en-US" sz="2000" b="1" dirty="0">
              <a:solidFill>
                <a:srgbClr val="FF0000"/>
              </a:solidFill>
              <a:latin typeface="Times New Roman" pitchFamily="18" charset="0"/>
              <a:cs typeface="Times New Roman"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smtClean="0">
                <a:solidFill>
                  <a:srgbClr val="FF0000"/>
                </a:solidFill>
                <a:latin typeface="Times New Roman" panose="02020603050405020304" pitchFamily="18" charset="0"/>
                <a:cs typeface="Times New Roman" panose="02020603050405020304" pitchFamily="18" charset="0"/>
              </a:rPr>
              <a:t>Scala – Environment Setup</a:t>
            </a:r>
            <a:endParaRPr lang="en-IN" sz="3600"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28600" y="1270000"/>
            <a:ext cx="7848600" cy="3880773"/>
          </a:xfrm>
        </p:spPr>
        <p:txBody>
          <a:bodyPr>
            <a:noAutofit/>
          </a:bodyPr>
          <a:lstStyle/>
          <a:p>
            <a:pPr>
              <a:buFont typeface="Wingdings" panose="05000000000000000000" pitchFamily="2" charset="2"/>
              <a:buChar char="ü"/>
            </a:pPr>
            <a:r>
              <a:rPr lang="en-IN" sz="2000" dirty="0">
                <a:latin typeface="Times New Roman" panose="02020603050405020304" pitchFamily="18" charset="0"/>
                <a:cs typeface="Times New Roman" panose="02020603050405020304" pitchFamily="18" charset="0"/>
              </a:rPr>
              <a:t>To set up a Scala development environment, you will need to install the following:</a:t>
            </a:r>
          </a:p>
          <a:p>
            <a:pPr marL="0" indent="0">
              <a:buNone/>
            </a:pPr>
            <a:r>
              <a:rPr lang="en-IN" sz="2000" b="1" dirty="0">
                <a:solidFill>
                  <a:srgbClr val="002060"/>
                </a:solidFill>
                <a:latin typeface="Times New Roman" panose="02020603050405020304" pitchFamily="18" charset="0"/>
                <a:cs typeface="Times New Roman" panose="02020603050405020304" pitchFamily="18" charset="0"/>
              </a:rPr>
              <a:t>Java Development Kit </a:t>
            </a:r>
            <a:r>
              <a:rPr lang="en-IN" sz="2000" dirty="0">
                <a:latin typeface="Times New Roman" panose="02020603050405020304" pitchFamily="18" charset="0"/>
                <a:cs typeface="Times New Roman" panose="02020603050405020304" pitchFamily="18" charset="0"/>
              </a:rPr>
              <a:t>(JDK): Scala is a JVM language, so you will need to have a JDK installed on your system. </a:t>
            </a:r>
            <a:endParaRPr lang="en-IN" sz="2000"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ü"/>
            </a:pPr>
            <a:r>
              <a:rPr lang="en-IN" sz="2000" dirty="0" smtClean="0">
                <a:latin typeface="Times New Roman" panose="02020603050405020304" pitchFamily="18" charset="0"/>
                <a:cs typeface="Times New Roman" panose="02020603050405020304" pitchFamily="18" charset="0"/>
              </a:rPr>
              <a:t>You </a:t>
            </a:r>
            <a:r>
              <a:rPr lang="en-IN" sz="2000" dirty="0">
                <a:latin typeface="Times New Roman" panose="02020603050405020304" pitchFamily="18" charset="0"/>
                <a:cs typeface="Times New Roman" panose="02020603050405020304" pitchFamily="18" charset="0"/>
              </a:rPr>
              <a:t>can download the JDK from the Oracle website.</a:t>
            </a:r>
          </a:p>
          <a:p>
            <a:pPr marL="0" indent="0">
              <a:buNone/>
            </a:pPr>
            <a:r>
              <a:rPr lang="en-IN" sz="2000" b="1" dirty="0" smtClean="0">
                <a:solidFill>
                  <a:srgbClr val="002060"/>
                </a:solidFill>
                <a:latin typeface="Times New Roman" panose="02020603050405020304" pitchFamily="18" charset="0"/>
                <a:cs typeface="Times New Roman" panose="02020603050405020304" pitchFamily="18" charset="0"/>
              </a:rPr>
              <a:t>Scala Compiler</a:t>
            </a:r>
            <a:r>
              <a:rPr lang="en-IN" sz="2000" dirty="0" smtClean="0">
                <a:latin typeface="Times New Roman" panose="02020603050405020304" pitchFamily="18" charset="0"/>
                <a:cs typeface="Times New Roman" panose="02020603050405020304" pitchFamily="18" charset="0"/>
              </a:rPr>
              <a:t>:</a:t>
            </a:r>
            <a:r>
              <a:rPr lang="en-IN" sz="2000" dirty="0">
                <a:latin typeface="Times New Roman" panose="02020603050405020304" pitchFamily="18" charset="0"/>
                <a:cs typeface="Times New Roman" panose="02020603050405020304" pitchFamily="18" charset="0"/>
              </a:rPr>
              <a:t> The Scala compiler is used to compile Scala code into Java </a:t>
            </a:r>
            <a:r>
              <a:rPr lang="en-IN" sz="2000" dirty="0" smtClean="0">
                <a:latin typeface="Times New Roman" panose="02020603050405020304" pitchFamily="18" charset="0"/>
                <a:cs typeface="Times New Roman" panose="02020603050405020304" pitchFamily="18" charset="0"/>
              </a:rPr>
              <a:t>byte code</a:t>
            </a:r>
            <a:r>
              <a:rPr lang="en-IN" sz="2000" dirty="0">
                <a:latin typeface="Times New Roman" panose="02020603050405020304" pitchFamily="18" charset="0"/>
                <a:cs typeface="Times New Roman" panose="02020603050405020304" pitchFamily="18" charset="0"/>
              </a:rPr>
              <a:t>. </a:t>
            </a:r>
            <a:endParaRPr lang="en-IN" sz="2000"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ü"/>
            </a:pPr>
            <a:r>
              <a:rPr lang="en-IN" sz="2000" dirty="0" smtClean="0">
                <a:latin typeface="Times New Roman" panose="02020603050405020304" pitchFamily="18" charset="0"/>
                <a:cs typeface="Times New Roman" panose="02020603050405020304" pitchFamily="18" charset="0"/>
              </a:rPr>
              <a:t>You </a:t>
            </a:r>
            <a:r>
              <a:rPr lang="en-IN" sz="2000" dirty="0">
                <a:latin typeface="Times New Roman" panose="02020603050405020304" pitchFamily="18" charset="0"/>
                <a:cs typeface="Times New Roman" panose="02020603050405020304" pitchFamily="18" charset="0"/>
              </a:rPr>
              <a:t>can download the Scala compiler from the Scala website.</a:t>
            </a:r>
          </a:p>
          <a:p>
            <a:pPr marL="0" indent="0">
              <a:buNone/>
            </a:pPr>
            <a:r>
              <a:rPr lang="en-IN" sz="2000" b="1" dirty="0" smtClean="0">
                <a:solidFill>
                  <a:srgbClr val="002060"/>
                </a:solidFill>
                <a:latin typeface="Times New Roman" panose="02020603050405020304" pitchFamily="18" charset="0"/>
                <a:cs typeface="Times New Roman" panose="02020603050405020304" pitchFamily="18" charset="0"/>
              </a:rPr>
              <a:t>Integrated Development Environment</a:t>
            </a:r>
            <a:r>
              <a:rPr lang="en-IN" sz="2000" dirty="0" smtClean="0">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(IDE): An IDE is a software application that provides a graphical user interface for writing, editing, compiling, and debugging code</a:t>
            </a:r>
            <a:r>
              <a:rPr lang="en-IN" sz="2000" dirty="0" smtClean="0">
                <a:latin typeface="Times New Roman" panose="02020603050405020304" pitchFamily="18" charset="0"/>
                <a:cs typeface="Times New Roman" panose="02020603050405020304" pitchFamily="18" charset="0"/>
              </a:rPr>
              <a:t>.</a:t>
            </a:r>
          </a:p>
          <a:p>
            <a:pPr>
              <a:buFont typeface="Wingdings" panose="05000000000000000000" pitchFamily="2" charset="2"/>
              <a:buChar char="ü"/>
            </a:pPr>
            <a:r>
              <a:rPr lang="en-IN" sz="2000" dirty="0">
                <a:latin typeface="Times New Roman" panose="02020603050405020304" pitchFamily="18" charset="0"/>
                <a:cs typeface="Times New Roman" panose="02020603050405020304" pitchFamily="18" charset="0"/>
              </a:rPr>
              <a:t> Some popular IDEs for Scala development include IntelliJ IDEA, Eclipse, and Visual Studio Code.</a:t>
            </a:r>
          </a:p>
          <a:p>
            <a:pPr>
              <a:buFont typeface="Wingdings" panose="05000000000000000000" pitchFamily="2" charset="2"/>
              <a:buChar char="ü"/>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19494014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Grp="1" noChangeArrowheads="1"/>
          </p:cNvSpPr>
          <p:nvPr>
            <p:ph idx="1"/>
          </p:nvPr>
        </p:nvSpPr>
        <p:spPr bwMode="auto">
          <a:xfrm>
            <a:off x="152400" y="243515"/>
            <a:ext cx="8913962" cy="6370975"/>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smtClean="0">
                <a:ln>
                  <a:noFill/>
                </a:ln>
                <a:solidFill>
                  <a:srgbClr val="1F1F1F"/>
                </a:solidFill>
                <a:effectLst/>
                <a:latin typeface="Times New Roman" panose="02020603050405020304" pitchFamily="18" charset="0"/>
                <a:cs typeface="Times New Roman" panose="02020603050405020304" pitchFamily="18" charset="0"/>
              </a:rPr>
              <a:t>Once you have installed the necessary software, you can start setting up your Scala development environment.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smtClean="0">
                <a:ln>
                  <a:noFill/>
                </a:ln>
                <a:solidFill>
                  <a:srgbClr val="1F1F1F"/>
                </a:solidFill>
                <a:effectLst/>
                <a:latin typeface="Times New Roman" panose="02020603050405020304" pitchFamily="18" charset="0"/>
                <a:cs typeface="Times New Roman" panose="02020603050405020304" pitchFamily="18" charset="0"/>
              </a:rPr>
              <a:t>Step 1: </a:t>
            </a:r>
            <a:r>
              <a:rPr kumimoji="0" lang="en-US" sz="1800" b="1" i="0" u="none" strike="noStrike" cap="none" normalizeH="0" baseline="0" dirty="0" smtClean="0">
                <a:ln>
                  <a:noFill/>
                </a:ln>
                <a:solidFill>
                  <a:srgbClr val="002060"/>
                </a:solidFill>
                <a:effectLst/>
                <a:latin typeface="Times New Roman" panose="02020603050405020304" pitchFamily="18" charset="0"/>
                <a:cs typeface="Times New Roman" panose="02020603050405020304" pitchFamily="18" charset="0"/>
              </a:rPr>
              <a:t>Set the JAVA_HOME environment variable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1" i="0" u="none" strike="noStrike" cap="none" normalizeH="0" baseline="0" dirty="0" smtClean="0">
              <a:ln>
                <a:noFill/>
              </a:ln>
              <a:solidFill>
                <a:srgbClr val="002060"/>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smtClean="0">
                <a:ln>
                  <a:noFill/>
                </a:ln>
                <a:solidFill>
                  <a:srgbClr val="1F1F1F"/>
                </a:solidFill>
                <a:effectLst/>
                <a:latin typeface="Times New Roman" panose="02020603050405020304" pitchFamily="18" charset="0"/>
                <a:cs typeface="Times New Roman" panose="02020603050405020304" pitchFamily="18" charset="0"/>
              </a:rPr>
              <a:t>The JAVA_HOME environment variable points to the directory where the JDK is installed. To set the JAVA_HOME environment variable, follow these steps:</a:t>
            </a:r>
            <a:endPar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sz="1800" b="0" i="0" u="none" strike="noStrike" cap="none" normalizeH="0" baseline="0" dirty="0" smtClean="0">
                <a:ln>
                  <a:noFill/>
                </a:ln>
                <a:solidFill>
                  <a:srgbClr val="1F1F1F"/>
                </a:solidFill>
                <a:effectLst/>
                <a:latin typeface="Times New Roman" panose="02020603050405020304" pitchFamily="18" charset="0"/>
                <a:cs typeface="Times New Roman" panose="02020603050405020304" pitchFamily="18" charset="0"/>
              </a:rPr>
              <a:t>Open a terminal window.</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sz="1800" b="0" i="0" u="none" strike="noStrike" cap="none" normalizeH="0" baseline="0" dirty="0" smtClean="0">
                <a:ln>
                  <a:noFill/>
                </a:ln>
                <a:solidFill>
                  <a:srgbClr val="1F1F1F"/>
                </a:solidFill>
                <a:effectLst/>
                <a:latin typeface="Times New Roman" panose="02020603050405020304" pitchFamily="18" charset="0"/>
                <a:cs typeface="Times New Roman" panose="02020603050405020304" pitchFamily="18" charset="0"/>
              </a:rPr>
              <a:t>Enter the following command:</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export JAVA_HOME=/path/to/</a:t>
            </a:r>
            <a:r>
              <a:rPr kumimoji="0" lang="en-US" sz="18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jdk</a:t>
            </a: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/installation/directory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smtClean="0">
                <a:ln>
                  <a:noFill/>
                </a:ln>
                <a:solidFill>
                  <a:srgbClr val="1F1F1F"/>
                </a:solidFill>
                <a:effectLst/>
                <a:latin typeface="Times New Roman" panose="02020603050405020304" pitchFamily="18" charset="0"/>
                <a:cs typeface="Times New Roman" panose="02020603050405020304" pitchFamily="18" charset="0"/>
              </a:rPr>
              <a:t>Replace /path/to/</a:t>
            </a:r>
            <a:r>
              <a:rPr kumimoji="0" lang="en-US" sz="1800" b="0" i="0" u="none" strike="noStrike" cap="none" normalizeH="0" baseline="0" dirty="0" err="1" smtClean="0">
                <a:ln>
                  <a:noFill/>
                </a:ln>
                <a:solidFill>
                  <a:srgbClr val="1F1F1F"/>
                </a:solidFill>
                <a:effectLst/>
                <a:latin typeface="Times New Roman" panose="02020603050405020304" pitchFamily="18" charset="0"/>
                <a:cs typeface="Times New Roman" panose="02020603050405020304" pitchFamily="18" charset="0"/>
              </a:rPr>
              <a:t>jdk</a:t>
            </a:r>
            <a:r>
              <a:rPr kumimoji="0" lang="en-US" sz="1800" b="0" i="0" u="none" strike="noStrike" cap="none" normalizeH="0" baseline="0" dirty="0" smtClean="0">
                <a:ln>
                  <a:noFill/>
                </a:ln>
                <a:solidFill>
                  <a:srgbClr val="1F1F1F"/>
                </a:solidFill>
                <a:effectLst/>
                <a:latin typeface="Times New Roman" panose="02020603050405020304" pitchFamily="18" charset="0"/>
                <a:cs typeface="Times New Roman" panose="02020603050405020304" pitchFamily="18" charset="0"/>
              </a:rPr>
              <a:t>/installation/directory with the actual path to the JDK installation directory.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smtClean="0">
                <a:ln>
                  <a:noFill/>
                </a:ln>
                <a:solidFill>
                  <a:srgbClr val="1F1F1F"/>
                </a:solidFill>
                <a:effectLst/>
                <a:latin typeface="Times New Roman" panose="02020603050405020304" pitchFamily="18" charset="0"/>
                <a:cs typeface="Times New Roman" panose="02020603050405020304" pitchFamily="18" charset="0"/>
              </a:rPr>
              <a:t>Step 2: </a:t>
            </a:r>
            <a:r>
              <a:rPr kumimoji="0" lang="en-US" sz="1800" b="1" i="0" u="none" strike="noStrike" cap="none" normalizeH="0" baseline="0" dirty="0" smtClean="0">
                <a:ln>
                  <a:noFill/>
                </a:ln>
                <a:solidFill>
                  <a:srgbClr val="002060"/>
                </a:solidFill>
                <a:effectLst/>
                <a:latin typeface="Times New Roman" panose="02020603050405020304" pitchFamily="18" charset="0"/>
                <a:cs typeface="Times New Roman" panose="02020603050405020304" pitchFamily="18" charset="0"/>
              </a:rPr>
              <a:t>Set the SCALA_HOME environment variable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1" i="0" u="none" strike="noStrike" cap="none" normalizeH="0" baseline="0" dirty="0" smtClean="0">
              <a:ln>
                <a:noFill/>
              </a:ln>
              <a:solidFill>
                <a:srgbClr val="002060"/>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smtClean="0">
                <a:ln>
                  <a:noFill/>
                </a:ln>
                <a:solidFill>
                  <a:srgbClr val="1F1F1F"/>
                </a:solidFill>
                <a:effectLst/>
                <a:latin typeface="Times New Roman" panose="02020603050405020304" pitchFamily="18" charset="0"/>
                <a:cs typeface="Times New Roman" panose="02020603050405020304" pitchFamily="18" charset="0"/>
              </a:rPr>
              <a:t>The SCALA_HOME environment variable points to the directory where the Scala compiler is installed. To set the SCALA_HOME environment variable, follow these steps:</a:t>
            </a:r>
            <a:endPar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sz="1800" b="0" i="0" u="none" strike="noStrike" cap="none" normalizeH="0" baseline="0" dirty="0" smtClean="0">
                <a:ln>
                  <a:noFill/>
                </a:ln>
                <a:solidFill>
                  <a:srgbClr val="1F1F1F"/>
                </a:solidFill>
                <a:effectLst/>
                <a:latin typeface="Times New Roman" panose="02020603050405020304" pitchFamily="18" charset="0"/>
                <a:cs typeface="Times New Roman" panose="02020603050405020304" pitchFamily="18" charset="0"/>
              </a:rPr>
              <a:t>Open a terminal window.</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sz="1800" b="0" i="0" u="none" strike="noStrike" cap="none" normalizeH="0" baseline="0" dirty="0" smtClean="0">
                <a:ln>
                  <a:noFill/>
                </a:ln>
                <a:solidFill>
                  <a:srgbClr val="1F1F1F"/>
                </a:solidFill>
                <a:effectLst/>
                <a:latin typeface="Times New Roman" panose="02020603050405020304" pitchFamily="18" charset="0"/>
                <a:cs typeface="Times New Roman" panose="02020603050405020304" pitchFamily="18" charset="0"/>
              </a:rPr>
              <a:t>Enter the following command:</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export SCALA_HOME=/path/to/</a:t>
            </a:r>
            <a:r>
              <a:rPr kumimoji="0" lang="en-US" sz="18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scala</a:t>
            </a: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/installation/directory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smtClean="0">
                <a:ln>
                  <a:noFill/>
                </a:ln>
                <a:solidFill>
                  <a:srgbClr val="1F1F1F"/>
                </a:solidFill>
                <a:effectLst/>
                <a:latin typeface="Times New Roman" panose="02020603050405020304" pitchFamily="18" charset="0"/>
                <a:cs typeface="Times New Roman" panose="02020603050405020304" pitchFamily="18" charset="0"/>
              </a:rPr>
              <a:t>Replace /path/to/</a:t>
            </a:r>
            <a:r>
              <a:rPr kumimoji="0" lang="en-US" sz="1800" b="0" i="0" u="none" strike="noStrike" cap="none" normalizeH="0" baseline="0" dirty="0" err="1" smtClean="0">
                <a:ln>
                  <a:noFill/>
                </a:ln>
                <a:solidFill>
                  <a:srgbClr val="1F1F1F"/>
                </a:solidFill>
                <a:effectLst/>
                <a:latin typeface="Times New Roman" panose="02020603050405020304" pitchFamily="18" charset="0"/>
                <a:cs typeface="Times New Roman" panose="02020603050405020304" pitchFamily="18" charset="0"/>
              </a:rPr>
              <a:t>scala</a:t>
            </a:r>
            <a:r>
              <a:rPr kumimoji="0" lang="en-US" sz="1800" b="0" i="0" u="none" strike="noStrike" cap="none" normalizeH="0" baseline="0" dirty="0" smtClean="0">
                <a:ln>
                  <a:noFill/>
                </a:ln>
                <a:solidFill>
                  <a:srgbClr val="1F1F1F"/>
                </a:solidFill>
                <a:effectLst/>
                <a:latin typeface="Times New Roman" panose="02020603050405020304" pitchFamily="18" charset="0"/>
                <a:cs typeface="Times New Roman" panose="02020603050405020304" pitchFamily="18" charset="0"/>
              </a:rPr>
              <a:t>/installation/directory with the actual path to the Scala compiler installation directory.</a:t>
            </a:r>
            <a:endPar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14846329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Grp="1" noChangeArrowheads="1"/>
          </p:cNvSpPr>
          <p:nvPr>
            <p:ph idx="1"/>
          </p:nvPr>
        </p:nvSpPr>
        <p:spPr bwMode="auto">
          <a:xfrm>
            <a:off x="228600" y="1066800"/>
            <a:ext cx="8305800" cy="5262979"/>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smtClean="0">
                <a:ln>
                  <a:noFill/>
                </a:ln>
                <a:solidFill>
                  <a:srgbClr val="1F1F1F"/>
                </a:solidFill>
                <a:effectLst/>
                <a:latin typeface="Times New Roman" panose="02020603050405020304" pitchFamily="18" charset="0"/>
                <a:cs typeface="Times New Roman" panose="02020603050405020304" pitchFamily="18" charset="0"/>
              </a:rPr>
              <a:t>Step 3: </a:t>
            </a:r>
            <a:r>
              <a:rPr kumimoji="0" lang="en-US" sz="1800" b="1" i="0" u="none" strike="noStrike" cap="none" normalizeH="0" baseline="0" dirty="0" smtClean="0">
                <a:ln>
                  <a:noFill/>
                </a:ln>
                <a:solidFill>
                  <a:srgbClr val="002060"/>
                </a:solidFill>
                <a:effectLst/>
                <a:latin typeface="Times New Roman" panose="02020603050405020304" pitchFamily="18" charset="0"/>
                <a:cs typeface="Times New Roman" panose="02020603050405020304" pitchFamily="18" charset="0"/>
              </a:rPr>
              <a:t>Set the PATH environment variable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smtClean="0">
                <a:ln>
                  <a:noFill/>
                </a:ln>
                <a:solidFill>
                  <a:srgbClr val="1F1F1F"/>
                </a:solidFill>
                <a:effectLst/>
                <a:latin typeface="Times New Roman" panose="02020603050405020304" pitchFamily="18" charset="0"/>
                <a:cs typeface="Times New Roman" panose="02020603050405020304" pitchFamily="18" charset="0"/>
              </a:rPr>
              <a:t>The PATH environment variable lists the directories that the shell will search for executable programs. To add the Scala compiler and the Java bin directory to the PATH environment variable, follow these steps: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sz="1800" b="0" i="0" u="none" strike="noStrike" cap="none" normalizeH="0" baseline="0" dirty="0" smtClean="0">
                <a:ln>
                  <a:noFill/>
                </a:ln>
                <a:solidFill>
                  <a:srgbClr val="1F1F1F"/>
                </a:solidFill>
                <a:effectLst/>
                <a:latin typeface="Times New Roman" panose="02020603050405020304" pitchFamily="18" charset="0"/>
                <a:cs typeface="Times New Roman" panose="02020603050405020304" pitchFamily="18" charset="0"/>
              </a:rPr>
              <a:t>Open a terminal window.</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sz="1800" b="0" i="0" u="none" strike="noStrike" cap="none" normalizeH="0" baseline="0" dirty="0" smtClean="0">
                <a:ln>
                  <a:noFill/>
                </a:ln>
                <a:solidFill>
                  <a:srgbClr val="1F1F1F"/>
                </a:solidFill>
                <a:effectLst/>
                <a:latin typeface="Times New Roman" panose="02020603050405020304" pitchFamily="18" charset="0"/>
                <a:cs typeface="Times New Roman" panose="02020603050405020304" pitchFamily="18" charset="0"/>
              </a:rPr>
              <a:t>Enter the following command:</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export PATH=$PATH:$SCALA_HOME/bin:$JAVA_HOME/bin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smtClean="0">
                <a:ln>
                  <a:noFill/>
                </a:ln>
                <a:solidFill>
                  <a:srgbClr val="1F1F1F"/>
                </a:solidFill>
                <a:effectLst/>
                <a:latin typeface="Times New Roman" panose="02020603050405020304" pitchFamily="18" charset="0"/>
                <a:cs typeface="Times New Roman" panose="02020603050405020304" pitchFamily="18" charset="0"/>
              </a:rPr>
              <a:t>This will add the Scala compiler and the Java bin directory to the end of the PATH environment variable.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smtClean="0">
                <a:ln>
                  <a:noFill/>
                </a:ln>
                <a:solidFill>
                  <a:srgbClr val="1F1F1F"/>
                </a:solidFill>
                <a:effectLst/>
                <a:latin typeface="Times New Roman" panose="02020603050405020304" pitchFamily="18" charset="0"/>
                <a:cs typeface="Times New Roman" panose="02020603050405020304" pitchFamily="18" charset="0"/>
              </a:rPr>
              <a:t>Step 4: </a:t>
            </a:r>
            <a:r>
              <a:rPr kumimoji="0" lang="en-US" sz="1800" b="1" i="0" u="none" strike="noStrike" cap="none" normalizeH="0" baseline="0" dirty="0" smtClean="0">
                <a:ln>
                  <a:noFill/>
                </a:ln>
                <a:solidFill>
                  <a:srgbClr val="002060"/>
                </a:solidFill>
                <a:effectLst/>
                <a:latin typeface="Times New Roman" panose="02020603050405020304" pitchFamily="18" charset="0"/>
                <a:cs typeface="Times New Roman" panose="02020603050405020304" pitchFamily="18" charset="0"/>
              </a:rPr>
              <a:t>Verify the installation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smtClean="0">
                <a:ln>
                  <a:noFill/>
                </a:ln>
                <a:solidFill>
                  <a:srgbClr val="1F1F1F"/>
                </a:solidFill>
                <a:effectLst/>
                <a:latin typeface="Times New Roman" panose="02020603050405020304" pitchFamily="18" charset="0"/>
                <a:cs typeface="Times New Roman" panose="02020603050405020304" pitchFamily="18" charset="0"/>
              </a:rPr>
              <a:t>Once you have set the environment variables, you can verify that the Scala compiler is installed correctly by running the following command:</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1" i="0" u="none" strike="noStrike" cap="none" normalizeH="0" baseline="0" dirty="0" smtClean="0">
                <a:ln>
                  <a:noFill/>
                </a:ln>
                <a:solidFill>
                  <a:srgbClr val="002060"/>
                </a:solidFill>
                <a:effectLst/>
                <a:latin typeface="Times New Roman" panose="02020603050405020304" pitchFamily="18" charset="0"/>
                <a:cs typeface="Times New Roman" panose="02020603050405020304" pitchFamily="18" charset="0"/>
              </a:rPr>
              <a:t>Scala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smtClean="0">
                <a:ln>
                  <a:noFill/>
                </a:ln>
                <a:solidFill>
                  <a:srgbClr val="1F1F1F"/>
                </a:solidFill>
                <a:effectLst/>
                <a:latin typeface="Times New Roman" panose="02020603050405020304" pitchFamily="18" charset="0"/>
                <a:cs typeface="Times New Roman" panose="02020603050405020304" pitchFamily="18" charset="0"/>
              </a:rPr>
              <a:t>If the Scala compiler is installed correctly, you should see the Scala REPL start up.</a:t>
            </a:r>
            <a:endPar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8702166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1371600"/>
            <a:ext cx="6858000" cy="3200400"/>
          </a:xfrm>
        </p:spPr>
        <p:txBody>
          <a:bodyPr>
            <a:noAutofit/>
          </a:bodyPr>
          <a:lstStyle/>
          <a:p>
            <a:pPr marL="0" indent="0">
              <a:buNone/>
            </a:pPr>
            <a:r>
              <a:rPr lang="en-US" sz="1600" dirty="0">
                <a:latin typeface="Times New Roman" panose="02020603050405020304" pitchFamily="18" charset="0"/>
                <a:cs typeface="Times New Roman" panose="02020603050405020304" pitchFamily="18" charset="0"/>
              </a:rPr>
              <a:t>Step 5: </a:t>
            </a:r>
            <a:r>
              <a:rPr lang="en-US" sz="1600" b="1" dirty="0">
                <a:solidFill>
                  <a:srgbClr val="002060"/>
                </a:solidFill>
                <a:latin typeface="Times New Roman" panose="02020603050405020304" pitchFamily="18" charset="0"/>
                <a:cs typeface="Times New Roman" panose="02020603050405020304" pitchFamily="18" charset="0"/>
              </a:rPr>
              <a:t>Configure your IDE</a:t>
            </a:r>
          </a:p>
          <a:p>
            <a:r>
              <a:rPr lang="en-US" sz="1600" dirty="0">
                <a:latin typeface="Times New Roman" panose="02020603050405020304" pitchFamily="18" charset="0"/>
                <a:cs typeface="Times New Roman" panose="02020603050405020304" pitchFamily="18" charset="0"/>
              </a:rPr>
              <a:t>If you are using an IDE for Scala development, you will need to configure the IDE to use the Scala compiler and the Java JDK. </a:t>
            </a:r>
            <a:endParaRPr lang="en-US" sz="1600" dirty="0" smtClean="0">
              <a:latin typeface="Times New Roman" panose="02020603050405020304" pitchFamily="18" charset="0"/>
              <a:cs typeface="Times New Roman" panose="02020603050405020304" pitchFamily="18" charset="0"/>
            </a:endParaRPr>
          </a:p>
          <a:p>
            <a:r>
              <a:rPr lang="en-US" sz="1600" dirty="0" smtClean="0">
                <a:latin typeface="Times New Roman" panose="02020603050405020304" pitchFamily="18" charset="0"/>
                <a:cs typeface="Times New Roman" panose="02020603050405020304" pitchFamily="18" charset="0"/>
              </a:rPr>
              <a:t>The </a:t>
            </a:r>
            <a:r>
              <a:rPr lang="en-US" sz="1600" dirty="0">
                <a:latin typeface="Times New Roman" panose="02020603050405020304" pitchFamily="18" charset="0"/>
                <a:cs typeface="Times New Roman" panose="02020603050405020304" pitchFamily="18" charset="0"/>
              </a:rPr>
              <a:t>specific steps involved in configuring your IDE will vary depending on the IDE that you are using. </a:t>
            </a:r>
            <a:endParaRPr lang="en-US" sz="1600" dirty="0" smtClean="0">
              <a:latin typeface="Times New Roman" panose="02020603050405020304" pitchFamily="18" charset="0"/>
              <a:cs typeface="Times New Roman" panose="02020603050405020304" pitchFamily="18" charset="0"/>
            </a:endParaRPr>
          </a:p>
          <a:p>
            <a:r>
              <a:rPr lang="en-US" sz="1600" dirty="0" smtClean="0">
                <a:latin typeface="Times New Roman" panose="02020603050405020304" pitchFamily="18" charset="0"/>
                <a:cs typeface="Times New Roman" panose="02020603050405020304" pitchFamily="18" charset="0"/>
              </a:rPr>
              <a:t>Please </a:t>
            </a:r>
            <a:r>
              <a:rPr lang="en-US" sz="1600" dirty="0">
                <a:latin typeface="Times New Roman" panose="02020603050405020304" pitchFamily="18" charset="0"/>
                <a:cs typeface="Times New Roman" panose="02020603050405020304" pitchFamily="18" charset="0"/>
              </a:rPr>
              <a:t>consult the IDE's documentation for instructions on how to configure it for Scala development.</a:t>
            </a:r>
          </a:p>
          <a:p>
            <a:r>
              <a:rPr lang="en-US" sz="1600" dirty="0">
                <a:latin typeface="Times New Roman" panose="02020603050405020304" pitchFamily="18" charset="0"/>
                <a:cs typeface="Times New Roman" panose="02020603050405020304" pitchFamily="18" charset="0"/>
              </a:rPr>
              <a:t>Once you have configured your IDE, you are ready to start writing Scala code</a:t>
            </a:r>
            <a:r>
              <a:rPr lang="en-US" sz="1600" dirty="0" smtClean="0">
                <a:latin typeface="Times New Roman" panose="02020603050405020304" pitchFamily="18" charset="0"/>
                <a:cs typeface="Times New Roman" panose="02020603050405020304" pitchFamily="18" charset="0"/>
              </a:rPr>
              <a:t>!</a:t>
            </a:r>
          </a:p>
          <a:p>
            <a:pPr marL="0" indent="0">
              <a:buNone/>
            </a:pPr>
            <a:r>
              <a:rPr lang="en-US" sz="1600" dirty="0" smtClean="0">
                <a:latin typeface="Times New Roman" panose="02020603050405020304" pitchFamily="18" charset="0"/>
                <a:cs typeface="Times New Roman" panose="02020603050405020304" pitchFamily="18" charset="0"/>
              </a:rPr>
              <a:t>Or</a:t>
            </a:r>
          </a:p>
          <a:p>
            <a:pPr marL="0" indent="0">
              <a:buNone/>
            </a:pPr>
            <a:endParaRPr lang="en-US"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7564990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762000"/>
            <a:ext cx="7162800" cy="4114800"/>
          </a:xfrm>
        </p:spPr>
        <p:txBody>
          <a:bodyPr>
            <a:noAutofit/>
          </a:bodyPr>
          <a:lstStyle/>
          <a:p>
            <a:pP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Once you have installed the JDK, SBT, and IntelliJ IDEA, you can set up your Scala development environment as follows:</a:t>
            </a:r>
          </a:p>
          <a:p>
            <a:pP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Open IntelliJ IDEA and create a new Scala project.</a:t>
            </a:r>
          </a:p>
          <a:p>
            <a:pP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When prompted, select the Scala version that you want to use.</a:t>
            </a:r>
          </a:p>
          <a:p>
            <a:pP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IntelliJ IDEA will create a new Scala project for you.</a:t>
            </a:r>
          </a:p>
          <a:p>
            <a:pP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To import SBT into your project, right-click on the project node in the Project view and select Import Build.</a:t>
            </a:r>
          </a:p>
          <a:p>
            <a:pP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In the Import Build dialog box, select SBT and click Next.</a:t>
            </a:r>
          </a:p>
          <a:p>
            <a:pP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In the next dialog box, select the SBT version that you want to use and click Finish.</a:t>
            </a:r>
          </a:p>
          <a:p>
            <a:pPr marL="0" indent="0">
              <a:buNone/>
            </a:pPr>
            <a:r>
              <a:rPr lang="en-US" dirty="0">
                <a:latin typeface="Times New Roman" panose="02020603050405020304" pitchFamily="18" charset="0"/>
                <a:cs typeface="Times New Roman" panose="02020603050405020304" pitchFamily="18" charset="0"/>
              </a:rPr>
              <a:t>Once you have imported SBT into your project, you can start writing Scala code. To run your Scala code, you can use the SBT console. To open the SBT console, click on the Run tab in IntelliJ IDEA and select SBT Console.</a:t>
            </a:r>
          </a:p>
          <a:p>
            <a:endParaRPr lang="en-IN" dirty="0"/>
          </a:p>
        </p:txBody>
      </p:sp>
    </p:spTree>
    <p:extLst>
      <p:ext uri="{BB962C8B-B14F-4D97-AF65-F5344CB8AC3E}">
        <p14:creationId xmlns:p14="http://schemas.microsoft.com/office/powerpoint/2010/main" xmlns="" val="30605524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799" y="228600"/>
            <a:ext cx="7332453" cy="1143000"/>
          </a:xfrm>
        </p:spPr>
        <p:txBody>
          <a:bodyPr>
            <a:normAutofit/>
          </a:bodyPr>
          <a:lstStyle/>
          <a:p>
            <a:r>
              <a:rPr lang="en-US" sz="3600" b="1" dirty="0" smtClean="0">
                <a:solidFill>
                  <a:srgbClr val="FF0000"/>
                </a:solidFill>
                <a:latin typeface="Times New Roman" panose="02020603050405020304" pitchFamily="18" charset="0"/>
                <a:cs typeface="Times New Roman" panose="02020603050405020304" pitchFamily="18" charset="0"/>
              </a:rPr>
              <a:t>Scala – Basic Syntax</a:t>
            </a:r>
            <a:endParaRPr lang="en-IN" sz="3600" b="1" dirty="0">
              <a:solidFill>
                <a:srgbClr val="FF0000"/>
              </a:solidFill>
              <a:latin typeface="Times New Roman" panose="02020603050405020304" pitchFamily="18" charset="0"/>
              <a:cs typeface="Times New Roman" panose="02020603050405020304" pitchFamily="18" charset="0"/>
            </a:endParaRPr>
          </a:p>
        </p:txBody>
      </p:sp>
      <p:sp>
        <p:nvSpPr>
          <p:cNvPr id="5" name="Rectangle 2"/>
          <p:cNvSpPr>
            <a:spLocks noGrp="1" noChangeArrowheads="1"/>
          </p:cNvSpPr>
          <p:nvPr>
            <p:ph idx="1"/>
          </p:nvPr>
        </p:nvSpPr>
        <p:spPr bwMode="auto">
          <a:xfrm>
            <a:off x="228600" y="1309301"/>
            <a:ext cx="8763000" cy="4801314"/>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smtClean="0">
                <a:ln>
                  <a:noFill/>
                </a:ln>
                <a:solidFill>
                  <a:srgbClr val="1F1F1F"/>
                </a:solidFill>
                <a:effectLst/>
                <a:latin typeface="Times New Roman" panose="02020603050405020304" pitchFamily="18" charset="0"/>
                <a:cs typeface="Times New Roman" panose="02020603050405020304" pitchFamily="18" charset="0"/>
              </a:rPr>
              <a:t>Here is an overview of the basic syntax of Scala:</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Tx/>
              <a:buAutoNum type="arabicPeriod"/>
              <a:tabLst/>
            </a:pPr>
            <a:r>
              <a:rPr kumimoji="0" lang="en-US" sz="1800" b="1" i="0" u="none" strike="noStrike" cap="none" normalizeH="0" baseline="0" dirty="0" smtClean="0">
                <a:ln>
                  <a:noFill/>
                </a:ln>
                <a:solidFill>
                  <a:srgbClr val="002060"/>
                </a:solidFill>
                <a:effectLst/>
                <a:latin typeface="Times New Roman" panose="02020603050405020304" pitchFamily="18" charset="0"/>
                <a:cs typeface="Times New Roman" panose="02020603050405020304" pitchFamily="18" charset="0"/>
              </a:rPr>
              <a:t>Variables And Types</a:t>
            </a:r>
          </a:p>
          <a:p>
            <a:pPr marL="0" marR="0" lvl="0" indent="0" algn="l" defTabSz="914400" rtl="0" eaLnBrk="0" fontAlgn="base" latinLnBrk="0" hangingPunct="0">
              <a:lnSpc>
                <a:spcPct val="100000"/>
              </a:lnSpc>
              <a:spcBef>
                <a:spcPct val="0"/>
              </a:spcBef>
              <a:spcAft>
                <a:spcPct val="0"/>
              </a:spcAft>
              <a:buClrTx/>
              <a:buSzTx/>
              <a:buNone/>
              <a:tabLst/>
            </a:pPr>
            <a:endPar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smtClean="0">
                <a:ln>
                  <a:noFill/>
                </a:ln>
                <a:solidFill>
                  <a:srgbClr val="1F1F1F"/>
                </a:solidFill>
                <a:effectLst/>
                <a:latin typeface="Times New Roman" panose="02020603050405020304" pitchFamily="18" charset="0"/>
                <a:cs typeface="Times New Roman" panose="02020603050405020304" pitchFamily="18" charset="0"/>
              </a:rPr>
              <a:t>To declare a variable in Scala, you use </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sz="1800" b="0" i="0" u="none" strike="noStrike" cap="none" normalizeH="0" baseline="0" dirty="0" smtClean="0">
                <a:ln>
                  <a:noFill/>
                </a:ln>
                <a:solidFill>
                  <a:srgbClr val="1F1F1F"/>
                </a:solidFill>
                <a:effectLst/>
                <a:latin typeface="Times New Roman" panose="02020603050405020304" pitchFamily="18" charset="0"/>
                <a:cs typeface="Times New Roman" panose="02020603050405020304" pitchFamily="18" charset="0"/>
              </a:rPr>
              <a:t>the </a:t>
            </a:r>
            <a:r>
              <a:rPr kumimoji="0" lang="en-US" sz="1800" b="1" i="0" u="none" strike="noStrike" cap="none" normalizeH="0" baseline="0" dirty="0" smtClean="0">
                <a:ln>
                  <a:noFill/>
                </a:ln>
                <a:solidFill>
                  <a:srgbClr val="002060"/>
                </a:solidFill>
                <a:effectLst/>
                <a:latin typeface="Times New Roman" panose="02020603050405020304" pitchFamily="18" charset="0"/>
                <a:cs typeface="Times New Roman" panose="02020603050405020304" pitchFamily="18" charset="0"/>
              </a:rPr>
              <a:t>val</a:t>
            </a:r>
            <a:r>
              <a:rPr kumimoji="0" lang="en-US" sz="1800" b="0" i="0" u="none" strike="noStrike" cap="none" normalizeH="0" baseline="0" dirty="0" smtClean="0">
                <a:ln>
                  <a:noFill/>
                </a:ln>
                <a:solidFill>
                  <a:srgbClr val="002060"/>
                </a:solidFill>
                <a:effectLst/>
                <a:latin typeface="Times New Roman" panose="02020603050405020304" pitchFamily="18" charset="0"/>
                <a:cs typeface="Times New Roman" panose="02020603050405020304" pitchFamily="18" charset="0"/>
              </a:rPr>
              <a:t> </a:t>
            </a:r>
            <a:r>
              <a:rPr kumimoji="0" lang="en-US" sz="1800" b="0" i="0" u="none" strike="noStrike" cap="none" normalizeH="0" baseline="0" dirty="0" smtClean="0">
                <a:ln>
                  <a:noFill/>
                </a:ln>
                <a:solidFill>
                  <a:srgbClr val="1F1F1F"/>
                </a:solidFill>
                <a:effectLst/>
                <a:latin typeface="Times New Roman" panose="02020603050405020304" pitchFamily="18" charset="0"/>
                <a:cs typeface="Times New Roman" panose="02020603050405020304" pitchFamily="18" charset="0"/>
              </a:rPr>
              <a:t>keyword for immutable variables</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sz="1800" b="0" i="0" u="none" strike="noStrike" cap="none" normalizeH="0" baseline="0" dirty="0" smtClean="0">
                <a:ln>
                  <a:noFill/>
                </a:ln>
                <a:solidFill>
                  <a:srgbClr val="1F1F1F"/>
                </a:solidFill>
                <a:effectLst/>
                <a:latin typeface="Times New Roman" panose="02020603050405020304" pitchFamily="18" charset="0"/>
                <a:cs typeface="Times New Roman" panose="02020603050405020304" pitchFamily="18" charset="0"/>
              </a:rPr>
              <a:t>the </a:t>
            </a:r>
            <a:r>
              <a:rPr kumimoji="0" lang="en-US" sz="1800" b="1" i="0" u="none" strike="noStrike" cap="none" normalizeH="0" baseline="0" dirty="0" smtClean="0">
                <a:ln>
                  <a:noFill/>
                </a:ln>
                <a:solidFill>
                  <a:srgbClr val="002060"/>
                </a:solidFill>
                <a:effectLst/>
                <a:latin typeface="Times New Roman" panose="02020603050405020304" pitchFamily="18" charset="0"/>
                <a:cs typeface="Times New Roman" panose="02020603050405020304" pitchFamily="18" charset="0"/>
              </a:rPr>
              <a:t>var</a:t>
            </a:r>
            <a:r>
              <a:rPr kumimoji="0" lang="en-US" sz="1800" b="0" i="0" u="none" strike="noStrike" cap="none" normalizeH="0" baseline="0" dirty="0" smtClean="0">
                <a:ln>
                  <a:noFill/>
                </a:ln>
                <a:solidFill>
                  <a:srgbClr val="002060"/>
                </a:solidFill>
                <a:effectLst/>
                <a:latin typeface="Times New Roman" panose="02020603050405020304" pitchFamily="18" charset="0"/>
                <a:cs typeface="Times New Roman" panose="02020603050405020304" pitchFamily="18" charset="0"/>
              </a:rPr>
              <a:t> </a:t>
            </a:r>
            <a:r>
              <a:rPr kumimoji="0" lang="en-US" sz="1800" b="0" i="0" u="none" strike="noStrike" cap="none" normalizeH="0" baseline="0" dirty="0" smtClean="0">
                <a:ln>
                  <a:noFill/>
                </a:ln>
                <a:solidFill>
                  <a:srgbClr val="1F1F1F"/>
                </a:solidFill>
                <a:effectLst/>
                <a:latin typeface="Times New Roman" panose="02020603050405020304" pitchFamily="18" charset="0"/>
                <a:cs typeface="Times New Roman" panose="02020603050405020304" pitchFamily="18" charset="0"/>
              </a:rPr>
              <a:t>keyword for mutable variables. </a:t>
            </a:r>
          </a:p>
          <a:p>
            <a:pPr marL="0" marR="0" lvl="0" indent="0" algn="l" defTabSz="914400" rtl="0" eaLnBrk="0" fontAlgn="base" latinLnBrk="0" hangingPunct="0">
              <a:lnSpc>
                <a:spcPct val="100000"/>
              </a:lnSpc>
              <a:spcBef>
                <a:spcPct val="0"/>
              </a:spcBef>
              <a:spcAft>
                <a:spcPct val="0"/>
              </a:spcAft>
              <a:buClrTx/>
              <a:buSzTx/>
              <a:buNone/>
              <a:tabLst/>
            </a:pPr>
            <a:endParaRPr kumimoji="0" lang="en-US" sz="1800" b="0" i="0" u="none" strike="noStrike" cap="none" normalizeH="0" baseline="0" dirty="0" smtClean="0">
              <a:ln>
                <a:noFill/>
              </a:ln>
              <a:solidFill>
                <a:srgbClr val="1F1F1F"/>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smtClean="0">
                <a:ln>
                  <a:noFill/>
                </a:ln>
                <a:solidFill>
                  <a:srgbClr val="1F1F1F"/>
                </a:solidFill>
                <a:effectLst/>
                <a:latin typeface="Times New Roman" panose="02020603050405020304" pitchFamily="18" charset="0"/>
                <a:cs typeface="Times New Roman" panose="02020603050405020304" pitchFamily="18" charset="0"/>
              </a:rPr>
              <a:t>The type of the variable is inferred by the compiler, but you can also explicitly specify the type using a colon (:).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1" i="0" u="none" strike="noStrike" cap="none" normalizeH="0" baseline="0" dirty="0" smtClean="0">
                <a:ln>
                  <a:noFill/>
                </a:ln>
                <a:solidFill>
                  <a:srgbClr val="1F1F1F"/>
                </a:solidFill>
                <a:effectLst/>
                <a:latin typeface="Times New Roman" panose="02020603050405020304" pitchFamily="18" charset="0"/>
                <a:cs typeface="Times New Roman" panose="02020603050405020304" pitchFamily="18" charset="0"/>
              </a:rPr>
              <a:t>For example: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rgbClr val="1F1F1F"/>
              </a:solidFill>
              <a:effectLst/>
              <a:latin typeface="Times New Roman" panose="02020603050405020304" pitchFamily="18" charset="0"/>
              <a:cs typeface="Times New Roman" panose="02020603050405020304" pitchFamily="18" charset="0"/>
            </a:endParaRPr>
          </a:p>
          <a:p>
            <a:pPr lvl="0">
              <a:buClrTx/>
              <a:buSzTx/>
              <a:buFont typeface="Wingdings" panose="05000000000000000000" pitchFamily="2" charset="2"/>
              <a:buChar char="ü"/>
            </a:pPr>
            <a:r>
              <a:rPr lang="en-US" sz="1800" dirty="0">
                <a:latin typeface="Times New Roman" panose="02020603050405020304" pitchFamily="18" charset="0"/>
                <a:cs typeface="Times New Roman" panose="02020603050405020304" pitchFamily="18" charset="0"/>
              </a:rPr>
              <a:t>val name = "Alice" // immutable variable of type String</a:t>
            </a:r>
          </a:p>
          <a:p>
            <a:pPr lvl="0">
              <a:buClrTx/>
              <a:buSzTx/>
              <a:buFont typeface="Wingdings" panose="05000000000000000000" pitchFamily="2" charset="2"/>
              <a:buChar char="ü"/>
            </a:pPr>
            <a:r>
              <a:rPr lang="en-US" sz="1800" dirty="0">
                <a:latin typeface="Times New Roman" panose="02020603050405020304" pitchFamily="18" charset="0"/>
                <a:cs typeface="Times New Roman" panose="02020603050405020304" pitchFamily="18" charset="0"/>
              </a:rPr>
              <a:t>var age = 25 // mutable variable of type Int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r>
            <a:b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br>
            <a:endPar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22952027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Grp="1" noChangeArrowheads="1"/>
          </p:cNvSpPr>
          <p:nvPr>
            <p:ph idx="1"/>
          </p:nvPr>
        </p:nvSpPr>
        <p:spPr bwMode="auto">
          <a:xfrm>
            <a:off x="228600" y="614065"/>
            <a:ext cx="8249919" cy="6463308"/>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smtClean="0">
                <a:ln>
                  <a:noFill/>
                </a:ln>
                <a:solidFill>
                  <a:srgbClr val="1F1F1F"/>
                </a:solidFill>
                <a:effectLst/>
                <a:latin typeface="Times New Roman" panose="02020603050405020304" pitchFamily="18" charset="0"/>
                <a:cs typeface="Times New Roman" panose="02020603050405020304" pitchFamily="18" charset="0"/>
              </a:rPr>
              <a:t>2. </a:t>
            </a:r>
            <a:r>
              <a:rPr kumimoji="0" lang="en-US" sz="1800" b="1" i="0" u="none" strike="noStrike" cap="none" normalizeH="0" baseline="0" dirty="0" smtClean="0">
                <a:ln>
                  <a:noFill/>
                </a:ln>
                <a:solidFill>
                  <a:srgbClr val="002060"/>
                </a:solidFill>
                <a:effectLst/>
                <a:latin typeface="Times New Roman" panose="02020603050405020304" pitchFamily="18" charset="0"/>
                <a:cs typeface="Times New Roman" panose="02020603050405020304" pitchFamily="18" charset="0"/>
              </a:rPr>
              <a:t>Functions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1" i="0" u="none" strike="noStrike" cap="none" normalizeH="0" baseline="0" dirty="0" smtClean="0">
              <a:ln>
                <a:noFill/>
              </a:ln>
              <a:solidFill>
                <a:srgbClr val="002060"/>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smtClean="0">
                <a:ln>
                  <a:noFill/>
                </a:ln>
                <a:solidFill>
                  <a:srgbClr val="1F1F1F"/>
                </a:solidFill>
                <a:effectLst/>
                <a:latin typeface="Times New Roman" panose="02020603050405020304" pitchFamily="18" charset="0"/>
                <a:cs typeface="Times New Roman" panose="02020603050405020304" pitchFamily="18" charset="0"/>
              </a:rPr>
              <a:t>To define a function in Scala, you use the </a:t>
            </a:r>
            <a:r>
              <a:rPr kumimoji="0" lang="en-US" sz="1800" b="1" i="0" u="none" strike="noStrike" cap="none" normalizeH="0" baseline="0" dirty="0" smtClean="0">
                <a:ln>
                  <a:noFill/>
                </a:ln>
                <a:solidFill>
                  <a:srgbClr val="002060"/>
                </a:solidFill>
                <a:effectLst/>
                <a:latin typeface="Times New Roman" panose="02020603050405020304" pitchFamily="18" charset="0"/>
                <a:cs typeface="Times New Roman" panose="02020603050405020304" pitchFamily="18" charset="0"/>
              </a:rPr>
              <a:t>def</a:t>
            </a:r>
            <a:r>
              <a:rPr kumimoji="0" lang="en-US" sz="1800" b="0" i="0" u="none" strike="noStrike" cap="none" normalizeH="0" baseline="0" dirty="0" smtClean="0">
                <a:ln>
                  <a:noFill/>
                </a:ln>
                <a:solidFill>
                  <a:srgbClr val="002060"/>
                </a:solidFill>
                <a:effectLst/>
                <a:latin typeface="Times New Roman" panose="02020603050405020304" pitchFamily="18" charset="0"/>
                <a:cs typeface="Times New Roman" panose="02020603050405020304" pitchFamily="18" charset="0"/>
              </a:rPr>
              <a:t> </a:t>
            </a:r>
            <a:r>
              <a:rPr kumimoji="0" lang="en-US" sz="1800" b="0" i="0" u="none" strike="noStrike" cap="none" normalizeH="0" baseline="0" dirty="0" smtClean="0">
                <a:ln>
                  <a:noFill/>
                </a:ln>
                <a:solidFill>
                  <a:srgbClr val="1F1F1F"/>
                </a:solidFill>
                <a:effectLst/>
                <a:latin typeface="Times New Roman" panose="02020603050405020304" pitchFamily="18" charset="0"/>
                <a:cs typeface="Times New Roman" panose="02020603050405020304" pitchFamily="18" charset="0"/>
              </a:rPr>
              <a:t>keyword.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smtClean="0">
                <a:ln>
                  <a:noFill/>
                </a:ln>
                <a:solidFill>
                  <a:srgbClr val="1F1F1F"/>
                </a:solidFill>
                <a:effectLst/>
                <a:latin typeface="Times New Roman" panose="02020603050405020304" pitchFamily="18" charset="0"/>
                <a:cs typeface="Times New Roman" panose="02020603050405020304" pitchFamily="18" charset="0"/>
              </a:rPr>
              <a:t>The function parameters are listed in parentheses after the function name, followed by an arrow (=&gt;) and the return type of the function.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rgbClr val="1F1F1F"/>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1" i="0" u="none" strike="noStrike" cap="none" normalizeH="0" baseline="0" dirty="0" smtClean="0">
                <a:ln>
                  <a:noFill/>
                </a:ln>
                <a:solidFill>
                  <a:srgbClr val="1F1F1F"/>
                </a:solidFill>
                <a:effectLst/>
                <a:latin typeface="Times New Roman" panose="02020603050405020304" pitchFamily="18" charset="0"/>
                <a:cs typeface="Times New Roman" panose="02020603050405020304" pitchFamily="18" charset="0"/>
              </a:rPr>
              <a:t>For Example: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rgbClr val="1F1F1F"/>
              </a:solidFill>
              <a:effectLst/>
              <a:latin typeface="Times New Roman" panose="02020603050405020304" pitchFamily="18" charset="0"/>
              <a:cs typeface="Times New Roman" panose="02020603050405020304" pitchFamily="18" charset="0"/>
            </a:endParaRPr>
          </a:p>
          <a:p>
            <a:pPr marL="0" lvl="0" indent="0">
              <a:lnSpc>
                <a:spcPct val="100000"/>
              </a:lnSpc>
              <a:buClrTx/>
              <a:buSzTx/>
              <a:buNone/>
            </a:pPr>
            <a:r>
              <a:rPr lang="en-US" sz="1800" dirty="0">
                <a:solidFill>
                  <a:srgbClr val="1F1F1F"/>
                </a:solidFill>
                <a:latin typeface="Times New Roman" panose="02020603050405020304" pitchFamily="18" charset="0"/>
                <a:cs typeface="Times New Roman" panose="02020603050405020304" pitchFamily="18" charset="0"/>
              </a:rPr>
              <a:t>def add(a: Int, b: Int): Int = {</a:t>
            </a:r>
          </a:p>
          <a:p>
            <a:pPr marL="0" lvl="0" indent="0">
              <a:lnSpc>
                <a:spcPct val="100000"/>
              </a:lnSpc>
              <a:buClrTx/>
              <a:buSzTx/>
              <a:buNone/>
            </a:pPr>
            <a:r>
              <a:rPr lang="en-US" sz="1800" dirty="0">
                <a:solidFill>
                  <a:srgbClr val="1F1F1F"/>
                </a:solidFill>
                <a:latin typeface="Times New Roman" panose="02020603050405020304" pitchFamily="18" charset="0"/>
                <a:cs typeface="Times New Roman" panose="02020603050405020304" pitchFamily="18" charset="0"/>
              </a:rPr>
              <a:t>  a + b</a:t>
            </a:r>
          </a:p>
          <a:p>
            <a:pPr marL="0" lvl="0" indent="0">
              <a:lnSpc>
                <a:spcPct val="100000"/>
              </a:lnSpc>
              <a:buClrTx/>
              <a:buSzTx/>
              <a:buNone/>
            </a:pPr>
            <a:r>
              <a:rPr lang="en-US" sz="1800" dirty="0" smtClean="0">
                <a:solidFill>
                  <a:srgbClr val="1F1F1F"/>
                </a:solidFill>
                <a:latin typeface="Times New Roman" panose="02020603050405020304" pitchFamily="18" charset="0"/>
                <a:cs typeface="Times New Roman" panose="02020603050405020304" pitchFamily="18" charset="0"/>
              </a:rPr>
              <a:t>}</a:t>
            </a:r>
          </a:p>
          <a:p>
            <a:pPr marL="0" lvl="0" indent="0">
              <a:lnSpc>
                <a:spcPct val="100000"/>
              </a:lnSpc>
              <a:buClrTx/>
              <a:buSzTx/>
              <a:buNone/>
            </a:pPr>
            <a:endParaRPr lang="en-US" sz="1800" dirty="0">
              <a:solidFill>
                <a:srgbClr val="1F1F1F"/>
              </a:solidFill>
              <a:latin typeface="Times New Roman" panose="02020603050405020304" pitchFamily="18" charset="0"/>
              <a:cs typeface="Times New Roman" panose="02020603050405020304" pitchFamily="18" charset="0"/>
            </a:endParaRPr>
          </a:p>
          <a:p>
            <a:pPr marL="0" lvl="0" indent="0">
              <a:lnSpc>
                <a:spcPct val="100000"/>
              </a:lnSpc>
              <a:buClrTx/>
              <a:buSzTx/>
              <a:buNone/>
            </a:pPr>
            <a:r>
              <a:rPr lang="en-US" sz="1800" dirty="0">
                <a:latin typeface="Times New Roman" panose="02020603050405020304" pitchFamily="18" charset="0"/>
                <a:cs typeface="Times New Roman" panose="02020603050405020304" pitchFamily="18" charset="0"/>
              </a:rPr>
              <a:t>To call a function in Scala, you simply type the function name followed by the function arguments in parentheses. For example</a:t>
            </a:r>
            <a:r>
              <a:rPr lang="en-US" sz="1800" dirty="0" smtClean="0">
                <a:latin typeface="Times New Roman" panose="02020603050405020304" pitchFamily="18" charset="0"/>
                <a:cs typeface="Times New Roman" panose="02020603050405020304" pitchFamily="18" charset="0"/>
              </a:rPr>
              <a:t>:</a:t>
            </a:r>
          </a:p>
          <a:p>
            <a:pPr marL="0" lvl="0" indent="0">
              <a:lnSpc>
                <a:spcPct val="100000"/>
              </a:lnSpc>
              <a:buClrTx/>
              <a:buSzTx/>
              <a:buNone/>
            </a:pPr>
            <a:endParaRPr lang="en-US" sz="1800" dirty="0">
              <a:solidFill>
                <a:srgbClr val="1F1F1F"/>
              </a:solidFill>
              <a:latin typeface="Times New Roman" panose="02020603050405020304" pitchFamily="18" charset="0"/>
              <a:cs typeface="Times New Roman" panose="02020603050405020304" pitchFamily="18" charset="0"/>
            </a:endParaRPr>
          </a:p>
          <a:p>
            <a:pPr marL="0" lvl="0" indent="0">
              <a:lnSpc>
                <a:spcPct val="100000"/>
              </a:lnSpc>
              <a:buClrTx/>
              <a:buSzTx/>
              <a:buNone/>
            </a:pPr>
            <a:r>
              <a:rPr lang="en-US" sz="1800" dirty="0" smtClean="0">
                <a:solidFill>
                  <a:srgbClr val="1F1F1F"/>
                </a:solidFill>
                <a:latin typeface="Times New Roman" panose="02020603050405020304" pitchFamily="18" charset="0"/>
                <a:cs typeface="Times New Roman" panose="02020603050405020304" pitchFamily="18" charset="0"/>
              </a:rPr>
              <a:t>val result = add(1, 2) // result will be 3</a:t>
            </a:r>
          </a:p>
          <a:p>
            <a:pPr marL="0" lvl="0" indent="0">
              <a:lnSpc>
                <a:spcPct val="100000"/>
              </a:lnSpc>
              <a:buClrTx/>
              <a:buSzTx/>
              <a:buNone/>
            </a:pPr>
            <a:endParaRPr lang="en-US" sz="1800" dirty="0">
              <a:solidFill>
                <a:srgbClr val="1F1F1F"/>
              </a:solidFill>
              <a:latin typeface="Times New Roman" panose="02020603050405020304" pitchFamily="18" charset="0"/>
              <a:cs typeface="Times New Roman" panose="02020603050405020304" pitchFamily="18" charset="0"/>
            </a:endParaRPr>
          </a:p>
          <a:p>
            <a:pPr marL="0" lvl="0" indent="0">
              <a:lnSpc>
                <a:spcPct val="100000"/>
              </a:lnSpc>
              <a:buClrTx/>
              <a:buSzTx/>
              <a:buNone/>
            </a:pPr>
            <a:endParaRPr lang="en-US" sz="1800" dirty="0" smtClean="0">
              <a:solidFill>
                <a:srgbClr val="1F1F1F"/>
              </a:solidFill>
              <a:latin typeface="Times New Roman" panose="02020603050405020304" pitchFamily="18" charset="0"/>
              <a:cs typeface="Times New Roman" panose="02020603050405020304" pitchFamily="18" charset="0"/>
            </a:endParaRPr>
          </a:p>
          <a:p>
            <a:pPr marL="0" lvl="0" indent="0">
              <a:lnSpc>
                <a:spcPct val="100000"/>
              </a:lnSpc>
              <a:buClrTx/>
              <a:buSzTx/>
              <a:buNone/>
            </a:pPr>
            <a:endParaRPr lang="en-US" sz="1800" dirty="0">
              <a:solidFill>
                <a:srgbClr val="1F1F1F"/>
              </a:solidFill>
              <a:latin typeface="Times New Roman" panose="02020603050405020304" pitchFamily="18" charset="0"/>
              <a:cs typeface="Times New Roman" panose="02020603050405020304" pitchFamily="18" charset="0"/>
            </a:endParaRPr>
          </a:p>
          <a:p>
            <a:pPr marL="0" lvl="0" indent="0">
              <a:lnSpc>
                <a:spcPct val="100000"/>
              </a:lnSpc>
              <a:buClrTx/>
              <a:buSzTx/>
              <a:buNone/>
            </a:pPr>
            <a:endParaRPr lang="en-US" sz="1800" dirty="0" smtClean="0">
              <a:solidFill>
                <a:srgbClr val="1F1F1F"/>
              </a:solidFill>
              <a:latin typeface="Times New Roman" panose="02020603050405020304" pitchFamily="18" charset="0"/>
              <a:cs typeface="Times New Roman" panose="02020603050405020304" pitchFamily="18" charset="0"/>
            </a:endParaRPr>
          </a:p>
          <a:p>
            <a:pPr marL="0" lvl="0" indent="0">
              <a:lnSpc>
                <a:spcPct val="100000"/>
              </a:lnSpc>
              <a:buClrTx/>
              <a:buSzTx/>
              <a:buNone/>
            </a:pPr>
            <a:endParaRPr lang="en-US" sz="1800" dirty="0">
              <a:solidFill>
                <a:srgbClr val="1F1F1F"/>
              </a:solidFill>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rgbClr val="1F1F1F"/>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
        <p:nvSpPr>
          <p:cNvPr id="5" name="Rectangle 2"/>
          <p:cNvSpPr>
            <a:spLocks noChangeArrowheads="1"/>
          </p:cNvSpPr>
          <p:nvPr/>
        </p:nvSpPr>
        <p:spPr bwMode="auto">
          <a:xfrm>
            <a:off x="152400" y="383232"/>
            <a:ext cx="8534400" cy="369332"/>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xmlns="" val="17791689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93215"/>
            <a:ext cx="7886700" cy="4351338"/>
          </a:xfrm>
        </p:spPr>
        <p:txBody>
          <a:bodyPr>
            <a:noAutofit/>
          </a:bodyPr>
          <a:lstStyle/>
          <a:p>
            <a:pPr marL="0" lvl="0" indent="0" defTabSz="914400" eaLnBrk="0" fontAlgn="base" hangingPunct="0">
              <a:lnSpc>
                <a:spcPct val="100000"/>
              </a:lnSpc>
              <a:spcBef>
                <a:spcPct val="0"/>
              </a:spcBef>
              <a:spcAft>
                <a:spcPct val="0"/>
              </a:spcAft>
              <a:buNone/>
            </a:pPr>
            <a:r>
              <a:rPr kumimoji="0" lang="en-US" sz="2000" b="1" i="0" u="none" strike="noStrike" cap="none" normalizeH="0" baseline="0" dirty="0" smtClean="0">
                <a:ln>
                  <a:noFill/>
                </a:ln>
                <a:solidFill>
                  <a:srgbClr val="002060"/>
                </a:solidFill>
                <a:effectLst/>
                <a:latin typeface="Times New Roman" panose="02020603050405020304" pitchFamily="18" charset="0"/>
                <a:cs typeface="Times New Roman" panose="02020603050405020304" pitchFamily="18" charset="0"/>
              </a:rPr>
              <a:t>3. Classes and Objects</a:t>
            </a:r>
          </a:p>
          <a:p>
            <a:pPr marL="0" lvl="0" indent="0" defTabSz="914400" eaLnBrk="0" fontAlgn="base" hangingPunct="0">
              <a:lnSpc>
                <a:spcPct val="100000"/>
              </a:lnSpc>
              <a:spcBef>
                <a:spcPct val="0"/>
              </a:spcBef>
              <a:spcAft>
                <a:spcPct val="0"/>
              </a:spcAft>
              <a:buNone/>
            </a:pPr>
            <a:endParaRPr kumimoji="0" lang="en-US" sz="2000" b="1" i="0" u="none" strike="noStrike" cap="none" normalizeH="0" baseline="0" dirty="0" smtClean="0">
              <a:ln>
                <a:noFill/>
              </a:ln>
              <a:solidFill>
                <a:srgbClr val="002060"/>
              </a:solidFill>
              <a:effectLst/>
              <a:latin typeface="Times New Roman" panose="02020603050405020304" pitchFamily="18" charset="0"/>
              <a:cs typeface="Times New Roman" panose="02020603050405020304" pitchFamily="18" charset="0"/>
            </a:endParaRPr>
          </a:p>
          <a:p>
            <a:pPr lvl="0" defTabSz="914400" eaLnBrk="0" fontAlgn="base" hangingPunct="0">
              <a:lnSpc>
                <a:spcPct val="100000"/>
              </a:lnSpc>
              <a:spcBef>
                <a:spcPct val="0"/>
              </a:spcBef>
              <a:spcAft>
                <a:spcPct val="0"/>
              </a:spcAft>
              <a:buFont typeface="Wingdings" panose="05000000000000000000" pitchFamily="2" charset="2"/>
              <a:buChar char="ü"/>
            </a:pPr>
            <a:r>
              <a:rPr kumimoji="0" lang="en-US" sz="2000" b="0" i="0" u="none" strike="noStrike" cap="none" normalizeH="0" baseline="0" dirty="0" smtClean="0">
                <a:ln>
                  <a:noFill/>
                </a:ln>
                <a:solidFill>
                  <a:srgbClr val="1F1F1F"/>
                </a:solidFill>
                <a:effectLst/>
                <a:latin typeface="Times New Roman" panose="02020603050405020304" pitchFamily="18" charset="0"/>
                <a:cs typeface="Times New Roman" panose="02020603050405020304" pitchFamily="18" charset="0"/>
              </a:rPr>
              <a:t>To define a class in Scala, you use the class keyword. </a:t>
            </a:r>
          </a:p>
          <a:p>
            <a:pPr lvl="0" defTabSz="914400" eaLnBrk="0" fontAlgn="base" hangingPunct="0">
              <a:lnSpc>
                <a:spcPct val="100000"/>
              </a:lnSpc>
              <a:spcBef>
                <a:spcPct val="0"/>
              </a:spcBef>
              <a:spcAft>
                <a:spcPct val="0"/>
              </a:spcAft>
              <a:buFont typeface="Wingdings" panose="05000000000000000000" pitchFamily="2" charset="2"/>
              <a:buChar char="ü"/>
            </a:pPr>
            <a:r>
              <a:rPr kumimoji="0" lang="en-US" sz="2000" b="0" i="0" u="none" strike="noStrike" cap="none" normalizeH="0" baseline="0" dirty="0" smtClean="0">
                <a:ln>
                  <a:noFill/>
                </a:ln>
                <a:solidFill>
                  <a:srgbClr val="1F1F1F"/>
                </a:solidFill>
                <a:effectLst/>
                <a:latin typeface="Times New Roman" panose="02020603050405020304" pitchFamily="18" charset="0"/>
                <a:cs typeface="Times New Roman" panose="02020603050405020304" pitchFamily="18" charset="0"/>
              </a:rPr>
              <a:t>The class definition includes the class name, followed by a colon (:), followed by the class parameters, if any. </a:t>
            </a:r>
          </a:p>
          <a:p>
            <a:pPr lvl="0" defTabSz="914400" eaLnBrk="0" fontAlgn="base" hangingPunct="0">
              <a:lnSpc>
                <a:spcPct val="100000"/>
              </a:lnSpc>
              <a:spcBef>
                <a:spcPct val="0"/>
              </a:spcBef>
              <a:spcAft>
                <a:spcPct val="0"/>
              </a:spcAft>
              <a:buFont typeface="Wingdings" panose="05000000000000000000" pitchFamily="2" charset="2"/>
              <a:buChar char="ü"/>
            </a:pPr>
            <a:r>
              <a:rPr kumimoji="0" lang="en-US" sz="2000" b="0" i="0" u="none" strike="noStrike" cap="none" normalizeH="0" baseline="0" dirty="0" smtClean="0">
                <a:ln>
                  <a:noFill/>
                </a:ln>
                <a:solidFill>
                  <a:srgbClr val="1F1F1F"/>
                </a:solidFill>
                <a:effectLst/>
                <a:latin typeface="Times New Roman" panose="02020603050405020304" pitchFamily="18" charset="0"/>
                <a:cs typeface="Times New Roman" panose="02020603050405020304" pitchFamily="18" charset="0"/>
              </a:rPr>
              <a:t>The class body contains the class members, such as fields and methods. </a:t>
            </a:r>
            <a:r>
              <a:rPr kumimoji="0" lang="en-US" sz="2000" b="1" i="0" u="none" strike="noStrike" cap="none" normalizeH="0" baseline="0" dirty="0" smtClean="0">
                <a:ln>
                  <a:noFill/>
                </a:ln>
                <a:solidFill>
                  <a:srgbClr val="1F1F1F"/>
                </a:solidFill>
                <a:effectLst/>
                <a:latin typeface="Times New Roman" panose="02020603050405020304" pitchFamily="18" charset="0"/>
                <a:cs typeface="Times New Roman" panose="02020603050405020304" pitchFamily="18" charset="0"/>
              </a:rPr>
              <a:t>For example:</a:t>
            </a:r>
          </a:p>
          <a:p>
            <a:pPr marL="0" lvl="0" indent="0" defTabSz="914400" eaLnBrk="0" fontAlgn="base" hangingPunct="0">
              <a:lnSpc>
                <a:spcPct val="100000"/>
              </a:lnSpc>
              <a:spcBef>
                <a:spcPct val="0"/>
              </a:spcBef>
              <a:spcAft>
                <a:spcPct val="0"/>
              </a:spcAft>
              <a:buNone/>
            </a:pPr>
            <a:endParaRPr lang="en-US" sz="2000" dirty="0">
              <a:solidFill>
                <a:srgbClr val="1F1F1F"/>
              </a:solidFill>
              <a:latin typeface="Times New Roman" panose="02020603050405020304" pitchFamily="18" charset="0"/>
              <a:cs typeface="Times New Roman" panose="02020603050405020304" pitchFamily="18" charset="0"/>
            </a:endParaRPr>
          </a:p>
          <a:p>
            <a:pPr marL="0" lvl="0" indent="0" defTabSz="914400" eaLnBrk="0" fontAlgn="base" hangingPunct="0">
              <a:lnSpc>
                <a:spcPct val="100000"/>
              </a:lnSpc>
              <a:spcBef>
                <a:spcPct val="0"/>
              </a:spcBef>
              <a:spcAft>
                <a:spcPct val="0"/>
              </a:spcAft>
              <a:buNone/>
            </a:pP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class Person(name: String, age: Int) {</a:t>
            </a:r>
          </a:p>
          <a:p>
            <a:pPr marL="0" lvl="0" indent="0" defTabSz="914400" eaLnBrk="0" fontAlgn="base" hangingPunct="0">
              <a:lnSpc>
                <a:spcPct val="100000"/>
              </a:lnSpc>
              <a:spcBef>
                <a:spcPct val="0"/>
              </a:spcBef>
              <a:spcAft>
                <a:spcPct val="0"/>
              </a:spcAft>
              <a:buNone/>
            </a:pP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def greet(): Unit = {</a:t>
            </a:r>
          </a:p>
          <a:p>
            <a:pPr marL="0" lvl="0" indent="0" defTabSz="914400" eaLnBrk="0" fontAlgn="base" hangingPunct="0">
              <a:lnSpc>
                <a:spcPct val="100000"/>
              </a:lnSpc>
              <a:spcBef>
                <a:spcPct val="0"/>
              </a:spcBef>
              <a:spcAft>
                <a:spcPct val="0"/>
              </a:spcAft>
              <a:buNone/>
            </a:pP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println("Hello, my name is " + name)</a:t>
            </a:r>
          </a:p>
          <a:p>
            <a:pPr marL="0" lvl="0" indent="0" defTabSz="914400" eaLnBrk="0" fontAlgn="base" hangingPunct="0">
              <a:lnSpc>
                <a:spcPct val="100000"/>
              </a:lnSpc>
              <a:spcBef>
                <a:spcPct val="0"/>
              </a:spcBef>
              <a:spcAft>
                <a:spcPct val="0"/>
              </a:spcAft>
              <a:buNone/>
            </a:pP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p>
          <a:p>
            <a:pPr marL="0" indent="0" defTabSz="914400" eaLnBrk="0" fontAlgn="base" hangingPunct="0">
              <a:lnSpc>
                <a:spcPct val="100000"/>
              </a:lnSpc>
              <a:spcBef>
                <a:spcPct val="0"/>
              </a:spcBef>
              <a:spcAft>
                <a:spcPct val="0"/>
              </a:spcAft>
              <a:buNone/>
            </a:pP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p>
          <a:p>
            <a:pPr marL="0" lvl="0" indent="0" defTabSz="914400" eaLnBrk="0" fontAlgn="base" hangingPunct="0">
              <a:lnSpc>
                <a:spcPct val="100000"/>
              </a:lnSpc>
              <a:spcBef>
                <a:spcPct val="0"/>
              </a:spcBef>
              <a:spcAft>
                <a:spcPct val="0"/>
              </a:spcAft>
              <a:buNone/>
            </a:pPr>
            <a:endPar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lvl="0" indent="0" defTabSz="914400" eaLnBrk="0" fontAlgn="base" hangingPunct="0">
              <a:lnSpc>
                <a:spcPct val="100000"/>
              </a:lnSpc>
              <a:spcBef>
                <a:spcPct val="0"/>
              </a:spcBef>
              <a:spcAft>
                <a:spcPct val="0"/>
              </a:spcAft>
              <a:buNone/>
            </a:pPr>
            <a:r>
              <a:rPr kumimoji="0" lang="en-US" sz="2000" b="1" i="0" u="none" strike="noStrike" cap="none" normalizeH="0" baseline="0" dirty="0" smtClean="0">
                <a:ln>
                  <a:noFill/>
                </a:ln>
                <a:solidFill>
                  <a:srgbClr val="1F1F1F"/>
                </a:solidFill>
                <a:effectLst/>
                <a:latin typeface="Times New Roman" panose="02020603050405020304" pitchFamily="18" charset="0"/>
                <a:cs typeface="Times New Roman" panose="02020603050405020304" pitchFamily="18" charset="0"/>
              </a:rPr>
              <a:t>Here Are Some Additional Tips For Writing Scala Code:</a:t>
            </a:r>
          </a:p>
          <a:p>
            <a:pPr marL="0" lvl="0" indent="0" defTabSz="914400" eaLnBrk="0" fontAlgn="base" hangingPunct="0">
              <a:lnSpc>
                <a:spcPct val="100000"/>
              </a:lnSpc>
              <a:spcBef>
                <a:spcPct val="0"/>
              </a:spcBef>
              <a:spcAft>
                <a:spcPct val="0"/>
              </a:spcAft>
              <a:buNone/>
            </a:pPr>
            <a:endPar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lvl="0" defTabSz="914400" eaLnBrk="0" fontAlgn="base" hangingPunct="0">
              <a:lnSpc>
                <a:spcPct val="100000"/>
              </a:lnSpc>
              <a:spcBef>
                <a:spcPct val="0"/>
              </a:spcBef>
              <a:spcAft>
                <a:spcPct val="0"/>
              </a:spcAft>
              <a:buFont typeface="Wingdings" panose="05000000000000000000" pitchFamily="2" charset="2"/>
              <a:buChar char="ü"/>
            </a:pPr>
            <a:r>
              <a:rPr kumimoji="0" lang="en-US" sz="2000" b="0" i="0" u="none" strike="noStrike" cap="none" normalizeH="0" baseline="0" dirty="0" smtClean="0">
                <a:ln>
                  <a:noFill/>
                </a:ln>
                <a:solidFill>
                  <a:srgbClr val="1F1F1F"/>
                </a:solidFill>
                <a:effectLst/>
                <a:latin typeface="Times New Roman" panose="02020603050405020304" pitchFamily="18" charset="0"/>
                <a:cs typeface="Times New Roman" panose="02020603050405020304" pitchFamily="18" charset="0"/>
              </a:rPr>
              <a:t>Scala is a case-sensitive language.</a:t>
            </a:r>
          </a:p>
          <a:p>
            <a:pPr lvl="0" defTabSz="914400" eaLnBrk="0" fontAlgn="base" hangingPunct="0">
              <a:lnSpc>
                <a:spcPct val="100000"/>
              </a:lnSpc>
              <a:spcBef>
                <a:spcPct val="0"/>
              </a:spcBef>
              <a:spcAft>
                <a:spcPct val="0"/>
              </a:spcAft>
              <a:buFont typeface="Wingdings" panose="05000000000000000000" pitchFamily="2" charset="2"/>
              <a:buChar char="ü"/>
            </a:pPr>
            <a:r>
              <a:rPr kumimoji="0" lang="en-US" sz="2000" b="0" i="0" u="none" strike="noStrike" cap="none" normalizeH="0" baseline="0" dirty="0" smtClean="0">
                <a:ln>
                  <a:noFill/>
                </a:ln>
                <a:solidFill>
                  <a:srgbClr val="1F1F1F"/>
                </a:solidFill>
                <a:effectLst/>
                <a:latin typeface="Times New Roman" panose="02020603050405020304" pitchFamily="18" charset="0"/>
                <a:cs typeface="Times New Roman" panose="02020603050405020304" pitchFamily="18" charset="0"/>
              </a:rPr>
              <a:t>Scala code is indented using spaces, not tabs.</a:t>
            </a:r>
          </a:p>
          <a:p>
            <a:pPr lvl="0" defTabSz="914400" eaLnBrk="0" fontAlgn="base" hangingPunct="0">
              <a:lnSpc>
                <a:spcPct val="100000"/>
              </a:lnSpc>
              <a:spcBef>
                <a:spcPct val="0"/>
              </a:spcBef>
              <a:spcAft>
                <a:spcPct val="0"/>
              </a:spcAft>
              <a:buFont typeface="Wingdings" panose="05000000000000000000" pitchFamily="2" charset="2"/>
              <a:buChar char="ü"/>
            </a:pPr>
            <a:r>
              <a:rPr kumimoji="0" lang="en-US" sz="2000" b="0" i="0" u="none" strike="noStrike" cap="none" normalizeH="0" baseline="0" dirty="0" smtClean="0">
                <a:ln>
                  <a:noFill/>
                </a:ln>
                <a:solidFill>
                  <a:srgbClr val="1F1F1F"/>
                </a:solidFill>
                <a:effectLst/>
                <a:latin typeface="Times New Roman" panose="02020603050405020304" pitchFamily="18" charset="0"/>
                <a:cs typeface="Times New Roman" panose="02020603050405020304" pitchFamily="18" charset="0"/>
              </a:rPr>
              <a:t>Scala uses the semicolon (;) to separate statements, but semicolons are optional at the end of a line.</a:t>
            </a:r>
          </a:p>
          <a:p>
            <a:pPr lvl="0" defTabSz="914400" eaLnBrk="0" fontAlgn="base" hangingPunct="0">
              <a:lnSpc>
                <a:spcPct val="100000"/>
              </a:lnSpc>
              <a:spcBef>
                <a:spcPct val="0"/>
              </a:spcBef>
              <a:spcAft>
                <a:spcPct val="0"/>
              </a:spcAft>
              <a:buFont typeface="Wingdings" panose="05000000000000000000" pitchFamily="2" charset="2"/>
              <a:buChar char="ü"/>
            </a:pPr>
            <a:r>
              <a:rPr kumimoji="0" lang="en-US" sz="2000" b="0" i="0" u="none" strike="noStrike" cap="none" normalizeH="0" baseline="0" dirty="0" smtClean="0">
                <a:ln>
                  <a:noFill/>
                </a:ln>
                <a:solidFill>
                  <a:srgbClr val="1F1F1F"/>
                </a:solidFill>
                <a:effectLst/>
                <a:latin typeface="Times New Roman" panose="02020603050405020304" pitchFamily="18" charset="0"/>
                <a:cs typeface="Times New Roman" panose="02020603050405020304" pitchFamily="18" charset="0"/>
              </a:rPr>
              <a:t>Scala uses the curly braces ({ and }) to enclose blocks of code.</a:t>
            </a:r>
          </a:p>
          <a:p>
            <a:pPr marL="0" lvl="0" indent="0" defTabSz="914400" eaLnBrk="0" fontAlgn="base" hangingPunct="0">
              <a:lnSpc>
                <a:spcPct val="100000"/>
              </a:lnSpc>
              <a:spcBef>
                <a:spcPct val="0"/>
              </a:spcBef>
              <a:spcAft>
                <a:spcPct val="0"/>
              </a:spcAft>
              <a:buNone/>
            </a:pPr>
            <a:endPar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lvl="0" indent="0" defTabSz="914400" eaLnBrk="0" fontAlgn="base" hangingPunct="0">
              <a:lnSpc>
                <a:spcPct val="100000"/>
              </a:lnSpc>
              <a:spcBef>
                <a:spcPct val="0"/>
              </a:spcBef>
              <a:spcAft>
                <a:spcPct val="0"/>
              </a:spcAft>
              <a:buNone/>
            </a:pPr>
            <a:endPar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lvl="0" indent="0" defTabSz="914400" eaLnBrk="0" fontAlgn="base" hangingPunct="0">
              <a:lnSpc>
                <a:spcPct val="100000"/>
              </a:lnSpc>
              <a:spcBef>
                <a:spcPct val="0"/>
              </a:spcBef>
              <a:spcAft>
                <a:spcPct val="0"/>
              </a:spcAft>
              <a:buNone/>
            </a:pPr>
            <a:endParaRPr lang="en-US" sz="2000" dirty="0">
              <a:latin typeface="Times New Roman" panose="02020603050405020304" pitchFamily="18" charset="0"/>
              <a:cs typeface="Times New Roman" panose="02020603050405020304" pitchFamily="18" charset="0"/>
            </a:endParaRPr>
          </a:p>
          <a:p>
            <a:pPr marL="0" lvl="0" indent="0" defTabSz="914400" eaLnBrk="0" fontAlgn="base" hangingPunct="0">
              <a:lnSpc>
                <a:spcPct val="100000"/>
              </a:lnSpc>
              <a:spcBef>
                <a:spcPct val="0"/>
              </a:spcBef>
              <a:spcAft>
                <a:spcPct val="0"/>
              </a:spcAft>
              <a:buNone/>
            </a:pPr>
            <a:endPar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lvl="0" indent="0" defTabSz="914400" eaLnBrk="0" fontAlgn="base" hangingPunct="0">
              <a:lnSpc>
                <a:spcPct val="100000"/>
              </a:lnSpc>
              <a:spcBef>
                <a:spcPct val="0"/>
              </a:spcBef>
              <a:spcAft>
                <a:spcPct val="0"/>
              </a:spcAft>
              <a:buNone/>
            </a:pPr>
            <a:endPar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p:txBody>
      </p:sp>
      <p:sp>
        <p:nvSpPr>
          <p:cNvPr id="4" name="Rectangle 1"/>
          <p:cNvSpPr>
            <a:spLocks noChangeArrowheads="1"/>
          </p:cNvSpPr>
          <p:nvPr/>
        </p:nvSpPr>
        <p:spPr bwMode="auto">
          <a:xfrm>
            <a:off x="0" y="64460"/>
            <a:ext cx="65" cy="328279"/>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0" tIns="25392" rIns="0" bIns="25392"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xmlns="" val="16446584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76200"/>
            <a:ext cx="6477000" cy="685800"/>
          </a:xfrm>
        </p:spPr>
        <p:txBody>
          <a:bodyPr/>
          <a:lstStyle/>
          <a:p>
            <a:r>
              <a:rPr lang="en-US" b="1" dirty="0" smtClean="0">
                <a:solidFill>
                  <a:srgbClr val="FF0000"/>
                </a:solidFill>
                <a:latin typeface="Times New Roman" panose="02020603050405020304" pitchFamily="18" charset="0"/>
                <a:cs typeface="Times New Roman" panose="02020603050405020304" pitchFamily="18" charset="0"/>
              </a:rPr>
              <a:t>Scala – Data Types</a:t>
            </a:r>
            <a:endParaRPr lang="en-IN"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28600" y="838200"/>
            <a:ext cx="7543800" cy="5638800"/>
          </a:xfrm>
        </p:spPr>
        <p:txBody>
          <a:bodyPr>
            <a:normAutofit/>
          </a:bodyPr>
          <a:lstStyle/>
          <a:p>
            <a:r>
              <a:rPr lang="en-US" dirty="0">
                <a:latin typeface="Times New Roman" panose="02020603050405020304" pitchFamily="18" charset="0"/>
                <a:cs typeface="Times New Roman" panose="02020603050405020304" pitchFamily="18" charset="0"/>
              </a:rPr>
              <a:t>Scala has a rich set of data types, including primitive types, reference types, and functional types.</a:t>
            </a:r>
          </a:p>
          <a:p>
            <a:pPr marL="0" indent="0">
              <a:buNone/>
            </a:pPr>
            <a:r>
              <a:rPr lang="en-US" b="1" dirty="0" smtClean="0">
                <a:solidFill>
                  <a:srgbClr val="002060"/>
                </a:solidFill>
                <a:latin typeface="Times New Roman" panose="02020603050405020304" pitchFamily="18" charset="0"/>
                <a:cs typeface="Times New Roman" panose="02020603050405020304" pitchFamily="18" charset="0"/>
              </a:rPr>
              <a:t>Primitive Types</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are the basic building blocks of Scala code. They include:</a:t>
            </a:r>
          </a:p>
          <a:p>
            <a:pPr>
              <a:buFont typeface="Wingdings" panose="05000000000000000000" pitchFamily="2" charset="2"/>
              <a:buChar char="ü"/>
            </a:pPr>
            <a:r>
              <a:rPr lang="en-US" b="1" dirty="0" smtClean="0">
                <a:latin typeface="Times New Roman" panose="02020603050405020304" pitchFamily="18" charset="0"/>
                <a:cs typeface="Times New Roman" panose="02020603050405020304" pitchFamily="18" charset="0"/>
              </a:rPr>
              <a:t>Numeric Types</a:t>
            </a:r>
            <a:r>
              <a:rPr lang="en-US" dirty="0" smtClean="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Byte, Short, Int, Long, Float, Double</a:t>
            </a:r>
          </a:p>
          <a:p>
            <a:pPr>
              <a:buFont typeface="Wingdings" panose="05000000000000000000" pitchFamily="2" charset="2"/>
              <a:buChar char="ü"/>
            </a:pPr>
            <a:r>
              <a:rPr lang="en-US" b="1" dirty="0" smtClean="0">
                <a:latin typeface="Times New Roman" panose="02020603050405020304" pitchFamily="18" charset="0"/>
                <a:cs typeface="Times New Roman" panose="02020603050405020304" pitchFamily="18" charset="0"/>
              </a:rPr>
              <a:t>Boolean Type</a:t>
            </a:r>
            <a:r>
              <a:rPr lang="en-US" dirty="0" smtClean="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Boolean</a:t>
            </a:r>
          </a:p>
          <a:p>
            <a:pPr>
              <a:buFont typeface="Wingdings" panose="05000000000000000000" pitchFamily="2" charset="2"/>
              <a:buChar char="ü"/>
            </a:pPr>
            <a:r>
              <a:rPr lang="en-US" b="1" dirty="0" smtClean="0">
                <a:latin typeface="Times New Roman" panose="02020603050405020304" pitchFamily="18" charset="0"/>
                <a:cs typeface="Times New Roman" panose="02020603050405020304" pitchFamily="18" charset="0"/>
              </a:rPr>
              <a:t>Character Type</a:t>
            </a:r>
            <a:r>
              <a:rPr lang="en-US" dirty="0" smtClean="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Char</a:t>
            </a:r>
          </a:p>
          <a:p>
            <a:pPr marL="0" indent="0">
              <a:buNone/>
            </a:pPr>
            <a:r>
              <a:rPr lang="en-US" b="1" dirty="0" smtClean="0">
                <a:solidFill>
                  <a:srgbClr val="002060"/>
                </a:solidFill>
                <a:latin typeface="Times New Roman" panose="02020603050405020304" pitchFamily="18" charset="0"/>
                <a:cs typeface="Times New Roman" panose="02020603050405020304" pitchFamily="18" charset="0"/>
              </a:rPr>
              <a:t>Reference Types</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are objects that can be referenced by other objects. They include:</a:t>
            </a:r>
          </a:p>
          <a:p>
            <a:pPr>
              <a:buFont typeface="Wingdings" panose="05000000000000000000" pitchFamily="2" charset="2"/>
              <a:buChar char="ü"/>
            </a:pPr>
            <a:r>
              <a:rPr lang="en-US" b="1" dirty="0">
                <a:latin typeface="Times New Roman" panose="02020603050405020304" pitchFamily="18" charset="0"/>
                <a:cs typeface="Times New Roman" panose="02020603050405020304" pitchFamily="18" charset="0"/>
              </a:rPr>
              <a:t>String</a:t>
            </a:r>
            <a:r>
              <a:rPr lang="en-US" dirty="0">
                <a:latin typeface="Times New Roman" panose="02020603050405020304" pitchFamily="18" charset="0"/>
                <a:cs typeface="Times New Roman" panose="02020603050405020304" pitchFamily="18" charset="0"/>
              </a:rPr>
              <a:t>: A sequence of characters</a:t>
            </a:r>
          </a:p>
          <a:p>
            <a:pPr>
              <a:buFont typeface="Wingdings" panose="05000000000000000000" pitchFamily="2" charset="2"/>
              <a:buChar char="ü"/>
            </a:pPr>
            <a:r>
              <a:rPr lang="en-US" b="1" dirty="0">
                <a:latin typeface="Times New Roman" panose="02020603050405020304" pitchFamily="18" charset="0"/>
                <a:cs typeface="Times New Roman" panose="02020603050405020304" pitchFamily="18" charset="0"/>
              </a:rPr>
              <a:t>Array</a:t>
            </a:r>
            <a:r>
              <a:rPr lang="en-US" dirty="0">
                <a:latin typeface="Times New Roman" panose="02020603050405020304" pitchFamily="18" charset="0"/>
                <a:cs typeface="Times New Roman" panose="02020603050405020304" pitchFamily="18" charset="0"/>
              </a:rPr>
              <a:t>: A fixed-size collection of elements</a:t>
            </a:r>
          </a:p>
          <a:p>
            <a:pPr>
              <a:buFont typeface="Wingdings" panose="05000000000000000000" pitchFamily="2" charset="2"/>
              <a:buChar char="ü"/>
            </a:pPr>
            <a:r>
              <a:rPr lang="en-US" b="1" dirty="0">
                <a:latin typeface="Times New Roman" panose="02020603050405020304" pitchFamily="18" charset="0"/>
                <a:cs typeface="Times New Roman" panose="02020603050405020304" pitchFamily="18" charset="0"/>
              </a:rPr>
              <a:t>List</a:t>
            </a:r>
            <a:r>
              <a:rPr lang="en-US" dirty="0">
                <a:latin typeface="Times New Roman" panose="02020603050405020304" pitchFamily="18" charset="0"/>
                <a:cs typeface="Times New Roman" panose="02020603050405020304" pitchFamily="18" charset="0"/>
              </a:rPr>
              <a:t>: A linked list of elements</a:t>
            </a:r>
          </a:p>
          <a:p>
            <a:pPr>
              <a:buFont typeface="Wingdings" panose="05000000000000000000" pitchFamily="2" charset="2"/>
              <a:buChar char="ü"/>
            </a:pPr>
            <a:r>
              <a:rPr lang="en-US" b="1" dirty="0">
                <a:latin typeface="Times New Roman" panose="02020603050405020304" pitchFamily="18" charset="0"/>
                <a:cs typeface="Times New Roman" panose="02020603050405020304" pitchFamily="18" charset="0"/>
              </a:rPr>
              <a:t>Set</a:t>
            </a:r>
            <a:r>
              <a:rPr lang="en-US" dirty="0">
                <a:latin typeface="Times New Roman" panose="02020603050405020304" pitchFamily="18" charset="0"/>
                <a:cs typeface="Times New Roman" panose="02020603050405020304" pitchFamily="18" charset="0"/>
              </a:rPr>
              <a:t>: A collection of unique elements</a:t>
            </a:r>
          </a:p>
          <a:p>
            <a:pPr>
              <a:buFont typeface="Wingdings" panose="05000000000000000000" pitchFamily="2" charset="2"/>
              <a:buChar char="ü"/>
            </a:pPr>
            <a:r>
              <a:rPr lang="en-US" b="1" dirty="0">
                <a:latin typeface="Times New Roman" panose="02020603050405020304" pitchFamily="18" charset="0"/>
                <a:cs typeface="Times New Roman" panose="02020603050405020304" pitchFamily="18" charset="0"/>
              </a:rPr>
              <a:t>Map</a:t>
            </a:r>
            <a:r>
              <a:rPr lang="en-US" dirty="0">
                <a:latin typeface="Times New Roman" panose="02020603050405020304" pitchFamily="18" charset="0"/>
                <a:cs typeface="Times New Roman" panose="02020603050405020304" pitchFamily="18" charset="0"/>
              </a:rPr>
              <a:t>: A collection of key-value pairs</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11616623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609600"/>
            <a:ext cx="7239000" cy="4191000"/>
          </a:xfrm>
        </p:spPr>
        <p:txBody>
          <a:bodyPr>
            <a:normAutofit/>
          </a:bodyPr>
          <a:lstStyle/>
          <a:p>
            <a:pPr marL="0" indent="0">
              <a:buNone/>
            </a:pPr>
            <a:r>
              <a:rPr lang="en-US" sz="2000" b="1" dirty="0" smtClean="0">
                <a:solidFill>
                  <a:srgbClr val="002060"/>
                </a:solidFill>
                <a:latin typeface="Times New Roman" panose="02020603050405020304" pitchFamily="18" charset="0"/>
                <a:cs typeface="Times New Roman" panose="02020603050405020304" pitchFamily="18" charset="0"/>
              </a:rPr>
              <a:t>Functional Types</a:t>
            </a:r>
            <a:r>
              <a:rPr lang="en-US" sz="2000" dirty="0" smtClean="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are functions that can be passed around as values and used as arguments to other functions. They include:</a:t>
            </a:r>
          </a:p>
          <a:p>
            <a:pPr>
              <a:buFont typeface="Wingdings" panose="05000000000000000000" pitchFamily="2" charset="2"/>
              <a:buChar char="ü"/>
            </a:pPr>
            <a:r>
              <a:rPr lang="en-US" sz="2000" b="1" dirty="0" smtClean="0">
                <a:latin typeface="Times New Roman" panose="02020603050405020304" pitchFamily="18" charset="0"/>
                <a:cs typeface="Times New Roman" panose="02020603050405020304" pitchFamily="18" charset="0"/>
              </a:rPr>
              <a:t>Function Types</a:t>
            </a:r>
            <a:r>
              <a:rPr lang="en-US" sz="2000" dirty="0" smtClean="0">
                <a:latin typeface="Times New Roman" panose="02020603050405020304" pitchFamily="18" charset="0"/>
                <a:cs typeface="Times New Roman" panose="02020603050405020304" pitchFamily="18" charset="0"/>
              </a:rPr>
              <a:t>:</a:t>
            </a:r>
            <a:r>
              <a:rPr lang="en-US" sz="2000" dirty="0">
                <a:latin typeface="Times New Roman" panose="02020603050405020304" pitchFamily="18" charset="0"/>
                <a:cs typeface="Times New Roman" panose="02020603050405020304" pitchFamily="18" charset="0"/>
              </a:rPr>
              <a:t> A function type takes one or more arguments and returns a value</a:t>
            </a:r>
          </a:p>
          <a:p>
            <a:pPr>
              <a:buFont typeface="Wingdings" panose="05000000000000000000" pitchFamily="2" charset="2"/>
              <a:buChar char="ü"/>
            </a:pPr>
            <a:r>
              <a:rPr lang="en-US" sz="2000" b="1" dirty="0">
                <a:latin typeface="Times New Roman" panose="02020603050405020304" pitchFamily="18" charset="0"/>
                <a:cs typeface="Times New Roman" panose="02020603050405020304" pitchFamily="18" charset="0"/>
              </a:rPr>
              <a:t>Unit</a:t>
            </a:r>
            <a:r>
              <a:rPr lang="en-US" sz="2000" dirty="0">
                <a:latin typeface="Times New Roman" panose="02020603050405020304" pitchFamily="18" charset="0"/>
                <a:cs typeface="Times New Roman" panose="02020603050405020304" pitchFamily="18" charset="0"/>
              </a:rPr>
              <a:t>: The unit type is used for functions that do not return a value</a:t>
            </a:r>
          </a:p>
          <a:p>
            <a:pPr marL="0" indent="0">
              <a:buNone/>
            </a:pPr>
            <a:r>
              <a:rPr lang="en-US" sz="2000" dirty="0">
                <a:latin typeface="Times New Roman" panose="02020603050405020304" pitchFamily="18" charset="0"/>
                <a:cs typeface="Times New Roman" panose="02020603050405020304" pitchFamily="18" charset="0"/>
              </a:rPr>
              <a:t>In addition to these built-in data types, Scala also allows users to define their own </a:t>
            </a:r>
            <a:r>
              <a:rPr lang="en-US" sz="2000" b="1" dirty="0" smtClean="0">
                <a:solidFill>
                  <a:srgbClr val="002060"/>
                </a:solidFill>
                <a:latin typeface="Times New Roman" panose="02020603050405020304" pitchFamily="18" charset="0"/>
                <a:cs typeface="Times New Roman" panose="02020603050405020304" pitchFamily="18" charset="0"/>
              </a:rPr>
              <a:t>Custom Data Types</a:t>
            </a:r>
            <a:r>
              <a:rPr lang="en-US" sz="2000" dirty="0" smtClean="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a:p>
            <a:endParaRPr lang="en-IN" sz="2000" dirty="0"/>
          </a:p>
        </p:txBody>
      </p:sp>
    </p:spTree>
    <p:extLst>
      <p:ext uri="{BB962C8B-B14F-4D97-AF65-F5344CB8AC3E}">
        <p14:creationId xmlns:p14="http://schemas.microsoft.com/office/powerpoint/2010/main" xmlns="" val="5410263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304800"/>
            <a:ext cx="7848600" cy="5638800"/>
          </a:xfrm>
        </p:spPr>
        <p:txBody>
          <a:bodyPr>
            <a:normAutofit lnSpcReduction="10000"/>
          </a:bodyPr>
          <a:lstStyle/>
          <a:p>
            <a:pPr marL="0" indent="0">
              <a:buNone/>
            </a:pPr>
            <a:r>
              <a:rPr lang="en-US" b="1" dirty="0" smtClean="0">
                <a:latin typeface="Times New Roman" panose="02020603050405020304" pitchFamily="18" charset="0"/>
                <a:cs typeface="Times New Roman" panose="02020603050405020304" pitchFamily="18" charset="0"/>
              </a:rPr>
              <a:t>Examples Of How To Use Data Types In Scala</a:t>
            </a:r>
            <a:endParaRPr lang="en-IN" b="1" dirty="0" smtClean="0">
              <a:latin typeface="Times New Roman" panose="02020603050405020304" pitchFamily="18" charset="0"/>
              <a:cs typeface="Times New Roman" panose="02020603050405020304" pitchFamily="18" charset="0"/>
            </a:endParaRPr>
          </a:p>
          <a:p>
            <a:pPr marL="0" indent="0">
              <a:buNone/>
            </a:pPr>
            <a:r>
              <a:rPr lang="en-IN" dirty="0" smtClean="0">
                <a:latin typeface="Times New Roman" panose="02020603050405020304" pitchFamily="18" charset="0"/>
                <a:cs typeface="Times New Roman" panose="02020603050405020304" pitchFamily="18" charset="0"/>
              </a:rPr>
              <a:t>// </a:t>
            </a:r>
            <a:r>
              <a:rPr lang="en-IN" b="1" dirty="0" smtClean="0">
                <a:solidFill>
                  <a:srgbClr val="002060"/>
                </a:solidFill>
                <a:latin typeface="Times New Roman" panose="02020603050405020304" pitchFamily="18" charset="0"/>
                <a:cs typeface="Times New Roman" panose="02020603050405020304" pitchFamily="18" charset="0"/>
              </a:rPr>
              <a:t>Primitive Types</a:t>
            </a:r>
          </a:p>
          <a:p>
            <a:pPr>
              <a:buFont typeface="Wingdings" panose="05000000000000000000" pitchFamily="2" charset="2"/>
              <a:buChar char="ü"/>
            </a:pPr>
            <a:r>
              <a:rPr lang="en-IN" dirty="0" smtClean="0">
                <a:latin typeface="Times New Roman" panose="02020603050405020304" pitchFamily="18" charset="0"/>
                <a:cs typeface="Times New Roman" panose="02020603050405020304" pitchFamily="18" charset="0"/>
              </a:rPr>
              <a:t>val </a:t>
            </a:r>
            <a:r>
              <a:rPr lang="en-IN" dirty="0">
                <a:latin typeface="Times New Roman" panose="02020603050405020304" pitchFamily="18" charset="0"/>
                <a:cs typeface="Times New Roman" panose="02020603050405020304" pitchFamily="18" charset="0"/>
              </a:rPr>
              <a:t>myAge: Int = 2</a:t>
            </a:r>
          </a:p>
          <a:p>
            <a:pPr>
              <a:buFont typeface="Wingdings" panose="05000000000000000000" pitchFamily="2" charset="2"/>
              <a:buChar char="ü"/>
            </a:pPr>
            <a:r>
              <a:rPr lang="en-IN" dirty="0">
                <a:latin typeface="Times New Roman" panose="02020603050405020304" pitchFamily="18" charset="0"/>
                <a:cs typeface="Times New Roman" panose="02020603050405020304" pitchFamily="18" charset="0"/>
              </a:rPr>
              <a:t>val myName: String = "Bard"</a:t>
            </a:r>
          </a:p>
          <a:p>
            <a:pPr>
              <a:buFont typeface="Wingdings" panose="05000000000000000000" pitchFamily="2" charset="2"/>
              <a:buChar char="ü"/>
            </a:pPr>
            <a:r>
              <a:rPr lang="en-IN" dirty="0">
                <a:latin typeface="Times New Roman" panose="02020603050405020304" pitchFamily="18" charset="0"/>
                <a:cs typeface="Times New Roman" panose="02020603050405020304" pitchFamily="18" charset="0"/>
              </a:rPr>
              <a:t>val myPi: Double = 3.14159</a:t>
            </a:r>
          </a:p>
          <a:p>
            <a:endParaRPr lang="en-IN" dirty="0">
              <a:latin typeface="Times New Roman" panose="02020603050405020304" pitchFamily="18" charset="0"/>
              <a:cs typeface="Times New Roman" panose="02020603050405020304" pitchFamily="18" charset="0"/>
            </a:endParaRPr>
          </a:p>
          <a:p>
            <a:pPr marL="0" indent="0">
              <a:buNone/>
            </a:pPr>
            <a:r>
              <a:rPr lang="en-IN" dirty="0">
                <a:latin typeface="Times New Roman" panose="02020603050405020304" pitchFamily="18" charset="0"/>
                <a:cs typeface="Times New Roman" panose="02020603050405020304" pitchFamily="18" charset="0"/>
              </a:rPr>
              <a:t>// </a:t>
            </a:r>
            <a:r>
              <a:rPr lang="en-IN" b="1" dirty="0" smtClean="0">
                <a:solidFill>
                  <a:srgbClr val="002060"/>
                </a:solidFill>
                <a:latin typeface="Times New Roman" panose="02020603050405020304" pitchFamily="18" charset="0"/>
                <a:cs typeface="Times New Roman" panose="02020603050405020304" pitchFamily="18" charset="0"/>
              </a:rPr>
              <a:t>Reference Types</a:t>
            </a:r>
          </a:p>
          <a:p>
            <a:pPr>
              <a:buFont typeface="Wingdings" panose="05000000000000000000" pitchFamily="2" charset="2"/>
              <a:buChar char="ü"/>
            </a:pPr>
            <a:r>
              <a:rPr lang="en-IN" dirty="0" smtClean="0">
                <a:latin typeface="Times New Roman" panose="02020603050405020304" pitchFamily="18" charset="0"/>
                <a:cs typeface="Times New Roman" panose="02020603050405020304" pitchFamily="18" charset="0"/>
              </a:rPr>
              <a:t>val </a:t>
            </a:r>
            <a:r>
              <a:rPr lang="en-IN" dirty="0">
                <a:latin typeface="Times New Roman" panose="02020603050405020304" pitchFamily="18" charset="0"/>
                <a:cs typeface="Times New Roman" panose="02020603050405020304" pitchFamily="18" charset="0"/>
              </a:rPr>
              <a:t>myArray: Array[Int] = Array(1, 2, 3, 4, 5)</a:t>
            </a:r>
          </a:p>
          <a:p>
            <a:pPr>
              <a:buFont typeface="Wingdings" panose="05000000000000000000" pitchFamily="2" charset="2"/>
              <a:buChar char="ü"/>
            </a:pPr>
            <a:r>
              <a:rPr lang="en-IN" dirty="0">
                <a:latin typeface="Times New Roman" panose="02020603050405020304" pitchFamily="18" charset="0"/>
                <a:cs typeface="Times New Roman" panose="02020603050405020304" pitchFamily="18" charset="0"/>
              </a:rPr>
              <a:t>val myList: List[String] = List("one", "two", "three")</a:t>
            </a:r>
          </a:p>
          <a:p>
            <a:pPr>
              <a:buFont typeface="Wingdings" panose="05000000000000000000" pitchFamily="2" charset="2"/>
              <a:buChar char="ü"/>
            </a:pPr>
            <a:r>
              <a:rPr lang="en-IN" dirty="0">
                <a:latin typeface="Times New Roman" panose="02020603050405020304" pitchFamily="18" charset="0"/>
                <a:cs typeface="Times New Roman" panose="02020603050405020304" pitchFamily="18" charset="0"/>
              </a:rPr>
              <a:t>val mySet: Set[Int] = Set(1, 2, 3)</a:t>
            </a:r>
          </a:p>
          <a:p>
            <a:pPr>
              <a:buFont typeface="Wingdings" panose="05000000000000000000" pitchFamily="2" charset="2"/>
              <a:buChar char="ü"/>
            </a:pPr>
            <a:r>
              <a:rPr lang="en-IN" dirty="0">
                <a:latin typeface="Times New Roman" panose="02020603050405020304" pitchFamily="18" charset="0"/>
                <a:cs typeface="Times New Roman" panose="02020603050405020304" pitchFamily="18" charset="0"/>
              </a:rPr>
              <a:t>val myMap: Map[String, Int] = Map("one" -&gt; 1, "two" -&gt; 2)</a:t>
            </a:r>
          </a:p>
          <a:p>
            <a:endParaRPr lang="en-IN" dirty="0">
              <a:latin typeface="Times New Roman" panose="02020603050405020304" pitchFamily="18" charset="0"/>
              <a:cs typeface="Times New Roman" panose="02020603050405020304" pitchFamily="18" charset="0"/>
            </a:endParaRPr>
          </a:p>
          <a:p>
            <a:pPr marL="0" indent="0">
              <a:buNone/>
            </a:pPr>
            <a:r>
              <a:rPr lang="en-IN" dirty="0">
                <a:latin typeface="Times New Roman" panose="02020603050405020304" pitchFamily="18" charset="0"/>
                <a:cs typeface="Times New Roman" panose="02020603050405020304" pitchFamily="18" charset="0"/>
              </a:rPr>
              <a:t>// </a:t>
            </a:r>
            <a:r>
              <a:rPr lang="en-IN" b="1" dirty="0" smtClean="0">
                <a:solidFill>
                  <a:srgbClr val="002060"/>
                </a:solidFill>
                <a:latin typeface="Times New Roman" panose="02020603050405020304" pitchFamily="18" charset="0"/>
                <a:cs typeface="Times New Roman" panose="02020603050405020304" pitchFamily="18" charset="0"/>
              </a:rPr>
              <a:t>Functional Types</a:t>
            </a:r>
          </a:p>
          <a:p>
            <a:pPr>
              <a:buFont typeface="Wingdings" panose="05000000000000000000" pitchFamily="2" charset="2"/>
              <a:buChar char="ü"/>
            </a:pPr>
            <a:r>
              <a:rPr lang="en-IN" dirty="0" smtClean="0">
                <a:latin typeface="Times New Roman" panose="02020603050405020304" pitchFamily="18" charset="0"/>
                <a:cs typeface="Times New Roman" panose="02020603050405020304" pitchFamily="18" charset="0"/>
              </a:rPr>
              <a:t>def </a:t>
            </a:r>
            <a:r>
              <a:rPr lang="en-IN" dirty="0">
                <a:latin typeface="Times New Roman" panose="02020603050405020304" pitchFamily="18" charset="0"/>
                <a:cs typeface="Times New Roman" panose="02020603050405020304" pitchFamily="18" charset="0"/>
              </a:rPr>
              <a:t>addTwoNumbers(a: Int, b: Int): Int = a + b</a:t>
            </a:r>
          </a:p>
          <a:p>
            <a:pPr>
              <a:buFont typeface="Wingdings" panose="05000000000000000000" pitchFamily="2" charset="2"/>
              <a:buChar char="ü"/>
            </a:pPr>
            <a:r>
              <a:rPr lang="en-IN" dirty="0">
                <a:latin typeface="Times New Roman" panose="02020603050405020304" pitchFamily="18" charset="0"/>
                <a:cs typeface="Times New Roman" panose="02020603050405020304" pitchFamily="18" charset="0"/>
              </a:rPr>
              <a:t>val myFunction: Int =&gt; Int = addTwoNumbers</a:t>
            </a:r>
          </a:p>
        </p:txBody>
      </p:sp>
    </p:spTree>
    <p:extLst>
      <p:ext uri="{BB962C8B-B14F-4D97-AF65-F5344CB8AC3E}">
        <p14:creationId xmlns:p14="http://schemas.microsoft.com/office/powerpoint/2010/main" xmlns="" val="40748382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6248401" cy="609600"/>
          </a:xfrm>
        </p:spPr>
        <p:txBody>
          <a:bodyPr>
            <a:noAutofit/>
          </a:bodyPr>
          <a:lstStyle/>
          <a:p>
            <a:r>
              <a:rPr lang="en-US" b="1" dirty="0" smtClean="0">
                <a:solidFill>
                  <a:srgbClr val="FF0000"/>
                </a:solidFill>
                <a:latin typeface="Times New Roman" panose="02020603050405020304" pitchFamily="18" charset="0"/>
                <a:cs typeface="Times New Roman" panose="02020603050405020304" pitchFamily="18" charset="0"/>
              </a:rPr>
              <a:t>Scala - Functions</a:t>
            </a:r>
            <a:endParaRPr lang="en-IN"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52400" y="838200"/>
            <a:ext cx="7391400" cy="5105400"/>
          </a:xfrm>
        </p:spPr>
        <p:txBody>
          <a:bodyPr>
            <a:normAutofit/>
          </a:bodyPr>
          <a:lstStyle/>
          <a:p>
            <a:r>
              <a:rPr lang="en-US" sz="2000" dirty="0">
                <a:latin typeface="Times New Roman" pitchFamily="18" charset="0"/>
                <a:cs typeface="Times New Roman" pitchFamily="18" charset="0"/>
              </a:rPr>
              <a:t>Functions are one of the most important concepts in Scala. They allow you to encapsulate code and reuse it throughout your program</a:t>
            </a:r>
            <a:r>
              <a:rPr lang="en-US" sz="2000" dirty="0" smtClean="0">
                <a:latin typeface="Times New Roman" pitchFamily="18" charset="0"/>
                <a:cs typeface="Times New Roman" pitchFamily="18" charset="0"/>
              </a:rPr>
              <a:t>.</a:t>
            </a:r>
          </a:p>
          <a:p>
            <a:pPr>
              <a:buAutoNum type="arabicPeriod"/>
            </a:pPr>
            <a:r>
              <a:rPr lang="en-US" sz="2000" dirty="0" smtClean="0">
                <a:latin typeface="Times New Roman" pitchFamily="18" charset="0"/>
                <a:cs typeface="Times New Roman" pitchFamily="18" charset="0"/>
              </a:rPr>
              <a:t>Functions </a:t>
            </a:r>
            <a:r>
              <a:rPr lang="en-US" sz="2000" dirty="0">
                <a:latin typeface="Times New Roman" pitchFamily="18" charset="0"/>
                <a:cs typeface="Times New Roman" pitchFamily="18" charset="0"/>
              </a:rPr>
              <a:t>can also be returned from other functions. This is called recursion. </a:t>
            </a:r>
            <a:endParaRPr lang="en-US" sz="2000" dirty="0" smtClean="0">
              <a:latin typeface="Times New Roman" pitchFamily="18" charset="0"/>
              <a:cs typeface="Times New Roman" pitchFamily="18" charset="0"/>
            </a:endParaRPr>
          </a:p>
          <a:p>
            <a:pPr marL="0" indent="0">
              <a:buNone/>
            </a:pPr>
            <a:r>
              <a:rPr lang="en-US" sz="2000" dirty="0" smtClean="0">
                <a:latin typeface="Times New Roman" pitchFamily="18" charset="0"/>
                <a:cs typeface="Times New Roman" pitchFamily="18" charset="0"/>
              </a:rPr>
              <a:t>For </a:t>
            </a:r>
            <a:r>
              <a:rPr lang="en-US" sz="2000" dirty="0">
                <a:latin typeface="Times New Roman" pitchFamily="18" charset="0"/>
                <a:cs typeface="Times New Roman" pitchFamily="18" charset="0"/>
              </a:rPr>
              <a:t>example</a:t>
            </a:r>
            <a:r>
              <a:rPr lang="en-US" sz="2000" dirty="0" smtClean="0">
                <a:latin typeface="Times New Roman" pitchFamily="18" charset="0"/>
                <a:cs typeface="Times New Roman" pitchFamily="18" charset="0"/>
              </a:rPr>
              <a:t>:</a:t>
            </a:r>
          </a:p>
          <a:p>
            <a:pPr marL="0" indent="0">
              <a:buNone/>
            </a:pPr>
            <a:r>
              <a:rPr lang="pt-BR" sz="2000" dirty="0">
                <a:latin typeface="Times New Roman" pitchFamily="18" charset="0"/>
                <a:cs typeface="Times New Roman" pitchFamily="18" charset="0"/>
              </a:rPr>
              <a:t>def factorial(n: Int): Int = {</a:t>
            </a:r>
          </a:p>
          <a:p>
            <a:pPr marL="0" indent="0">
              <a:buNone/>
            </a:pPr>
            <a:r>
              <a:rPr lang="pt-BR" sz="2000" dirty="0">
                <a:latin typeface="Times New Roman" pitchFamily="18" charset="0"/>
                <a:cs typeface="Times New Roman" pitchFamily="18" charset="0"/>
              </a:rPr>
              <a:t>  if (n == 0) 1</a:t>
            </a:r>
          </a:p>
          <a:p>
            <a:pPr marL="0" indent="0">
              <a:buNone/>
            </a:pPr>
            <a:r>
              <a:rPr lang="pt-BR" sz="2000" dirty="0">
                <a:latin typeface="Times New Roman" pitchFamily="18" charset="0"/>
                <a:cs typeface="Times New Roman" pitchFamily="18" charset="0"/>
              </a:rPr>
              <a:t>  else n * factorial(n - 1)</a:t>
            </a:r>
          </a:p>
          <a:p>
            <a:pPr marL="0" indent="0">
              <a:buNone/>
            </a:pPr>
            <a:r>
              <a:rPr lang="pt-BR" sz="2000" dirty="0">
                <a:latin typeface="Times New Roman" pitchFamily="18" charset="0"/>
                <a:cs typeface="Times New Roman" pitchFamily="18" charset="0"/>
              </a:rPr>
              <a:t>}</a:t>
            </a:r>
          </a:p>
          <a:p>
            <a:pPr>
              <a:buFont typeface="Wingdings" panose="05000000000000000000" pitchFamily="2" charset="2"/>
              <a:buChar char="ü"/>
            </a:pPr>
            <a:r>
              <a:rPr lang="en-US" sz="2000" dirty="0">
                <a:latin typeface="Times New Roman" pitchFamily="18" charset="0"/>
                <a:cs typeface="Times New Roman" pitchFamily="18" charset="0"/>
              </a:rPr>
              <a:t>This function calculates the factorial of a number. </a:t>
            </a:r>
            <a:endParaRPr lang="en-US" sz="2000" dirty="0" smtClean="0">
              <a:latin typeface="Times New Roman" pitchFamily="18" charset="0"/>
              <a:cs typeface="Times New Roman" pitchFamily="18" charset="0"/>
            </a:endParaRPr>
          </a:p>
          <a:p>
            <a:pPr>
              <a:buFont typeface="Wingdings" panose="05000000000000000000" pitchFamily="2" charset="2"/>
              <a:buChar char="ü"/>
            </a:pPr>
            <a:r>
              <a:rPr lang="en-US" sz="2000" dirty="0" smtClean="0">
                <a:latin typeface="Times New Roman" pitchFamily="18" charset="0"/>
                <a:cs typeface="Times New Roman" pitchFamily="18" charset="0"/>
              </a:rPr>
              <a:t>It </a:t>
            </a:r>
            <a:r>
              <a:rPr lang="en-US" sz="2000" dirty="0">
                <a:latin typeface="Times New Roman" pitchFamily="18" charset="0"/>
                <a:cs typeface="Times New Roman" pitchFamily="18" charset="0"/>
              </a:rPr>
              <a:t>is recursive because it calls itself to calculate the factorial of the number minus one.</a:t>
            </a:r>
            <a:endParaRPr lang="en-IN" sz="2000" dirty="0">
              <a:latin typeface="Times New Roman" pitchFamily="18" charset="0"/>
              <a:cs typeface="Times New Roman" pitchFamily="18" charset="0"/>
            </a:endParaRPr>
          </a:p>
        </p:txBody>
      </p:sp>
    </p:spTree>
    <p:extLst>
      <p:ext uri="{BB962C8B-B14F-4D97-AF65-F5344CB8AC3E}">
        <p14:creationId xmlns:p14="http://schemas.microsoft.com/office/powerpoint/2010/main" xmlns="" val="32660646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52400"/>
            <a:ext cx="7239000" cy="5638800"/>
          </a:xfrm>
        </p:spPr>
        <p:txBody>
          <a:bodyPr>
            <a:noAutofit/>
          </a:bodyPr>
          <a:lstStyle/>
          <a:p>
            <a:pPr marL="0" indent="0">
              <a:buNone/>
            </a:pPr>
            <a:r>
              <a:rPr lang="en-US" sz="2000" dirty="0" smtClean="0">
                <a:solidFill>
                  <a:schemeClr val="tx1"/>
                </a:solidFill>
                <a:latin typeface="Times New Roman" panose="02020603050405020304" pitchFamily="18" charset="0"/>
                <a:cs typeface="Times New Roman" panose="02020603050405020304" pitchFamily="18" charset="0"/>
              </a:rPr>
              <a:t>2. Functions </a:t>
            </a:r>
            <a:r>
              <a:rPr lang="en-US" sz="2000" dirty="0">
                <a:solidFill>
                  <a:schemeClr val="tx1"/>
                </a:solidFill>
                <a:latin typeface="Times New Roman" panose="02020603050405020304" pitchFamily="18" charset="0"/>
                <a:cs typeface="Times New Roman" panose="02020603050405020304" pitchFamily="18" charset="0"/>
              </a:rPr>
              <a:t>can be passed as arguments to other functions. </a:t>
            </a:r>
            <a:endParaRPr lang="en-US" sz="2000" dirty="0" smtClean="0">
              <a:solidFill>
                <a:schemeClr val="tx1"/>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ü"/>
            </a:pPr>
            <a:r>
              <a:rPr lang="en-US" sz="2000" dirty="0" smtClean="0">
                <a:solidFill>
                  <a:schemeClr val="tx1"/>
                </a:solidFill>
                <a:latin typeface="Times New Roman" panose="02020603050405020304" pitchFamily="18" charset="0"/>
                <a:cs typeface="Times New Roman" panose="02020603050405020304" pitchFamily="18" charset="0"/>
              </a:rPr>
              <a:t>This </a:t>
            </a:r>
            <a:r>
              <a:rPr lang="en-US" sz="2000" dirty="0">
                <a:solidFill>
                  <a:schemeClr val="tx1"/>
                </a:solidFill>
                <a:latin typeface="Times New Roman" panose="02020603050405020304" pitchFamily="18" charset="0"/>
                <a:cs typeface="Times New Roman" panose="02020603050405020304" pitchFamily="18" charset="0"/>
              </a:rPr>
              <a:t>is called higher-order programming. </a:t>
            </a:r>
            <a:endParaRPr lang="en-US" sz="2000" dirty="0" smtClean="0">
              <a:solidFill>
                <a:schemeClr val="tx1"/>
              </a:solidFill>
              <a:latin typeface="Times New Roman" panose="02020603050405020304" pitchFamily="18" charset="0"/>
              <a:cs typeface="Times New Roman" panose="02020603050405020304" pitchFamily="18" charset="0"/>
            </a:endParaRPr>
          </a:p>
          <a:p>
            <a:pPr marL="0" indent="0">
              <a:buNone/>
            </a:pPr>
            <a:r>
              <a:rPr lang="en-US" sz="2000" dirty="0" smtClean="0">
                <a:solidFill>
                  <a:schemeClr val="tx1"/>
                </a:solidFill>
                <a:latin typeface="Times New Roman" panose="02020603050405020304" pitchFamily="18" charset="0"/>
                <a:cs typeface="Times New Roman" panose="02020603050405020304" pitchFamily="18" charset="0"/>
              </a:rPr>
              <a:t>For </a:t>
            </a:r>
            <a:r>
              <a:rPr lang="en-US" sz="2000" dirty="0">
                <a:solidFill>
                  <a:schemeClr val="tx1"/>
                </a:solidFill>
                <a:latin typeface="Times New Roman" panose="02020603050405020304" pitchFamily="18" charset="0"/>
                <a:cs typeface="Times New Roman" panose="02020603050405020304" pitchFamily="18" charset="0"/>
              </a:rPr>
              <a:t>example</a:t>
            </a:r>
            <a:r>
              <a:rPr lang="en-US" sz="2000" dirty="0" smtClean="0">
                <a:solidFill>
                  <a:schemeClr val="tx1"/>
                </a:solidFill>
                <a:latin typeface="Times New Roman" panose="02020603050405020304" pitchFamily="18" charset="0"/>
                <a:cs typeface="Times New Roman" panose="02020603050405020304" pitchFamily="18" charset="0"/>
              </a:rPr>
              <a:t>:</a:t>
            </a:r>
          </a:p>
          <a:p>
            <a:pPr marL="0" indent="0">
              <a:buNone/>
            </a:pPr>
            <a:r>
              <a:rPr lang="en-IN" sz="2000" dirty="0">
                <a:solidFill>
                  <a:schemeClr val="tx1"/>
                </a:solidFill>
                <a:latin typeface="Times New Roman" panose="02020603050405020304" pitchFamily="18" charset="0"/>
                <a:cs typeface="Times New Roman" panose="02020603050405020304" pitchFamily="18" charset="0"/>
              </a:rPr>
              <a:t>def map(list: List[Int], function: Int =&gt; Int): List[Int] = {</a:t>
            </a:r>
          </a:p>
          <a:p>
            <a:pPr marL="0" indent="0">
              <a:buNone/>
            </a:pPr>
            <a:r>
              <a:rPr lang="en-IN" sz="2000" dirty="0">
                <a:solidFill>
                  <a:schemeClr val="tx1"/>
                </a:solidFill>
                <a:latin typeface="Times New Roman" panose="02020603050405020304" pitchFamily="18" charset="0"/>
                <a:cs typeface="Times New Roman" panose="02020603050405020304" pitchFamily="18" charset="0"/>
              </a:rPr>
              <a:t>  list.map(function)</a:t>
            </a:r>
          </a:p>
          <a:p>
            <a:pPr marL="0" indent="0">
              <a:buNone/>
            </a:pPr>
            <a:r>
              <a:rPr lang="en-IN" sz="2000" dirty="0">
                <a:solidFill>
                  <a:schemeClr val="tx1"/>
                </a:solidFill>
                <a:latin typeface="Times New Roman" panose="02020603050405020304" pitchFamily="18" charset="0"/>
                <a:cs typeface="Times New Roman" panose="02020603050405020304" pitchFamily="18" charset="0"/>
              </a:rPr>
              <a:t>}</a:t>
            </a:r>
          </a:p>
          <a:p>
            <a:pPr marL="0" indent="0">
              <a:buNone/>
            </a:pPr>
            <a:r>
              <a:rPr lang="en-US" sz="2000" dirty="0">
                <a:solidFill>
                  <a:schemeClr val="tx1"/>
                </a:solidFill>
                <a:latin typeface="Times New Roman" panose="02020603050405020304" pitchFamily="18" charset="0"/>
                <a:cs typeface="Times New Roman" panose="02020603050405020304" pitchFamily="18" charset="0"/>
              </a:rPr>
              <a:t>This function takes a list of integers and a function that takes an integer as an argument and returns an integer as an argument, and it returns a new list of integers where each element of the new list is the result of applying the function to the corresponding element of the original list</a:t>
            </a:r>
            <a:r>
              <a:rPr lang="en-US" sz="2000" dirty="0" smtClean="0">
                <a:solidFill>
                  <a:schemeClr val="tx1"/>
                </a:solidFill>
                <a:latin typeface="Times New Roman" panose="02020603050405020304" pitchFamily="18" charset="0"/>
                <a:cs typeface="Times New Roman" panose="02020603050405020304" pitchFamily="18" charset="0"/>
              </a:rPr>
              <a:t>.</a:t>
            </a:r>
          </a:p>
          <a:p>
            <a:pPr marL="0" lvl="0" indent="0">
              <a:buNone/>
            </a:pPr>
            <a:r>
              <a:rPr lang="en-US" sz="2000" dirty="0" smtClean="0">
                <a:solidFill>
                  <a:schemeClr val="tx1"/>
                </a:solidFill>
                <a:latin typeface="Times New Roman" panose="02020603050405020304" pitchFamily="18" charset="0"/>
                <a:cs typeface="Times New Roman" panose="02020603050405020304" pitchFamily="18" charset="0"/>
              </a:rPr>
              <a:t>3. </a:t>
            </a:r>
            <a:r>
              <a:rPr lang="en-US" sz="2000" dirty="0">
                <a:solidFill>
                  <a:schemeClr val="tx1"/>
                </a:solidFill>
                <a:latin typeface="Times New Roman" panose="02020603050405020304" pitchFamily="18" charset="0"/>
                <a:cs typeface="Times New Roman" panose="02020603050405020304" pitchFamily="18" charset="0"/>
              </a:rPr>
              <a:t>You can also define anonymous functions in Scala. Anonymous functions are functions that do not have a name. </a:t>
            </a:r>
            <a:endParaRPr lang="en-US" sz="2000" dirty="0" smtClean="0">
              <a:solidFill>
                <a:schemeClr val="tx1"/>
              </a:solidFill>
              <a:latin typeface="Times New Roman" panose="02020603050405020304" pitchFamily="18" charset="0"/>
              <a:cs typeface="Times New Roman" panose="02020603050405020304" pitchFamily="18" charset="0"/>
            </a:endParaRPr>
          </a:p>
          <a:p>
            <a:pPr lvl="0">
              <a:buFont typeface="Wingdings" panose="05000000000000000000" pitchFamily="2" charset="2"/>
              <a:buChar char="ü"/>
            </a:pPr>
            <a:r>
              <a:rPr lang="en-US" sz="2000" dirty="0" smtClean="0">
                <a:solidFill>
                  <a:schemeClr val="tx1"/>
                </a:solidFill>
                <a:latin typeface="Times New Roman" panose="02020603050405020304" pitchFamily="18" charset="0"/>
                <a:cs typeface="Times New Roman" panose="02020603050405020304" pitchFamily="18" charset="0"/>
              </a:rPr>
              <a:t>They </a:t>
            </a:r>
            <a:r>
              <a:rPr lang="en-US" sz="2000" dirty="0">
                <a:solidFill>
                  <a:schemeClr val="tx1"/>
                </a:solidFill>
                <a:latin typeface="Times New Roman" panose="02020603050405020304" pitchFamily="18" charset="0"/>
                <a:cs typeface="Times New Roman" panose="02020603050405020304" pitchFamily="18" charset="0"/>
              </a:rPr>
              <a:t>are defined using the =&gt; operator. </a:t>
            </a:r>
            <a:endParaRPr lang="en-US" sz="2000" dirty="0" smtClean="0">
              <a:solidFill>
                <a:schemeClr val="tx1"/>
              </a:solidFill>
              <a:latin typeface="Times New Roman" panose="02020603050405020304" pitchFamily="18" charset="0"/>
              <a:cs typeface="Times New Roman" panose="02020603050405020304" pitchFamily="18" charset="0"/>
            </a:endParaRPr>
          </a:p>
          <a:p>
            <a:pPr marL="0" lvl="0" indent="0">
              <a:buNone/>
            </a:pPr>
            <a:r>
              <a:rPr lang="en-US" sz="2000" dirty="0" smtClean="0">
                <a:solidFill>
                  <a:schemeClr val="tx1"/>
                </a:solidFill>
                <a:latin typeface="Times New Roman" panose="02020603050405020304" pitchFamily="18" charset="0"/>
                <a:cs typeface="Times New Roman" panose="02020603050405020304" pitchFamily="18" charset="0"/>
              </a:rPr>
              <a:t>For </a:t>
            </a:r>
            <a:r>
              <a:rPr lang="en-US" sz="2000" dirty="0">
                <a:solidFill>
                  <a:schemeClr val="tx1"/>
                </a:solidFill>
                <a:latin typeface="Times New Roman" panose="02020603050405020304" pitchFamily="18" charset="0"/>
                <a:cs typeface="Times New Roman" panose="02020603050405020304" pitchFamily="18" charset="0"/>
              </a:rPr>
              <a:t>example </a:t>
            </a:r>
          </a:p>
          <a:p>
            <a:pPr marL="0" indent="0">
              <a:buNone/>
            </a:pPr>
            <a:r>
              <a:rPr lang="en-US" sz="2000" dirty="0">
                <a:solidFill>
                  <a:schemeClr val="tx1"/>
                </a:solidFill>
                <a:latin typeface="Times New Roman" panose="02020603050405020304" pitchFamily="18" charset="0"/>
                <a:cs typeface="Times New Roman" panose="02020603050405020304" pitchFamily="18" charset="0"/>
              </a:rPr>
              <a:t>val myFunction = (a: Int, b: Int) =&gt; a + b</a:t>
            </a:r>
          </a:p>
          <a:p>
            <a:pPr marL="0" indent="0">
              <a:buNone/>
            </a:pPr>
            <a:endParaRPr lang="en-IN"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165477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b="1" dirty="0" smtClean="0">
                <a:solidFill>
                  <a:srgbClr val="002060"/>
                </a:solidFill>
                <a:latin typeface="Times New Roman" panose="02020603050405020304" pitchFamily="18" charset="0"/>
                <a:cs typeface="Times New Roman" panose="02020603050405020304" pitchFamily="18" charset="0"/>
              </a:rPr>
              <a:t>Additional Tips For Working With Functions In Scala:</a:t>
            </a:r>
            <a:br>
              <a:rPr lang="en-US" b="1" dirty="0" smtClean="0">
                <a:solidFill>
                  <a:srgbClr val="002060"/>
                </a:solidFill>
                <a:latin typeface="Times New Roman" panose="02020603050405020304" pitchFamily="18" charset="0"/>
                <a:cs typeface="Times New Roman" panose="02020603050405020304" pitchFamily="18" charset="0"/>
              </a:rPr>
            </a:br>
            <a:endParaRPr lang="en-IN" b="1" dirty="0">
              <a:solidFill>
                <a:srgbClr val="00206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9598" y="2160590"/>
            <a:ext cx="6629401" cy="4316410"/>
          </a:xfrm>
        </p:spPr>
        <p:txBody>
          <a:bodyPr>
            <a:normAutofit/>
          </a:bodyPr>
          <a:lstStyle/>
          <a:p>
            <a:r>
              <a:rPr lang="en-US" sz="2000" b="1" dirty="0" smtClean="0">
                <a:solidFill>
                  <a:schemeClr val="tx1"/>
                </a:solidFill>
                <a:latin typeface="Times New Roman" panose="02020603050405020304" pitchFamily="18" charset="0"/>
                <a:cs typeface="Times New Roman" panose="02020603050405020304" pitchFamily="18" charset="0"/>
              </a:rPr>
              <a:t>Scala Functions Are First-class Values </a:t>
            </a:r>
            <a:r>
              <a:rPr lang="en-US" sz="2000" dirty="0" smtClean="0">
                <a:solidFill>
                  <a:schemeClr val="tx1"/>
                </a:solidFill>
                <a:latin typeface="Times New Roman" panose="02020603050405020304" pitchFamily="18" charset="0"/>
                <a:cs typeface="Times New Roman" panose="02020603050405020304" pitchFamily="18" charset="0"/>
              </a:rPr>
              <a:t>- This </a:t>
            </a:r>
            <a:r>
              <a:rPr lang="en-US" sz="2000" dirty="0">
                <a:solidFill>
                  <a:schemeClr val="tx1"/>
                </a:solidFill>
                <a:latin typeface="Times New Roman" panose="02020603050405020304" pitchFamily="18" charset="0"/>
                <a:cs typeface="Times New Roman" panose="02020603050405020304" pitchFamily="18" charset="0"/>
              </a:rPr>
              <a:t>means that they can be assigned to variables, passed as arguments to other functions, and returned from other functions.</a:t>
            </a:r>
          </a:p>
          <a:p>
            <a:r>
              <a:rPr lang="en-US" sz="2000" b="1" dirty="0" smtClean="0">
                <a:solidFill>
                  <a:schemeClr val="tx1"/>
                </a:solidFill>
                <a:latin typeface="Times New Roman" panose="02020603050405020304" pitchFamily="18" charset="0"/>
                <a:cs typeface="Times New Roman" panose="02020603050405020304" pitchFamily="18" charset="0"/>
              </a:rPr>
              <a:t>Scala Functions Can Be Curried </a:t>
            </a:r>
            <a:r>
              <a:rPr lang="en-US" sz="2000" dirty="0" smtClean="0">
                <a:solidFill>
                  <a:schemeClr val="tx1"/>
                </a:solidFill>
                <a:latin typeface="Times New Roman" panose="02020603050405020304" pitchFamily="18" charset="0"/>
                <a:cs typeface="Times New Roman" panose="02020603050405020304" pitchFamily="18" charset="0"/>
              </a:rPr>
              <a:t>- This </a:t>
            </a:r>
            <a:r>
              <a:rPr lang="en-US" sz="2000" dirty="0">
                <a:solidFill>
                  <a:schemeClr val="tx1"/>
                </a:solidFill>
                <a:latin typeface="Times New Roman" panose="02020603050405020304" pitchFamily="18" charset="0"/>
                <a:cs typeface="Times New Roman" panose="02020603050405020304" pitchFamily="18" charset="0"/>
              </a:rPr>
              <a:t>means that a function with multiple parameters can be applied to its parameters one at a time.</a:t>
            </a:r>
          </a:p>
          <a:p>
            <a:r>
              <a:rPr lang="en-US" sz="2000" b="1" dirty="0" smtClean="0">
                <a:solidFill>
                  <a:schemeClr val="tx1"/>
                </a:solidFill>
                <a:latin typeface="Times New Roman" panose="02020603050405020304" pitchFamily="18" charset="0"/>
                <a:cs typeface="Times New Roman" panose="02020603050405020304" pitchFamily="18" charset="0"/>
              </a:rPr>
              <a:t>Scala Functions Can Be Partially Applied </a:t>
            </a:r>
            <a:r>
              <a:rPr lang="en-US" sz="2000" dirty="0" smtClean="0">
                <a:solidFill>
                  <a:schemeClr val="tx1"/>
                </a:solidFill>
                <a:latin typeface="Times New Roman" panose="02020603050405020304" pitchFamily="18" charset="0"/>
                <a:cs typeface="Times New Roman" panose="02020603050405020304" pitchFamily="18" charset="0"/>
              </a:rPr>
              <a:t>- This </a:t>
            </a:r>
            <a:r>
              <a:rPr lang="en-US" sz="2000" dirty="0">
                <a:solidFill>
                  <a:schemeClr val="tx1"/>
                </a:solidFill>
                <a:latin typeface="Times New Roman" panose="02020603050405020304" pitchFamily="18" charset="0"/>
                <a:cs typeface="Times New Roman" panose="02020603050405020304" pitchFamily="18" charset="0"/>
              </a:rPr>
              <a:t>means that you can call a function with a subset of its parameters and then pass the remaining parameters later.</a:t>
            </a:r>
          </a:p>
          <a:p>
            <a:endParaRPr lang="en-IN"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38625456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5943601" cy="685800"/>
          </a:xfrm>
        </p:spPr>
        <p:txBody>
          <a:bodyPr>
            <a:normAutofit/>
          </a:bodyPr>
          <a:lstStyle/>
          <a:p>
            <a:r>
              <a:rPr lang="en-US" b="1" dirty="0" smtClean="0">
                <a:solidFill>
                  <a:srgbClr val="FF0000"/>
                </a:solidFill>
                <a:latin typeface="Times New Roman" panose="02020603050405020304" pitchFamily="18" charset="0"/>
                <a:cs typeface="Times New Roman" panose="02020603050405020304" pitchFamily="18" charset="0"/>
              </a:rPr>
              <a:t>Scala – Pattern Matching</a:t>
            </a:r>
            <a:endParaRPr lang="en-IN" b="1" dirty="0">
              <a:solidFill>
                <a:srgbClr val="FF0000"/>
              </a:solidFill>
              <a:latin typeface="Times New Roman" panose="02020603050405020304" pitchFamily="18" charset="0"/>
              <a:cs typeface="Times New Roman" panose="02020603050405020304" pitchFamily="18" charset="0"/>
            </a:endParaRPr>
          </a:p>
        </p:txBody>
      </p:sp>
      <p:sp>
        <p:nvSpPr>
          <p:cNvPr id="4" name="Rectangle 1"/>
          <p:cNvSpPr>
            <a:spLocks noGrp="1" noChangeArrowheads="1"/>
          </p:cNvSpPr>
          <p:nvPr>
            <p:ph idx="1"/>
          </p:nvPr>
        </p:nvSpPr>
        <p:spPr bwMode="auto">
          <a:xfrm>
            <a:off x="430654" y="1676400"/>
            <a:ext cx="6808346" cy="3785652"/>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sz="2000" b="0" i="0" u="none" strike="noStrike" cap="none" normalizeH="0" baseline="0" dirty="0" smtClean="0">
                <a:ln>
                  <a:noFill/>
                </a:ln>
                <a:solidFill>
                  <a:srgbClr val="1F1F1F"/>
                </a:solidFill>
                <a:effectLst/>
                <a:latin typeface="Times New Roman" panose="02020603050405020304" pitchFamily="18" charset="0"/>
                <a:cs typeface="Times New Roman" panose="02020603050405020304" pitchFamily="18" charset="0"/>
              </a:rPr>
              <a:t>Pattern matching is a powerful feature in Scala that allows you to deconstruct data and match it against different patterns. </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sz="2000" b="0" i="0" u="none" strike="noStrike" cap="none" normalizeH="0" baseline="0" dirty="0" smtClean="0">
                <a:ln>
                  <a:noFill/>
                </a:ln>
                <a:solidFill>
                  <a:srgbClr val="1F1F1F"/>
                </a:solidFill>
                <a:effectLst/>
                <a:latin typeface="Times New Roman" panose="02020603050405020304" pitchFamily="18" charset="0"/>
                <a:cs typeface="Times New Roman" panose="02020603050405020304" pitchFamily="18" charset="0"/>
              </a:rPr>
              <a:t>It is similar to the switch statement in Java and C, but it is much more powerful and flexible.</a:t>
            </a:r>
            <a:endPar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sz="2000" b="0" i="0" u="none" strike="noStrike" cap="none" normalizeH="0" baseline="0" dirty="0" smtClean="0">
                <a:ln>
                  <a:noFill/>
                </a:ln>
                <a:solidFill>
                  <a:srgbClr val="1F1F1F"/>
                </a:solidFill>
                <a:effectLst/>
                <a:latin typeface="Times New Roman" panose="02020603050405020304" pitchFamily="18" charset="0"/>
                <a:cs typeface="Times New Roman" panose="02020603050405020304" pitchFamily="18" charset="0"/>
              </a:rPr>
              <a:t>To use pattern matching, you use the match expression. </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sz="2000" b="0" i="0" u="none" strike="noStrike" cap="none" normalizeH="0" baseline="0" dirty="0" smtClean="0">
                <a:ln>
                  <a:noFill/>
                </a:ln>
                <a:solidFill>
                  <a:srgbClr val="1F1F1F"/>
                </a:solidFill>
                <a:effectLst/>
                <a:latin typeface="Times New Roman" panose="02020603050405020304" pitchFamily="18" charset="0"/>
                <a:cs typeface="Times New Roman" panose="02020603050405020304" pitchFamily="18" charset="0"/>
              </a:rPr>
              <a:t>The match expression takes an expression as an argument and then compares it against a series of patterns. </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sz="2000" b="0" i="0" u="none" strike="noStrike" cap="none" normalizeH="0" baseline="0" dirty="0" smtClean="0">
                <a:ln>
                  <a:noFill/>
                </a:ln>
                <a:solidFill>
                  <a:srgbClr val="1F1F1F"/>
                </a:solidFill>
                <a:effectLst/>
                <a:latin typeface="Times New Roman" panose="02020603050405020304" pitchFamily="18" charset="0"/>
                <a:cs typeface="Times New Roman" panose="02020603050405020304" pitchFamily="18" charset="0"/>
              </a:rPr>
              <a:t>If the expression matches one of the patterns, then the code associated with that pattern is executed.</a:t>
            </a:r>
            <a:endPar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r>
            <a:b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br>
            <a:endPar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35680536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457200"/>
            <a:ext cx="7391400" cy="5334000"/>
          </a:xfrm>
        </p:spPr>
        <p:txBody>
          <a:bodyPr>
            <a:normAutofit/>
          </a:bodyPr>
          <a:lstStyle/>
          <a:p>
            <a:pPr marL="0" indent="0">
              <a:buNone/>
            </a:pPr>
            <a:r>
              <a:rPr lang="en-US" sz="2000" b="1" dirty="0" smtClean="0">
                <a:solidFill>
                  <a:srgbClr val="002060"/>
                </a:solidFill>
                <a:latin typeface="Times New Roman" panose="02020603050405020304" pitchFamily="18" charset="0"/>
                <a:cs typeface="Times New Roman" panose="02020603050405020304" pitchFamily="18" charset="0"/>
              </a:rPr>
              <a:t>Example 1</a:t>
            </a:r>
            <a:r>
              <a:rPr lang="en-US" sz="2000" dirty="0" smtClean="0">
                <a:latin typeface="Times New Roman" panose="02020603050405020304" pitchFamily="18" charset="0"/>
                <a:cs typeface="Times New Roman" panose="02020603050405020304" pitchFamily="18" charset="0"/>
              </a:rPr>
              <a:t>:-</a:t>
            </a:r>
          </a:p>
          <a:p>
            <a:pPr marL="0" indent="0">
              <a:buNone/>
            </a:pPr>
            <a:r>
              <a:rPr lang="en-US" sz="2000" dirty="0">
                <a:latin typeface="Times New Roman" panose="02020603050405020304" pitchFamily="18" charset="0"/>
                <a:cs typeface="Times New Roman" panose="02020603050405020304" pitchFamily="18" charset="0"/>
              </a:rPr>
              <a:t>val dayOfWeek = "Monday</a:t>
            </a:r>
            <a:r>
              <a:rPr lang="en-US" sz="2000" dirty="0" smtClean="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dayOfWeek match {</a:t>
            </a:r>
          </a:p>
          <a:p>
            <a:pPr marL="0" indent="0">
              <a:buNone/>
            </a:pPr>
            <a:r>
              <a:rPr lang="en-US" sz="2000" dirty="0">
                <a:latin typeface="Times New Roman" panose="02020603050405020304" pitchFamily="18" charset="0"/>
                <a:cs typeface="Times New Roman" panose="02020603050405020304" pitchFamily="18" charset="0"/>
              </a:rPr>
              <a:t>  case "Monday" =&gt; println("Happy Monday!")</a:t>
            </a:r>
          </a:p>
          <a:p>
            <a:pPr marL="0" indent="0">
              <a:buNone/>
            </a:pPr>
            <a:r>
              <a:rPr lang="en-US" sz="2000" dirty="0">
                <a:latin typeface="Times New Roman" panose="02020603050405020304" pitchFamily="18" charset="0"/>
                <a:cs typeface="Times New Roman" panose="02020603050405020304" pitchFamily="18" charset="0"/>
              </a:rPr>
              <a:t>  case "Tuesday" =&gt; println("Have a great Tuesday!")</a:t>
            </a:r>
          </a:p>
          <a:p>
            <a:pPr marL="0" indent="0">
              <a:buNone/>
            </a:pPr>
            <a:r>
              <a:rPr lang="en-US" sz="2000" dirty="0">
                <a:latin typeface="Times New Roman" panose="02020603050405020304" pitchFamily="18" charset="0"/>
                <a:cs typeface="Times New Roman" panose="02020603050405020304" pitchFamily="18" charset="0"/>
              </a:rPr>
              <a:t>  case "Wednesday" =&gt; println("Happy Hump Day!")</a:t>
            </a:r>
          </a:p>
          <a:p>
            <a:pPr marL="0" indent="0">
              <a:buNone/>
            </a:pPr>
            <a:r>
              <a:rPr lang="en-US" sz="2000" dirty="0">
                <a:latin typeface="Times New Roman" panose="02020603050405020304" pitchFamily="18" charset="0"/>
                <a:cs typeface="Times New Roman" panose="02020603050405020304" pitchFamily="18" charset="0"/>
              </a:rPr>
              <a:t>  case "Thursday" =&gt; println("Almost there!")</a:t>
            </a:r>
          </a:p>
          <a:p>
            <a:pPr marL="0" indent="0">
              <a:buNone/>
            </a:pPr>
            <a:r>
              <a:rPr lang="en-US" sz="2000" dirty="0">
                <a:latin typeface="Times New Roman" panose="02020603050405020304" pitchFamily="18" charset="0"/>
                <a:cs typeface="Times New Roman" panose="02020603050405020304" pitchFamily="18" charset="0"/>
              </a:rPr>
              <a:t>  case "Friday" =&gt; println("TGIF!")</a:t>
            </a:r>
          </a:p>
          <a:p>
            <a:pPr marL="0" indent="0">
              <a:buNone/>
            </a:pPr>
            <a:r>
              <a:rPr lang="en-US" sz="2000" dirty="0">
                <a:latin typeface="Times New Roman" panose="02020603050405020304" pitchFamily="18" charset="0"/>
                <a:cs typeface="Times New Roman" panose="02020603050405020304" pitchFamily="18" charset="0"/>
              </a:rPr>
              <a:t>  case _ =&gt; println("Have a great weekend!")</a:t>
            </a:r>
          </a:p>
          <a:p>
            <a:pPr marL="0" indent="0">
              <a:buNone/>
            </a:pPr>
            <a:r>
              <a:rPr lang="en-US" sz="2000" dirty="0" smtClean="0">
                <a:latin typeface="Times New Roman" panose="02020603050405020304" pitchFamily="18" charset="0"/>
                <a:cs typeface="Times New Roman" panose="02020603050405020304" pitchFamily="18" charset="0"/>
              </a:rPr>
              <a:t>}</a:t>
            </a: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This code will print the message "Happy Monday!" to the console.</a:t>
            </a:r>
          </a:p>
          <a:p>
            <a:pPr marL="0" indent="0">
              <a:buNone/>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32226007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609600"/>
            <a:ext cx="6347714" cy="3880773"/>
          </a:xfrm>
        </p:spPr>
        <p:txBody>
          <a:bodyPr>
            <a:noAutofit/>
          </a:bodyPr>
          <a:lstStyle/>
          <a:p>
            <a:pPr marL="0" indent="0">
              <a:buNone/>
            </a:pPr>
            <a:r>
              <a:rPr lang="en-US" sz="2000" b="1" dirty="0" smtClean="0">
                <a:solidFill>
                  <a:srgbClr val="002060"/>
                </a:solidFill>
                <a:latin typeface="Times New Roman" panose="02020603050405020304" pitchFamily="18" charset="0"/>
                <a:cs typeface="Times New Roman" panose="02020603050405020304" pitchFamily="18" charset="0"/>
              </a:rPr>
              <a:t>Example 2</a:t>
            </a:r>
            <a:r>
              <a:rPr lang="en-US" sz="2000" dirty="0" smtClean="0">
                <a:latin typeface="Times New Roman" panose="02020603050405020304" pitchFamily="18" charset="0"/>
                <a:cs typeface="Times New Roman" panose="02020603050405020304" pitchFamily="18" charset="0"/>
              </a:rPr>
              <a:t>:-</a:t>
            </a:r>
          </a:p>
          <a:p>
            <a:pPr marL="0" indent="0">
              <a:buNone/>
            </a:pPr>
            <a:r>
              <a:rPr lang="en-US" sz="2000" dirty="0">
                <a:latin typeface="Times New Roman" panose="02020603050405020304" pitchFamily="18" charset="0"/>
                <a:cs typeface="Times New Roman" panose="02020603050405020304" pitchFamily="18" charset="0"/>
              </a:rPr>
              <a:t>val myList = List(1, 2, 3, 4, 5)</a:t>
            </a: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myList match {</a:t>
            </a:r>
          </a:p>
          <a:p>
            <a:pPr marL="0" indent="0">
              <a:buNone/>
            </a:pPr>
            <a:r>
              <a:rPr lang="en-US" sz="2000" dirty="0">
                <a:latin typeface="Times New Roman" panose="02020603050405020304" pitchFamily="18" charset="0"/>
                <a:cs typeface="Times New Roman" panose="02020603050405020304" pitchFamily="18" charset="0"/>
              </a:rPr>
              <a:t>  case Nil =&gt; println("The list is empty.")</a:t>
            </a:r>
          </a:p>
          <a:p>
            <a:pPr marL="0" indent="0">
              <a:buNone/>
            </a:pPr>
            <a:r>
              <a:rPr lang="en-US" sz="2000" dirty="0">
                <a:latin typeface="Times New Roman" panose="02020603050405020304" pitchFamily="18" charset="0"/>
                <a:cs typeface="Times New Roman" panose="02020603050405020304" pitchFamily="18" charset="0"/>
              </a:rPr>
              <a:t>  case head :: tail =&gt; println("The first element of the list is " + head)</a:t>
            </a:r>
          </a:p>
          <a:p>
            <a:pPr marL="0" indent="0">
              <a:buNone/>
            </a:pPr>
            <a:r>
              <a:rPr lang="en-US" sz="2000" dirty="0" smtClean="0">
                <a:latin typeface="Times New Roman" panose="02020603050405020304" pitchFamily="18" charset="0"/>
                <a:cs typeface="Times New Roman" panose="02020603050405020304" pitchFamily="18" charset="0"/>
              </a:rPr>
              <a:t>}</a:t>
            </a: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This code will print the message "The first element of the list is 1" to the console</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3394119417"/>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xmlns=""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178</TotalTime>
  <Words>1725</Words>
  <Application>Microsoft Office PowerPoint</Application>
  <PresentationFormat>On-screen Show (4:3)</PresentationFormat>
  <Paragraphs>237</Paragraphs>
  <Slides>22</Slides>
  <Notes>0</Notes>
  <HiddenSlides>0</HiddenSlides>
  <MMClips>0</MMClip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Facet</vt:lpstr>
      <vt:lpstr>Unit - V</vt:lpstr>
      <vt:lpstr>Scala</vt:lpstr>
      <vt:lpstr>Slide 3</vt:lpstr>
      <vt:lpstr>Slide 4</vt:lpstr>
      <vt:lpstr>Important Thing for Any Programming Language</vt:lpstr>
      <vt:lpstr>Scala – Environment Setup</vt:lpstr>
      <vt:lpstr>Slide 7</vt:lpstr>
      <vt:lpstr>Slide 8</vt:lpstr>
      <vt:lpstr>Slide 9</vt:lpstr>
      <vt:lpstr>Slide 10</vt:lpstr>
      <vt:lpstr>Scala – Basic Syntax</vt:lpstr>
      <vt:lpstr>Slide 12</vt:lpstr>
      <vt:lpstr>Slide 13</vt:lpstr>
      <vt:lpstr>Scala – Data Types</vt:lpstr>
      <vt:lpstr>Slide 15</vt:lpstr>
      <vt:lpstr>Slide 16</vt:lpstr>
      <vt:lpstr>Scala - Functions</vt:lpstr>
      <vt:lpstr>Slide 18</vt:lpstr>
      <vt:lpstr>Additional Tips For Working With Functions In Scala: </vt:lpstr>
      <vt:lpstr>Scala – Pattern Matching</vt:lpstr>
      <vt:lpstr>Slide 21</vt:lpstr>
      <vt:lpstr>Slide 22</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Yes</dc:creator>
  <cp:lastModifiedBy>Windows User</cp:lastModifiedBy>
  <cp:revision>41</cp:revision>
  <dcterms:created xsi:type="dcterms:W3CDTF">2006-08-16T00:00:00Z</dcterms:created>
  <dcterms:modified xsi:type="dcterms:W3CDTF">2023-11-13T12:42:40Z</dcterms:modified>
</cp:coreProperties>
</file>