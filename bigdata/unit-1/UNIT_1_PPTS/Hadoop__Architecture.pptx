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59" r:id="rId14"/>
    <p:sldId id="279" r:id="rId15"/>
    <p:sldId id="280" r:id="rId16"/>
    <p:sldId id="260" r:id="rId17"/>
    <p:sldId id="264" r:id="rId18"/>
    <p:sldId id="261" r:id="rId19"/>
    <p:sldId id="262" r:id="rId20"/>
    <p:sldId id="263" r:id="rId21"/>
    <p:sldId id="265" r:id="rId22"/>
    <p:sldId id="267" r:id="rId23"/>
    <p:sldId id="266" r:id="rId24"/>
    <p:sldId id="269" r:id="rId25"/>
    <p:sldId id="26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1BA685F-5652-4076-9303-28758F33260A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E3AAC29-22C6-4996-AB85-1822BADAACD7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Hadoop Architecture &amp; Hadoop Clustering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733800"/>
            <a:ext cx="7854696" cy="1752600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Unit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42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Architecture &amp; Components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38912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Storage -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HDFS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Hadoop Distributed File System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Resource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Management -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YARN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Yet Another Resource Negotiation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Processing the Data -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Map-Reduce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Collection &amp; ingestion –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Sqoop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Flume</a:t>
            </a:r>
          </a:p>
          <a:p>
            <a:pPr>
              <a:buNone/>
            </a:pPr>
            <a:endParaRPr lang="en-US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Queries –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(Scripting) &amp;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(SQL Queries)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Processing real time streaming data -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Spark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92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Architecture &amp; Components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Learning 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pplications -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Mahout </a:t>
            </a:r>
            <a:endParaRPr lang="en-US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Management &amp; Monitoring –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Ambari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Streaming –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Kafka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(builds)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Storm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(Process at a very high speed)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Security –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Range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Knox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Work Flow System –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Oozie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work flow scheduler to manage Hadoop jobs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029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HDFS – Hadoop Distributed File System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1" t="39437" r="30432" b="22043"/>
          <a:stretch/>
        </p:blipFill>
        <p:spPr>
          <a:xfrm>
            <a:off x="321517" y="2819400"/>
            <a:ext cx="8687185" cy="3124200"/>
          </a:xfrm>
        </p:spPr>
      </p:pic>
    </p:spTree>
    <p:extLst>
      <p:ext uri="{BB962C8B-B14F-4D97-AF65-F5344CB8AC3E}">
        <p14:creationId xmlns:p14="http://schemas.microsoft.com/office/powerpoint/2010/main" val="201815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Map Reduce – Processing the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Content Placeholder 7" descr="map_reduce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13286"/>
            <a:ext cx="8050480" cy="3554114"/>
          </a:xfrm>
        </p:spPr>
      </p:pic>
    </p:spTree>
    <p:extLst>
      <p:ext uri="{BB962C8B-B14F-4D97-AF65-F5344CB8AC3E}">
        <p14:creationId xmlns:p14="http://schemas.microsoft.com/office/powerpoint/2010/main" val="3432381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Sqoop - Data Collection – Structured Data 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Sqoop is used to share the data between Hadoop and Relational databases, data ware-houses.</a:t>
            </a:r>
          </a:p>
          <a:p>
            <a:endParaRPr lang="en-US" dirty="0"/>
          </a:p>
        </p:txBody>
      </p:sp>
      <p:pic>
        <p:nvPicPr>
          <p:cNvPr id="4" name="Picture 3" descr="sq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048000"/>
            <a:ext cx="5673059" cy="1819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Flume – Data Collection- Un-Structured Data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Flume is a Distributed service for collecting, aggregating and moving large amounts of log data.</a:t>
            </a:r>
          </a:p>
          <a:p>
            <a:r>
              <a:rPr lang="en-US" dirty="0" smtClean="0"/>
              <a:t>It will ingest online streaming data from social media, log files &amp; web server in-to HDFS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f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657600"/>
            <a:ext cx="4486902" cy="25244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Queries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Pig –  used to analyze the data in Hadoop.</a:t>
            </a:r>
          </a:p>
          <a:p>
            <a:pPr lvl="3"/>
            <a:r>
              <a:rPr lang="en-US" dirty="0" smtClean="0"/>
              <a:t>Provides a platform for building data flow for ETL ( Extract, Transform &amp; Load) – Data Transformation</a:t>
            </a:r>
          </a:p>
          <a:p>
            <a:pPr lvl="3">
              <a:buNone/>
            </a:pPr>
            <a:endParaRPr lang="en-US" dirty="0" smtClean="0"/>
          </a:p>
          <a:p>
            <a:r>
              <a:rPr lang="en-US" dirty="0" smtClean="0"/>
              <a:t>Hive – Reading, Writing &amp; managing large datasets which are in a distributed storage using SQL – Query structured data.</a:t>
            </a:r>
          </a:p>
          <a:p>
            <a:pPr lvl="3"/>
            <a:r>
              <a:rPr lang="en-US" dirty="0" smtClean="0"/>
              <a:t>Provides user defined functions for data mining, document indexing, log processing,.. etc</a:t>
            </a:r>
          </a:p>
          <a:p>
            <a:pPr lvl="3"/>
            <a:endParaRPr lang="en-US" dirty="0" smtClean="0"/>
          </a:p>
          <a:p>
            <a:pPr lvl="3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Apache Spark – Processing – Scala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source distributed computing engine.</a:t>
            </a:r>
          </a:p>
          <a:p>
            <a:r>
              <a:rPr lang="en-US" dirty="0" smtClean="0"/>
              <a:t>Mainly used for Processing and Analyzing huge volumes of real time data like stock market and banking data.</a:t>
            </a:r>
          </a:p>
          <a:p>
            <a:r>
              <a:rPr lang="en-US" dirty="0" smtClean="0"/>
              <a:t>Works 100x faster than Map Reduce.</a:t>
            </a:r>
          </a:p>
          <a:p>
            <a:r>
              <a:rPr lang="en-US" dirty="0" smtClean="0"/>
              <a:t>Provides In-Memory computation of data.</a:t>
            </a:r>
          </a:p>
          <a:p>
            <a:r>
              <a:rPr lang="en-US" dirty="0" smtClean="0"/>
              <a:t>It can also work individually outside of Hadoop eco-system with it’s own YARN.</a:t>
            </a:r>
          </a:p>
          <a:p>
            <a:r>
              <a:rPr lang="en-US" dirty="0" smtClean="0"/>
              <a:t>By using Py-spark it can also access Python Libraries.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Mahout – Machine Learning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to produce free implementations scalable machine learning algorithms focused primarily on linear algebra.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mah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505200"/>
            <a:ext cx="4997217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Management &amp; Monitoring- Apache Ambari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responsible for keep track of running applications and their statuses.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Just like a Body-Guard.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It provides a central management service to start, stop and configure Hadoop services.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Streaming – Kafka – Scala &amp; Java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Kafka</a:t>
            </a:r>
            <a:r>
              <a:rPr lang="en-US" dirty="0" smtClean="0"/>
              <a:t> – 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Builds real-time streaming data-pipelines that reliably get data between applications.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 smtClean="0"/>
              <a:t>Kafka uses messaging system for transferring data from one application to Another application</a:t>
            </a:r>
          </a:p>
          <a:p>
            <a:pPr lvl="2"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Builds real-time streaming applications  &amp; these applications may transform the data in-to streams.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Architecture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4" t="21946" r="4123" b="9466"/>
          <a:stretch/>
        </p:blipFill>
        <p:spPr>
          <a:xfrm>
            <a:off x="304800" y="2133600"/>
            <a:ext cx="8326107" cy="3505200"/>
          </a:xfrm>
        </p:spPr>
      </p:pic>
    </p:spTree>
    <p:extLst>
      <p:ext uri="{BB962C8B-B14F-4D97-AF65-F5344CB8AC3E}">
        <p14:creationId xmlns:p14="http://schemas.microsoft.com/office/powerpoint/2010/main" val="343111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Streaming – Strom -  Clojure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Storm –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It is a processing engine that process real-time streaming data at a very high speed.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Cluster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Group of inter-connected computers, servers (nodes), or  any other computing devices that work together as a single unit to perform various tasks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		- Playing Cricket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700" y="3276600"/>
            <a:ext cx="3871684" cy="31150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Clustering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Setting and configuring a cluster of computers – Computer Lab</a:t>
            </a:r>
            <a:r>
              <a:rPr lang="en-US" dirty="0" smtClean="0"/>
              <a:t>. 		</a:t>
            </a:r>
            <a:r>
              <a:rPr lang="en-US" smtClean="0"/>
              <a:t>	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2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Configuring involves several steps to set-up environment correctly for distributed data processing.</a:t>
            </a:r>
          </a:p>
          <a:p>
            <a:pPr lvl="2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Hardware requirement – memory, storage, processing power for each node</a:t>
            </a: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Network set-up – Nodes can communicate</a:t>
            </a: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Operating System – Linux, Windows, Mac</a:t>
            </a: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 Java Installation –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adoop built using java </a:t>
            </a: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5. Hadoop Installation – env. variables like  HADOOP_NAME &amp; PATH</a:t>
            </a:r>
          </a:p>
        </p:txBody>
      </p:sp>
    </p:spTree>
    <p:extLst>
      <p:ext uri="{BB962C8B-B14F-4D97-AF65-F5344CB8AC3E}">
        <p14:creationId xmlns:p14="http://schemas.microsoft.com/office/powerpoint/2010/main" val="164477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Clustering - Configuring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6. Configuration files – For any software application we need these files to store settings, preferences &amp; parameters XML, YAML, JSON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7. SSH Set-Up – </a:t>
            </a:r>
          </a:p>
          <a:p>
            <a:pPr marL="1399032" lvl="3" indent="-45720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Secure Shell or Secure Socket Shell –	</a:t>
            </a:r>
          </a:p>
          <a:p>
            <a:pPr marL="1399032" lvl="3" indent="-45720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it is a Protocol (rules) that enables 2 computers to communicate.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8. HDFS, YARN, Map-Reduce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9. Testing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10. Security Set-up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11. Monitoring and Optimization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Scalable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Cost Effective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Flexible – can process any data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Fast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Resilient to failure – have back-up option</a:t>
            </a:r>
          </a:p>
        </p:txBody>
      </p:sp>
    </p:spTree>
    <p:extLst>
      <p:ext uri="{BB962C8B-B14F-4D97-AF65-F5344CB8AC3E}">
        <p14:creationId xmlns:p14="http://schemas.microsoft.com/office/powerpoint/2010/main" val="283922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56972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Hadoop Cluster Architecture</a:t>
            </a:r>
          </a:p>
          <a:p>
            <a:pPr lvl="3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HDFS</a:t>
            </a:r>
          </a:p>
          <a:p>
            <a:pPr lvl="3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YARN</a:t>
            </a:r>
          </a:p>
          <a:p>
            <a:pPr lvl="3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34290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HDFS – Hadoop Distributed File System</a:t>
            </a:r>
          </a:p>
          <a:p>
            <a:pPr marL="285750" indent="-28575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Name Node – Master Node – Contains Meta Data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Secondary Name Node – Buffer to Name Node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Node – Slave Node – Store Data </a:t>
            </a:r>
          </a:p>
          <a:p>
            <a:pPr lvl="2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591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 - HDFC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229600" cy="4389120"/>
          </a:xfrm>
        </p:spPr>
        <p:txBody>
          <a:bodyPr>
            <a:noAutofit/>
          </a:bodyPr>
          <a:lstStyle/>
          <a:p>
            <a:pPr marL="342900" indent="-3429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 Name Node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Contains meta-data of name node.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Responsible for managing health node.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always receives heart-beat at a particular interval of time.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heart-beat fails, name node will assign to other data node.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also receives status update of the task assigned.</a:t>
            </a:r>
          </a:p>
          <a:p>
            <a:pPr marL="800100" lvl="1" indent="-34290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2. Data Node –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Responsible for storing the data.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slaves of Name Node.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3. Secondary Name Node –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Supports to primary name node.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Acts as a buffer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96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 - YARN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722120"/>
          </a:xfrm>
        </p:spPr>
        <p:txBody>
          <a:bodyPr/>
          <a:lstStyle/>
          <a:p>
            <a:r>
              <a:rPr lang="en-US" dirty="0" smtClean="0"/>
              <a:t>YARN – Yet Another Resource Negotiator</a:t>
            </a:r>
          </a:p>
          <a:p>
            <a:pPr lvl="2"/>
            <a:r>
              <a:rPr lang="en-US" dirty="0" smtClean="0"/>
              <a:t>Node Manager</a:t>
            </a:r>
          </a:p>
          <a:p>
            <a:pPr lvl="2"/>
            <a:r>
              <a:rPr lang="en-US" dirty="0" smtClean="0"/>
              <a:t>App Master</a:t>
            </a:r>
          </a:p>
          <a:p>
            <a:pPr lvl="2"/>
            <a:r>
              <a:rPr lang="en-US" dirty="0" smtClean="0"/>
              <a:t>Container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2" b="2650"/>
          <a:stretch/>
        </p:blipFill>
        <p:spPr>
          <a:xfrm>
            <a:off x="1828800" y="3594339"/>
            <a:ext cx="4927121" cy="281940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 - YARN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B0F0"/>
                </a:solidFill>
              </a:rPr>
              <a:t>Resource Manager</a:t>
            </a:r>
          </a:p>
          <a:p>
            <a:pPr lvl="2"/>
            <a:r>
              <a:rPr lang="en-US" dirty="0"/>
              <a:t>It manages and allocates cluster resources. </a:t>
            </a:r>
            <a:endParaRPr lang="en-US" dirty="0" smtClean="0"/>
          </a:p>
          <a:p>
            <a:pPr lvl="2"/>
            <a:r>
              <a:rPr lang="en-US" dirty="0" smtClean="0"/>
              <a:t>It </a:t>
            </a:r>
            <a:r>
              <a:rPr lang="en-US" dirty="0"/>
              <a:t>keeps track of available resources and schedules tasks on different </a:t>
            </a:r>
            <a:r>
              <a:rPr lang="en-US" dirty="0" smtClean="0"/>
              <a:t>nodes</a:t>
            </a:r>
          </a:p>
          <a:p>
            <a:pPr marL="667512" lvl="2" indent="0">
              <a:buNone/>
            </a:pPr>
            <a:endParaRPr lang="en-US" dirty="0"/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Scheduler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en-US" dirty="0" smtClean="0"/>
              <a:t>Totally </a:t>
            </a:r>
            <a:r>
              <a:rPr lang="en-US" dirty="0"/>
              <a:t>dedicated to </a:t>
            </a:r>
            <a:r>
              <a:rPr lang="en-US" dirty="0" smtClean="0"/>
              <a:t>allocating resources to different applications.</a:t>
            </a:r>
          </a:p>
          <a:p>
            <a:pPr marL="667512" lvl="2" indent="0">
              <a:buNone/>
            </a:pPr>
            <a:endParaRPr lang="en-US" dirty="0" smtClean="0"/>
          </a:p>
          <a:p>
            <a:pPr lvl="2"/>
            <a:r>
              <a:rPr lang="en-US" b="1" dirty="0" smtClean="0">
                <a:solidFill>
                  <a:srgbClr val="0070C0"/>
                </a:solidFill>
              </a:rPr>
              <a:t>Application Master</a:t>
            </a:r>
            <a:r>
              <a:rPr lang="en-US" dirty="0" smtClean="0">
                <a:solidFill>
                  <a:srgbClr val="0070C0"/>
                </a:solidFill>
              </a:rPr>
              <a:t>  - </a:t>
            </a:r>
            <a:r>
              <a:rPr lang="en-US" dirty="0" smtClean="0"/>
              <a:t>Manages </a:t>
            </a:r>
            <a:r>
              <a:rPr lang="en-US" dirty="0"/>
              <a:t>the lifecycle of individual applications, negotiating resources for them and ensuring they run successfully</a:t>
            </a:r>
          </a:p>
        </p:txBody>
      </p:sp>
    </p:spTree>
    <p:extLst>
      <p:ext uri="{BB962C8B-B14F-4D97-AF65-F5344CB8AC3E}">
        <p14:creationId xmlns:p14="http://schemas.microsoft.com/office/powerpoint/2010/main" val="4029182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 - YARN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382000" cy="4389120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Node Manager</a:t>
            </a:r>
          </a:p>
          <a:p>
            <a:pPr marL="982980" lvl="2" indent="-342900"/>
            <a:r>
              <a:rPr lang="en-US" sz="2000" dirty="0"/>
              <a:t>Each node in the cluster runs a </a:t>
            </a:r>
            <a:r>
              <a:rPr lang="en-US" sz="2000" dirty="0" smtClean="0"/>
              <a:t>Node Manager</a:t>
            </a:r>
            <a:r>
              <a:rPr lang="en-US" sz="2000" dirty="0"/>
              <a:t>, which is responsible for monitoring resource usage on that node, managing containers, and reporting back to the </a:t>
            </a:r>
            <a:r>
              <a:rPr lang="en-US" sz="2000" dirty="0" smtClean="0"/>
              <a:t>Resource Manager.</a:t>
            </a:r>
          </a:p>
          <a:p>
            <a:pPr marL="982980" lvl="2" indent="-342900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App master</a:t>
            </a:r>
          </a:p>
          <a:p>
            <a:pPr marL="982980" lvl="2" indent="-34290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Negotiates the resources between Resource Manager and Node Manager.</a:t>
            </a:r>
          </a:p>
          <a:p>
            <a:pPr marL="640080" lvl="2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Container</a:t>
            </a:r>
          </a:p>
          <a:p>
            <a:pPr marL="982980" lvl="2" indent="-34290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Collection of reserved amount of resources allocated by the Resource Manager and to work with the allocated task by node manager.</a:t>
            </a:r>
          </a:p>
          <a:p>
            <a:pPr marL="514350" indent="-514350"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040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Hadoop Cluster Architecture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81200"/>
            <a:ext cx="5892342" cy="4389437"/>
          </a:xfrm>
        </p:spPr>
      </p:pic>
      <p:sp>
        <p:nvSpPr>
          <p:cNvPr id="3" name="TextBox 2"/>
          <p:cNvSpPr txBox="1"/>
          <p:nvPr/>
        </p:nvSpPr>
        <p:spPr>
          <a:xfrm>
            <a:off x="6400800" y="2590800"/>
            <a:ext cx="228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Each Rack contain Data Nodes and only 1 rack contain  Name Node.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They communicate each other with help of switch.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931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196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 Awareness Algorithm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90009"/>
            <a:ext cx="8229600" cy="3079744"/>
          </a:xfrm>
        </p:spPr>
      </p:pic>
    </p:spTree>
    <p:extLst>
      <p:ext uri="{BB962C8B-B14F-4D97-AF65-F5344CB8AC3E}">
        <p14:creationId xmlns:p14="http://schemas.microsoft.com/office/powerpoint/2010/main" val="1349405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508</TotalTime>
  <Words>814</Words>
  <Application>Microsoft Office PowerPoint</Application>
  <PresentationFormat>On-screen Show (4:3)</PresentationFormat>
  <Paragraphs>150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Flow</vt:lpstr>
      <vt:lpstr>Hadoop Architecture &amp; Hadoop Clustering</vt:lpstr>
      <vt:lpstr>Hadoop Architecture &amp; Components</vt:lpstr>
      <vt:lpstr>Hadoop Architecture &amp; Components</vt:lpstr>
      <vt:lpstr>HDFS – Hadoop Distributed File System</vt:lpstr>
      <vt:lpstr>Map Reduce – Processing the data</vt:lpstr>
      <vt:lpstr>Sqoop - Data Collection – Structured Data </vt:lpstr>
      <vt:lpstr>Flume – Data Collection- Un-Structured Data</vt:lpstr>
      <vt:lpstr>Queries</vt:lpstr>
      <vt:lpstr>Apache Spark – Processing – Scala</vt:lpstr>
      <vt:lpstr>Mahout – Machine Learning </vt:lpstr>
      <vt:lpstr>Management &amp; Monitoring- Apache Ambari</vt:lpstr>
      <vt:lpstr>Streaming – Kafka – Scala &amp; Java </vt:lpstr>
      <vt:lpstr>Hadoop Architecture</vt:lpstr>
      <vt:lpstr>Streaming – Strom -  Clojure</vt:lpstr>
      <vt:lpstr>Cluster</vt:lpstr>
      <vt:lpstr>Hadoop Clustering</vt:lpstr>
      <vt:lpstr>Hadoop Clustering - Configuring</vt:lpstr>
      <vt:lpstr>Advantages </vt:lpstr>
      <vt:lpstr>Hadoop Cluster Architecture</vt:lpstr>
      <vt:lpstr>Hadoop Cluster Architecture - HDFC</vt:lpstr>
      <vt:lpstr>Hadoop Cluster Architecture - YARN</vt:lpstr>
      <vt:lpstr>Hadoop Cluster Architecture - YARN</vt:lpstr>
      <vt:lpstr>Hadoop Cluster Architecture - YARN</vt:lpstr>
      <vt:lpstr>Hadoop Cluster Architecture</vt:lpstr>
      <vt:lpstr>Rack Awareness Algorithm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 Architecture</dc:title>
  <dc:creator>MRUH</dc:creator>
  <cp:lastModifiedBy>MRUH</cp:lastModifiedBy>
  <cp:revision>73</cp:revision>
  <dcterms:created xsi:type="dcterms:W3CDTF">2023-08-22T06:49:04Z</dcterms:created>
  <dcterms:modified xsi:type="dcterms:W3CDTF">2023-08-31T04:28:57Z</dcterms:modified>
</cp:coreProperties>
</file>