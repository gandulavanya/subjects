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slides/slide4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Default Extension="jpeg" ContentType="image/jpeg"/>
  <Override PartName="/ppt/slideLayouts/slideLayout3.xml" ContentType="application/vnd.openxmlformats-officedocument.presentationml.slideLayout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4"/>
  </p:notesMasterIdLst>
  <p:sldIdLst>
    <p:sldId id="256" r:id="rId2"/>
    <p:sldId id="257" r:id="rId3"/>
    <p:sldId id="270" r:id="rId4"/>
    <p:sldId id="260" r:id="rId5"/>
    <p:sldId id="258" r:id="rId6"/>
    <p:sldId id="261" r:id="rId7"/>
    <p:sldId id="262" r:id="rId8"/>
    <p:sldId id="263" r:id="rId9"/>
    <p:sldId id="264" r:id="rId10"/>
    <p:sldId id="273" r:id="rId11"/>
    <p:sldId id="274" r:id="rId12"/>
    <p:sldId id="275" r:id="rId13"/>
    <p:sldId id="280" r:id="rId14"/>
    <p:sldId id="276" r:id="rId15"/>
    <p:sldId id="277" r:id="rId16"/>
    <p:sldId id="278" r:id="rId17"/>
    <p:sldId id="279" r:id="rId18"/>
    <p:sldId id="281" r:id="rId19"/>
    <p:sldId id="282" r:id="rId20"/>
    <p:sldId id="283" r:id="rId21"/>
    <p:sldId id="284" r:id="rId22"/>
    <p:sldId id="285" r:id="rId23"/>
    <p:sldId id="286" r:id="rId24"/>
    <p:sldId id="287" r:id="rId25"/>
    <p:sldId id="288" r:id="rId26"/>
    <p:sldId id="289" r:id="rId27"/>
    <p:sldId id="290" r:id="rId28"/>
    <p:sldId id="291" r:id="rId29"/>
    <p:sldId id="292" r:id="rId30"/>
    <p:sldId id="294" r:id="rId31"/>
    <p:sldId id="293" r:id="rId32"/>
    <p:sldId id="295" r:id="rId33"/>
    <p:sldId id="296" r:id="rId34"/>
    <p:sldId id="297" r:id="rId35"/>
    <p:sldId id="298" r:id="rId36"/>
    <p:sldId id="299" r:id="rId37"/>
    <p:sldId id="300" r:id="rId38"/>
    <p:sldId id="301" r:id="rId39"/>
    <p:sldId id="302" r:id="rId40"/>
    <p:sldId id="303" r:id="rId41"/>
    <p:sldId id="304" r:id="rId42"/>
    <p:sldId id="305" r:id="rId4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588" autoAdjust="0"/>
    <p:restoredTop sz="94624" autoAdjust="0"/>
  </p:normalViewPr>
  <p:slideViewPr>
    <p:cSldViewPr>
      <p:cViewPr>
        <p:scale>
          <a:sx n="80" d="100"/>
          <a:sy n="80" d="100"/>
        </p:scale>
        <p:origin x="-1086" y="15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12A9A4-997F-4F9C-8BD3-76150CD38B61}" type="datetimeFigureOut">
              <a:rPr lang="en-US" smtClean="0"/>
              <a:pPr/>
              <a:t>9/4/2023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371849-CE50-4492-8335-8FF75E722F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4986931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5C76D-A775-457A-A4C3-681A74910540}" type="datetimeFigureOut">
              <a:rPr lang="en-US" smtClean="0"/>
              <a:pPr/>
              <a:t>9/4/2023</a:t>
            </a:fld>
            <a:endParaRPr lang="en-US" dirty="0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A5E4E-F09E-47DD-9B98-F0210C78420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5C76D-A775-457A-A4C3-681A74910540}" type="datetimeFigureOut">
              <a:rPr lang="en-US" smtClean="0"/>
              <a:pPr/>
              <a:t>9/4/2023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A5E4E-F09E-47DD-9B98-F0210C78420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5C76D-A775-457A-A4C3-681A74910540}" type="datetimeFigureOut">
              <a:rPr lang="en-US" smtClean="0"/>
              <a:pPr/>
              <a:t>9/4/2023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A5E4E-F09E-47DD-9B98-F0210C78420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5C76D-A775-457A-A4C3-681A74910540}" type="datetimeFigureOut">
              <a:rPr lang="en-US" smtClean="0"/>
              <a:pPr/>
              <a:t>9/4/2023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A5E4E-F09E-47DD-9B98-F0210C78420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5C76D-A775-457A-A4C3-681A74910540}" type="datetimeFigureOut">
              <a:rPr lang="en-US" smtClean="0"/>
              <a:pPr/>
              <a:t>9/4/2023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A5E4E-F09E-47DD-9B98-F0210C78420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5C76D-A775-457A-A4C3-681A74910540}" type="datetimeFigureOut">
              <a:rPr lang="en-US" smtClean="0"/>
              <a:pPr/>
              <a:t>9/4/2023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A5E4E-F09E-47DD-9B98-F0210C78420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5C76D-A775-457A-A4C3-681A74910540}" type="datetimeFigureOut">
              <a:rPr lang="en-US" smtClean="0"/>
              <a:pPr/>
              <a:t>9/4/2023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A5E4E-F09E-47DD-9B98-F0210C78420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5C76D-A775-457A-A4C3-681A74910540}" type="datetimeFigureOut">
              <a:rPr lang="en-US" smtClean="0"/>
              <a:pPr/>
              <a:t>9/4/2023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A5E4E-F09E-47DD-9B98-F0210C78420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5C76D-A775-457A-A4C3-681A74910540}" type="datetimeFigureOut">
              <a:rPr lang="en-US" smtClean="0"/>
              <a:pPr/>
              <a:t>9/4/2023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D37A5E4E-F09E-47DD-9B98-F0210C78420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dirty="0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5C76D-A775-457A-A4C3-681A74910540}" type="datetimeFigureOut">
              <a:rPr lang="en-US" smtClean="0"/>
              <a:pPr/>
              <a:t>9/4/2023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A5E4E-F09E-47DD-9B98-F0210C78420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5C76D-A775-457A-A4C3-681A74910540}" type="datetimeFigureOut">
              <a:rPr lang="en-US" smtClean="0"/>
              <a:pPr/>
              <a:t>9/4/2023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A5E4E-F09E-47DD-9B98-F0210C78420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BB15C76D-A775-457A-A4C3-681A74910540}" type="datetimeFigureOut">
              <a:rPr lang="en-US" smtClean="0"/>
              <a:pPr/>
              <a:t>9/4/2023</a:t>
            </a:fld>
            <a:endParaRPr lang="en-US" dirty="0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D37A5E4E-F09E-47DD-9B98-F0210C784208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 dirty="0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 dirty="0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Big Data Analytics And Applications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pPr algn="ctr"/>
            <a:endParaRPr lang="en-US" b="1" dirty="0" smtClean="0"/>
          </a:p>
          <a:p>
            <a:pPr algn="ctr"/>
            <a:endParaRPr lang="en-US" b="1" dirty="0"/>
          </a:p>
          <a:p>
            <a:pPr algn="ctr"/>
            <a:r>
              <a:rPr lang="en-US" b="1" dirty="0" smtClean="0"/>
              <a:t>Unit -  </a:t>
            </a:r>
            <a:r>
              <a:rPr lang="en-US" b="1" dirty="0" smtClean="0"/>
              <a:t>1</a:t>
            </a:r>
          </a:p>
          <a:p>
            <a:pPr algn="ctr"/>
            <a:r>
              <a:rPr lang="en-US" b="1" dirty="0" smtClean="0"/>
              <a:t>Part -1</a:t>
            </a:r>
            <a:endParaRPr 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0"/>
            <a:ext cx="8305800" cy="762000"/>
          </a:xfrm>
        </p:spPr>
        <p:txBody>
          <a:bodyPr>
            <a:noAutofit/>
          </a:bodyPr>
          <a:lstStyle/>
          <a:p>
            <a:r>
              <a:rPr lang="en-US" sz="3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What is Big Data ?</a:t>
            </a:r>
            <a:endParaRPr lang="en-US" sz="34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28600" y="1676400"/>
            <a:ext cx="8534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Collection of data in huge volumes, growing exponentially with time.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Picture 4" descr="b_2.jpg"/>
          <p:cNvPicPr>
            <a:picLocks noChangeAspect="1"/>
          </p:cNvPicPr>
          <p:nvPr/>
        </p:nvPicPr>
        <p:blipFill>
          <a:blip r:embed="rId2"/>
          <a:srcRect r="2998" b="13538"/>
          <a:stretch>
            <a:fillRect/>
          </a:stretch>
        </p:blipFill>
        <p:spPr>
          <a:xfrm>
            <a:off x="1295400" y="2286000"/>
            <a:ext cx="5486400" cy="413175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Need of Big Data</a:t>
            </a:r>
            <a:endParaRPr lang="en-US" sz="36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We cannot effectively process or manage the data using traditional data processing tools.</a:t>
            </a: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To get insights, patterns &amp; trends for huge data, previously it is not possible.</a:t>
            </a: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Industries like healthcare, finance and research also rely on big data to improve operational efficiency.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4781666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305800" cy="1143000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Range of data</a:t>
            </a:r>
            <a:endParaRPr lang="en-US" sz="36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62000" y="1676400"/>
            <a:ext cx="7119257" cy="50167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itchFamily="2" charset="2"/>
              <a:buChar char="Ø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Small – </a:t>
            </a:r>
          </a:p>
          <a:p>
            <a:pPr marL="1257300" lvl="2" indent="-342900">
              <a:buFont typeface="Arial" pitchFamily="34" charset="0"/>
              <a:buChar char="•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Individual Person data </a:t>
            </a:r>
          </a:p>
          <a:p>
            <a:pPr marL="342900" indent="-342900">
              <a:buFont typeface="Wingdings" pitchFamily="2" charset="2"/>
              <a:buChar char="Ø"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Font typeface="Wingdings" pitchFamily="2" charset="2"/>
              <a:buChar char="Ø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Medium – </a:t>
            </a:r>
          </a:p>
          <a:p>
            <a:pPr marL="1257300" lvl="2" indent="-342900"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Local Supply Chain</a:t>
            </a:r>
          </a:p>
          <a:p>
            <a:pPr marL="342900" indent="-342900">
              <a:buFont typeface="Wingdings" pitchFamily="2" charset="2"/>
              <a:buChar char="Ø"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Font typeface="Wingdings" pitchFamily="2" charset="2"/>
              <a:buChar char="Ø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Big – </a:t>
            </a:r>
          </a:p>
          <a:p>
            <a:pPr marL="1257300" lvl="2" indent="-342900"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National Level Retail Store – D-Mart, Reliance Mart </a:t>
            </a:r>
          </a:p>
          <a:p>
            <a:pPr marL="342900" indent="-342900">
              <a:buFont typeface="Wingdings" pitchFamily="2" charset="2"/>
              <a:buChar char="Ø"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Font typeface="Wingdings" pitchFamily="2" charset="2"/>
              <a:buChar char="Ø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Vast – </a:t>
            </a:r>
          </a:p>
          <a:p>
            <a:pPr marL="1257300" lvl="2" indent="-342900"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International Retail Store – Walmart</a:t>
            </a:r>
          </a:p>
          <a:p>
            <a:pPr marL="1257300" lvl="2" indent="-342900"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Social Media – Facebook, Twitter, YouTube, Instagram</a:t>
            </a:r>
          </a:p>
          <a:p>
            <a:pPr>
              <a:buFont typeface="Arial" pitchFamily="34" charset="0"/>
              <a:buChar char="•"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b="1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All decisions taken today are data driven decisions only.</a:t>
            </a:r>
          </a:p>
          <a:p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pitchFamily="34" charset="0"/>
              <a:buChar char="•"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04800"/>
            <a:ext cx="8305800" cy="1143000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Data Unit Conversions</a:t>
            </a:r>
            <a:endParaRPr lang="en-US" sz="36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2971800"/>
            <a:ext cx="30212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Low Quality image size = 2KB</a:t>
            </a:r>
          </a:p>
          <a:p>
            <a:r>
              <a:rPr lang="en-US" dirty="0" smtClean="0"/>
              <a:t>High Quality image size = 2MB</a:t>
            </a:r>
            <a:endParaRPr lang="en-US" dirty="0"/>
          </a:p>
        </p:txBody>
      </p:sp>
      <p:pic>
        <p:nvPicPr>
          <p:cNvPr id="5" name="Picture 4" descr="b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6200" y="1752600"/>
            <a:ext cx="4538663" cy="481796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Big Data Every Minute</a:t>
            </a:r>
            <a:endParaRPr lang="en-US" sz="36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2200" y="1752600"/>
            <a:ext cx="4133715" cy="4715562"/>
          </a:xfrm>
        </p:spPr>
      </p:pic>
    </p:spTree>
    <p:extLst>
      <p:ext uri="{BB962C8B-B14F-4D97-AF65-F5344CB8AC3E}">
        <p14:creationId xmlns="" xmlns:p14="http://schemas.microsoft.com/office/powerpoint/2010/main" val="17537620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Big Data Storage (Facebook)</a:t>
            </a:r>
            <a:endParaRPr lang="en-US" sz="36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1905000"/>
            <a:ext cx="5854715" cy="4389437"/>
          </a:xfrm>
        </p:spPr>
      </p:pic>
      <p:sp>
        <p:nvSpPr>
          <p:cNvPr id="5" name="TextBox 4"/>
          <p:cNvSpPr txBox="1"/>
          <p:nvPr/>
        </p:nvSpPr>
        <p:spPr>
          <a:xfrm>
            <a:off x="6553200" y="2209800"/>
            <a:ext cx="2562176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dirty="0" smtClean="0"/>
              <a:t>18 Data Centers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 smtClean="0"/>
              <a:t>40 Million Sq. Feet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 smtClean="0"/>
              <a:t>$ 20 Billion </a:t>
            </a:r>
          </a:p>
          <a:p>
            <a:endParaRPr lang="en-US" dirty="0" smtClean="0"/>
          </a:p>
          <a:p>
            <a:pPr marL="285750" indent="-285750">
              <a:buFont typeface="Arial" pitchFamily="34" charset="0"/>
              <a:buChar char="•"/>
            </a:pPr>
            <a:r>
              <a:rPr lang="en-US" dirty="0" smtClean="0"/>
              <a:t>4 Petabytes / day </a:t>
            </a:r>
          </a:p>
          <a:p>
            <a:r>
              <a:rPr lang="en-US" dirty="0" smtClean="0"/>
              <a:t>(10 lakh GB)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 smtClean="0"/>
              <a:t>50 crore high quality </a:t>
            </a:r>
          </a:p>
          <a:p>
            <a:r>
              <a:rPr lang="en-US" dirty="0" smtClean="0"/>
              <a:t>images /day</a:t>
            </a:r>
          </a:p>
          <a:p>
            <a:pPr marL="285750" indent="-285750">
              <a:buFont typeface="Arial" pitchFamily="34" charset="0"/>
              <a:buChar char="•"/>
            </a:pPr>
            <a:endParaRPr lang="en-US" dirty="0"/>
          </a:p>
          <a:p>
            <a:pPr marL="285750" indent="-285750">
              <a:buFont typeface="Arial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679275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305800" cy="1143000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Types of Data</a:t>
            </a:r>
            <a:endParaRPr lang="en-US" sz="36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09600" y="2362200"/>
            <a:ext cx="5838586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dirty="0" smtClean="0"/>
              <a:t>Structured Data 	-  CVS Files, Excel Files</a:t>
            </a:r>
          </a:p>
          <a:p>
            <a:pPr marL="285750" indent="-285750">
              <a:buFont typeface="Arial" pitchFamily="34" charset="0"/>
              <a:buChar char="•"/>
            </a:pPr>
            <a:endParaRPr lang="en-US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dirty="0" smtClean="0"/>
              <a:t>Un-Structured Data 	–  Text, Images, Audio, Video</a:t>
            </a:r>
          </a:p>
          <a:p>
            <a:pPr marL="285750" indent="-285750">
              <a:buFont typeface="Arial" pitchFamily="34" charset="0"/>
              <a:buChar char="•"/>
            </a:pPr>
            <a:endParaRPr lang="en-US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dirty="0" smtClean="0"/>
              <a:t>Semi-Structured Data	- xml, Json files, server logs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4038600"/>
            <a:ext cx="3733800" cy="201495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6800" y="3839528"/>
            <a:ext cx="2120484" cy="2906731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8712749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305800" cy="1143000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Characteristics of Big Data </a:t>
            </a:r>
            <a:endParaRPr lang="en-US" sz="36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1981200"/>
            <a:ext cx="81534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Volume	- How much volume of data is getting generated</a:t>
            </a:r>
          </a:p>
          <a:p>
            <a:pPr marL="285750" indent="-285750">
              <a:buFont typeface="Arial" pitchFamily="34" charset="0"/>
              <a:buChar char="•"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Variety	- How many different varieties of data (Structured, 			   Un-Structured &amp; Semi- Structured Example: Emails, photos, 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   PDF, images, Audio,     Video </a:t>
            </a:r>
          </a:p>
          <a:p>
            <a:pPr marL="285750" indent="-285750">
              <a:buFont typeface="Arial" pitchFamily="34" charset="0"/>
              <a:buChar char="•"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Velocity	- How fast the data is getting generated.</a:t>
            </a:r>
          </a:p>
          <a:p>
            <a:pPr marL="285750" indent="-285750">
              <a:buFont typeface="Arial" pitchFamily="34" charset="0"/>
              <a:buChar char="•"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Veracity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	- How much data is reliable (Quality &amp; consistent)</a:t>
            </a:r>
          </a:p>
          <a:p>
            <a:pPr marL="285750" indent="-285750">
              <a:buFont typeface="Arial" pitchFamily="34" charset="0"/>
              <a:buChar char="•"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Value	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- 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How much data is useful that we store, process &amp; 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		     analyze</a:t>
            </a:r>
          </a:p>
          <a:p>
            <a:pPr marL="285750" indent="-285750">
              <a:buFont typeface="Arial" pitchFamily="34" charset="0"/>
              <a:buChar char="•"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Variability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-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How fast  the data is changing.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buFont typeface="Arial" pitchFamily="34" charset="0"/>
              <a:buChar char="•"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298550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Big Data Framework - Hadoop</a:t>
            </a:r>
            <a:endParaRPr lang="en-US" sz="36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Wingdings" pitchFamily="2" charset="2"/>
              <a:buChar char="Ø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Apache Hadoop </a:t>
            </a:r>
          </a:p>
          <a:p>
            <a:pPr lvl="2"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HDFS – </a:t>
            </a:r>
          </a:p>
          <a:p>
            <a:pPr marL="1435608" lvl="3" indent="-457200">
              <a:buFont typeface="+mj-lt"/>
              <a:buAutoNum type="arabicPeriod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Hadoop Distributed File System</a:t>
            </a:r>
          </a:p>
          <a:p>
            <a:pPr marL="1435608" lvl="3" indent="-457200">
              <a:buFont typeface="+mj-lt"/>
              <a:buAutoNum type="arabicPeriod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It provides data across the cluster (computers that work together)</a:t>
            </a:r>
          </a:p>
          <a:p>
            <a:pPr lvl="3"/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lvl="2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Map Reduce-</a:t>
            </a:r>
          </a:p>
          <a:p>
            <a:pPr marL="1435608" lvl="3" indent="-457200">
              <a:buFont typeface="+mj-lt"/>
              <a:buAutoNum type="arabicPeriod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To process the data in parallel across the cluster.</a:t>
            </a:r>
          </a:p>
          <a:p>
            <a:pPr marL="1435608" lvl="3" indent="-457200">
              <a:buFont typeface="+mj-lt"/>
              <a:buAutoNum type="arabicPeriod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We can use Java, Python programming Languages and Framework like Apache Spark.</a:t>
            </a:r>
          </a:p>
          <a:p>
            <a:pPr lvl="3"/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lvl="2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YARN – Yet Another Resource Negotiator</a:t>
            </a:r>
          </a:p>
          <a:p>
            <a:pPr marL="1435608" lvl="3" indent="-457200">
              <a:buFont typeface="+mj-lt"/>
              <a:buAutoNum type="arabicPeriod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Resource Allocation for  various applications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Apache &amp; Apache Spark</a:t>
            </a:r>
            <a:endParaRPr lang="en-US" sz="36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ASF – Apache Software Foundation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It supports wide range of open source software projects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Hadoop is also a part of Apache Foundation only.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b="1" u="sng" dirty="0" smtClean="0">
                <a:latin typeface="Times New Roman" pitchFamily="18" charset="0"/>
                <a:cs typeface="Times New Roman" pitchFamily="18" charset="0"/>
              </a:rPr>
              <a:t>Apache Spark:-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Developed as an alternative to Map-Reduce used in Hadoop.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Both will be used for data processing only.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It can handle real-time processing &amp; offers better performance compared </a:t>
            </a:r>
            <a:r>
              <a:rPr lang="en-US" sz="2400" smtClean="0">
                <a:latin typeface="Times New Roman" pitchFamily="18" charset="0"/>
                <a:cs typeface="Times New Roman" pitchFamily="18" charset="0"/>
              </a:rPr>
              <a:t>to Map-Reduce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Also a part of Hadoop eco-system.</a:t>
            </a: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Hadoop Eco-System For Big Data</a:t>
            </a:r>
            <a:endParaRPr lang="en-US" sz="36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" name="Content Placeholder 5" descr="Capture22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43000" y="1898446"/>
            <a:ext cx="6477000" cy="4214933"/>
          </a:xfr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FF0000"/>
                </a:solidFill>
              </a:rPr>
              <a:t>Data Analytics</a:t>
            </a:r>
            <a:endParaRPr lang="en-US" sz="36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Process of analyzing raw data to get insights and find patterns about information by using various techniques and processes.</a:t>
            </a:r>
          </a:p>
          <a:p>
            <a:pPr marL="0" indent="0" algn="just">
              <a:buNone/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sz="2200" b="1" u="sng" dirty="0" smtClean="0">
                <a:latin typeface="Times New Roman" pitchFamily="18" charset="0"/>
                <a:cs typeface="Times New Roman" pitchFamily="18" charset="0"/>
              </a:rPr>
              <a:t>Types of Data Analytics:-</a:t>
            </a:r>
          </a:p>
          <a:p>
            <a:pPr marL="0" indent="0" algn="just">
              <a:buNone/>
            </a:pPr>
            <a:endParaRPr lang="en-US" sz="2200" b="1" u="sng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Descriptive – Just prepare dashboards &amp; track performance.</a:t>
            </a:r>
          </a:p>
          <a:p>
            <a:pPr algn="just">
              <a:buNone/>
            </a:pP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Predictive – Utilizing historical data &amp; predict the future trends</a:t>
            </a:r>
          </a:p>
          <a:p>
            <a:pPr algn="just">
              <a:buNone/>
            </a:pP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Prescriptive – suggest strategies &amp; outcomes like Dis-counts, Non-Seasonal items.</a:t>
            </a:r>
          </a:p>
          <a:p>
            <a:pPr marL="0" indent="0" algn="just">
              <a:buNone/>
            </a:pP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5329523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FF0000"/>
                </a:solidFill>
              </a:rPr>
              <a:t>Examples of Analytics</a:t>
            </a:r>
            <a:endParaRPr lang="en-US" sz="36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>
              <a:buFont typeface="Wingdings" pitchFamily="2" charset="2"/>
              <a:buChar char="Ø"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Retail and E-Commerce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>
              <a:buFont typeface="Wingdings" pitchFamily="2" charset="2"/>
              <a:buChar char="Ø"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Market Basket Analysis</a:t>
            </a:r>
          </a:p>
          <a:p>
            <a:pPr lvl="1">
              <a:buFont typeface="Wingdings" pitchFamily="2" charset="2"/>
              <a:buChar char="Ø"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Price Optimization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 lvl="0">
              <a:buFont typeface="Wingdings" pitchFamily="2" charset="2"/>
              <a:buChar char="Ø"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Healthcare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Predictive Analytics for Patient Outcomes</a:t>
            </a:r>
          </a:p>
          <a:p>
            <a:pPr lvl="1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Fraud Detection</a:t>
            </a:r>
          </a:p>
          <a:p>
            <a:pPr lvl="1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Drug Discovery</a:t>
            </a:r>
          </a:p>
          <a:p>
            <a:pPr lvl="0">
              <a:buFont typeface="Wingdings" pitchFamily="2" charset="2"/>
              <a:buChar char="Ø"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Finance and Banking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Credit Risk Assessment</a:t>
            </a:r>
          </a:p>
          <a:p>
            <a:pPr lvl="1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Algorithmic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Trading – Stock Market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Fraud Prevention</a:t>
            </a:r>
          </a:p>
          <a:p>
            <a:pPr lvl="0">
              <a:buFont typeface="Wingdings" pitchFamily="2" charset="2"/>
              <a:buChar char="Ø"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Manufacturing and Supply Chain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Demand Forecasting</a:t>
            </a:r>
          </a:p>
          <a:p>
            <a:pPr>
              <a:buFont typeface="Wingdings" pitchFamily="2" charset="2"/>
              <a:buChar char="§"/>
            </a:pP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§"/>
            </a:pPr>
            <a:endParaRPr lang="en-US" sz="18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4144214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FF0000"/>
                </a:solidFill>
              </a:rPr>
              <a:t>Examples of Analytics</a:t>
            </a:r>
            <a:endParaRPr lang="en-US" sz="36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>
              <a:buFont typeface="Wingdings" pitchFamily="2" charset="2"/>
              <a:buChar char="Ø"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Transportation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and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Logistics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>
              <a:buFont typeface="Wingdings" pitchFamily="2" charset="2"/>
              <a:buChar char="Ø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Route Optimization – OLA, UBER </a:t>
            </a:r>
          </a:p>
          <a:p>
            <a:pPr lvl="1">
              <a:buFont typeface="Wingdings" pitchFamily="2" charset="2"/>
              <a:buChar char="Ø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Vehicle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Telematics – Monitor Vehicle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Performance</a:t>
            </a:r>
          </a:p>
          <a:p>
            <a:pPr lvl="1">
              <a:buFont typeface="Wingdings" pitchFamily="2" charset="2"/>
              <a:buChar char="Ø"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lvl="0">
              <a:buFont typeface="Wingdings" pitchFamily="2" charset="2"/>
              <a:buChar char="Ø"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Government and Public Services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>
              <a:buFont typeface="Wingdings" pitchFamily="2" charset="2"/>
              <a:buChar char="Ø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Crime Analysis - Patterns</a:t>
            </a:r>
          </a:p>
          <a:p>
            <a:pPr lvl="1">
              <a:buFont typeface="Wingdings" pitchFamily="2" charset="2"/>
              <a:buChar char="Ø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Public Health Surveillance-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Diseases</a:t>
            </a:r>
          </a:p>
          <a:p>
            <a:pPr marL="393192" lvl="1" indent="0"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lvl="0">
              <a:buFont typeface="Wingdings" pitchFamily="2" charset="2"/>
              <a:buChar char="Ø"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Marketing and Advertising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Social Media Analytics – Sentiment Analysis</a:t>
            </a:r>
          </a:p>
          <a:p>
            <a:pPr lvl="1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Customer Churn Prediction – Customers Retain</a:t>
            </a:r>
          </a:p>
          <a:p>
            <a:pPr marL="393192" lvl="1" indent="0">
              <a:buNone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88527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Big </a:t>
            </a:r>
            <a:r>
              <a:rPr lang="en-US" sz="36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</a:t>
            </a:r>
            <a:r>
              <a:rPr lang="en-US" sz="3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ata Architecture -  Evolution</a:t>
            </a:r>
            <a:endParaRPr lang="en-US" sz="36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389120"/>
          </a:xfrm>
        </p:spPr>
        <p:txBody>
          <a:bodyPr>
            <a:normAutofit/>
          </a:bodyPr>
          <a:lstStyle/>
          <a:p>
            <a:pPr marL="2286000" lvl="8" indent="0"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	Traditional Databases</a:t>
            </a:r>
          </a:p>
          <a:p>
            <a:pPr marL="2286000" lvl="8" indent="0"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Struggled to handle variety of data generated)</a:t>
            </a:r>
          </a:p>
          <a:p>
            <a:pPr marL="2286000" lvl="8" indent="0">
              <a:buNone/>
            </a:pPr>
            <a:endParaRPr lang="en-US" sz="2000" b="1" dirty="0" smtClean="0">
              <a:latin typeface="Times New Roman" pitchFamily="18" charset="0"/>
              <a:cs typeface="Times New Roman" pitchFamily="18" charset="0"/>
            </a:endParaRPr>
          </a:p>
          <a:p>
            <a:pPr marL="2286000" lvl="8" indent="0"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	Data Warehouses</a:t>
            </a:r>
          </a:p>
          <a:p>
            <a:pPr marL="2286000" lvl="8" indent="0"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(S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tore data from various resources)</a:t>
            </a:r>
          </a:p>
          <a:p>
            <a:pPr marL="2286000" lvl="8" indent="0">
              <a:buNone/>
            </a:pP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  <a:p>
            <a:pPr marL="2286000" lvl="8" indent="0"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	Hadoop and Map Reduce</a:t>
            </a:r>
          </a:p>
          <a:p>
            <a:pPr marL="2286000" lvl="8" indent="0"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(Distributed Storage &amp; Parallel Processing)</a:t>
            </a:r>
          </a:p>
          <a:p>
            <a:pPr marL="2286000" lvl="8" indent="0">
              <a:buNone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2286000" lvl="8" indent="0"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No-SQL Databases</a:t>
            </a:r>
          </a:p>
          <a:p>
            <a:pPr marL="2286000" lvl="8" indent="0"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(for Un-Structured Data- Mongo DB, Cassandra)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4203405" y="2286000"/>
            <a:ext cx="0" cy="457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4203405" y="3491023"/>
            <a:ext cx="0" cy="457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4203405" y="4495800"/>
            <a:ext cx="0" cy="3810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696237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Big </a:t>
            </a:r>
            <a:r>
              <a:rPr lang="en-US" sz="36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</a:t>
            </a:r>
            <a:r>
              <a:rPr lang="en-US" sz="3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ata Architecture - Evolution</a:t>
            </a:r>
            <a:endParaRPr lang="en-US" sz="36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389120"/>
          </a:xfrm>
        </p:spPr>
        <p:txBody>
          <a:bodyPr>
            <a:normAutofit/>
          </a:bodyPr>
          <a:lstStyle/>
          <a:p>
            <a:pPr marL="2286000" lvl="8" indent="0"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	In-Memory Computing</a:t>
            </a:r>
          </a:p>
          <a:p>
            <a:pPr marL="2286000" lvl="8" indent="0"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Faster data processing – Apache Spark)</a:t>
            </a:r>
          </a:p>
          <a:p>
            <a:pPr marL="2286000" lvl="8" indent="0">
              <a:buNone/>
            </a:pPr>
            <a:endParaRPr lang="en-US" sz="2000" b="1" dirty="0" smtClean="0">
              <a:latin typeface="Times New Roman" pitchFamily="18" charset="0"/>
              <a:cs typeface="Times New Roman" pitchFamily="18" charset="0"/>
            </a:endParaRPr>
          </a:p>
          <a:p>
            <a:pPr marL="2286000" lvl="8" indent="0"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	Stream Processing)</a:t>
            </a:r>
          </a:p>
          <a:p>
            <a:pPr marL="2286000" lvl="8" indent="0"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Real time data processing – Apache Kafka)</a:t>
            </a:r>
          </a:p>
          <a:p>
            <a:pPr marL="2286000" lvl="8" indent="0">
              <a:buNone/>
            </a:pP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  <a:p>
            <a:pPr marL="2286000" lvl="8" indent="0"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	Serverless Computing and Cloud Services</a:t>
            </a:r>
          </a:p>
          <a:p>
            <a:pPr marL="2286000" lvl="8" indent="0"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(AWS, GCP, Azure – Scalable Infrastructure )</a:t>
            </a:r>
          </a:p>
          <a:p>
            <a:pPr marL="2286000" lvl="8" indent="0">
              <a:buNone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2286000" lvl="8" indent="0"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AI &amp; ML Integration</a:t>
            </a:r>
          </a:p>
          <a:p>
            <a:pPr marL="2286000" lvl="8" indent="0"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(Frameworks like Tensor flow and Py-Torch are incorporated)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4203405" y="2286000"/>
            <a:ext cx="0" cy="457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4203405" y="3491023"/>
            <a:ext cx="0" cy="457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4203405" y="4495800"/>
            <a:ext cx="0" cy="3810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32760765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Hadoop Architecture &amp; Hadoop Clustering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9600" y="3733800"/>
            <a:ext cx="7854696" cy="1752600"/>
          </a:xfrm>
        </p:spPr>
        <p:txBody>
          <a:bodyPr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Unit -1</a:t>
            </a:r>
          </a:p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Part -2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706422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Hadoop Architecture &amp; Components</a:t>
            </a:r>
            <a:endParaRPr lang="en-US" sz="36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389120"/>
          </a:xfrm>
        </p:spPr>
        <p:txBody>
          <a:bodyPr>
            <a:noAutofit/>
          </a:bodyPr>
          <a:lstStyle/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Data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Storage - </a:t>
            </a:r>
            <a:r>
              <a:rPr lang="en-US" sz="24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HDFS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– Hadoop Distributed File System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Resource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Management - </a:t>
            </a:r>
            <a:r>
              <a:rPr lang="en-US" sz="24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YARN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– Yet Another Resource Negotiation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Processing the Data - </a:t>
            </a:r>
            <a:r>
              <a:rPr lang="en-US" sz="24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Map-Reduce</a:t>
            </a:r>
          </a:p>
          <a:p>
            <a:pPr marL="0" indent="0"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Data Collection &amp; ingestion – </a:t>
            </a:r>
            <a:r>
              <a:rPr lang="en-US" sz="24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Sqoop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&amp; </a:t>
            </a:r>
            <a:r>
              <a:rPr lang="en-US" sz="24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Flume</a:t>
            </a:r>
          </a:p>
          <a:p>
            <a:pPr>
              <a:buNone/>
            </a:pPr>
            <a:endParaRPr lang="en-US" sz="2400" b="1" dirty="0" smtClean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Queries – </a:t>
            </a:r>
            <a:r>
              <a:rPr lang="en-US" sz="24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Pig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(Scripting) &amp; </a:t>
            </a:r>
            <a:r>
              <a:rPr lang="en-US" sz="24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Hive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(SQL Queries)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Processing real time streaming data - </a:t>
            </a:r>
            <a:r>
              <a:rPr lang="en-US" sz="24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Apache Spark</a:t>
            </a:r>
            <a:endParaRPr lang="en-US" sz="2400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8299295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Hadoop Architecture &amp; Components</a:t>
            </a:r>
            <a:endParaRPr lang="en-US" sz="36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Machine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Learning 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pplications - </a:t>
            </a:r>
            <a:r>
              <a:rPr lang="en-US" sz="24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Mahout </a:t>
            </a:r>
            <a:endParaRPr lang="en-US" sz="2400" b="1" dirty="0" smtClean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Management &amp; Monitoring – </a:t>
            </a:r>
            <a:r>
              <a:rPr lang="en-US" sz="24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Apache </a:t>
            </a:r>
            <a:r>
              <a:rPr lang="en-US" sz="24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Ambari</a:t>
            </a: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Streaming – </a:t>
            </a:r>
            <a:r>
              <a:rPr lang="en-US" sz="24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Kafka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(builds)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&amp; </a:t>
            </a:r>
            <a:r>
              <a:rPr lang="en-US" sz="24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Apache Storm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(Process at a very high speed)</a:t>
            </a: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Security – </a:t>
            </a:r>
            <a:r>
              <a:rPr lang="en-US" sz="24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Apache Range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&amp; </a:t>
            </a:r>
            <a:r>
              <a:rPr lang="en-US" sz="24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Apache </a:t>
            </a:r>
            <a:r>
              <a:rPr lang="en-US" sz="24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Knox</a:t>
            </a: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Work Flow System – </a:t>
            </a:r>
            <a:r>
              <a:rPr lang="en-US" sz="24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Oozie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– work flow scheduler to manage Hadoop jobs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xmlns="" val="11802958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FF0000"/>
                </a:solidFill>
              </a:rPr>
              <a:t>HDFS – Hadoop Distributed File System</a:t>
            </a:r>
            <a:endParaRPr lang="en-US" sz="3600" b="1" dirty="0">
              <a:solidFill>
                <a:srgbClr val="FF0000"/>
              </a:solidFill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9321" t="39437" r="30432" b="22043"/>
          <a:stretch/>
        </p:blipFill>
        <p:spPr>
          <a:xfrm>
            <a:off x="321517" y="2819400"/>
            <a:ext cx="8687185" cy="3124200"/>
          </a:xfrm>
        </p:spPr>
      </p:pic>
    </p:spTree>
    <p:extLst>
      <p:ext uri="{BB962C8B-B14F-4D97-AF65-F5344CB8AC3E}">
        <p14:creationId xmlns:p14="http://schemas.microsoft.com/office/powerpoint/2010/main" xmlns="" val="20181598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Map Reduce – Processing the data</a:t>
            </a:r>
            <a:endParaRPr lang="en-US" sz="36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8" name="Content Placeholder 7" descr="map_reduce2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2313286"/>
            <a:ext cx="8050480" cy="3554114"/>
          </a:xfrm>
        </p:spPr>
      </p:pic>
    </p:spTree>
    <p:extLst>
      <p:ext uri="{BB962C8B-B14F-4D97-AF65-F5344CB8AC3E}">
        <p14:creationId xmlns:p14="http://schemas.microsoft.com/office/powerpoint/2010/main" xmlns="" val="34323812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1143000"/>
          </a:xfrm>
        </p:spPr>
        <p:txBody>
          <a:bodyPr>
            <a:normAutofit/>
          </a:bodyPr>
          <a:lstStyle/>
          <a:p>
            <a:r>
              <a:rPr lang="en-US" sz="3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Sqoop - Data Collection – Structured Data </a:t>
            </a:r>
            <a:endParaRPr lang="en-US" sz="32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Sqoop is used to share the data between Hadoop and Relational databases, data ware-houses.</a:t>
            </a:r>
          </a:p>
          <a:p>
            <a:endParaRPr lang="en-US" dirty="0"/>
          </a:p>
        </p:txBody>
      </p:sp>
      <p:pic>
        <p:nvPicPr>
          <p:cNvPr id="4" name="Picture 3" descr="sqo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3048000"/>
            <a:ext cx="5673059" cy="1819348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1143000"/>
          </a:xfrm>
        </p:spPr>
        <p:txBody>
          <a:bodyPr>
            <a:normAutofit/>
          </a:bodyPr>
          <a:lstStyle/>
          <a:p>
            <a:r>
              <a:rPr lang="en-US" sz="3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Flume – Data Collection- Un-Structured Data</a:t>
            </a:r>
            <a:endParaRPr lang="en-US" sz="32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Flume is a Distributed service for collecting, aggregating and moving large amounts of log data.</a:t>
            </a:r>
          </a:p>
          <a:p>
            <a:r>
              <a:rPr lang="en-US" dirty="0" smtClean="0"/>
              <a:t>It will ingest online streaming data from social media, log files &amp; web server in-to HDFS</a:t>
            </a:r>
          </a:p>
          <a:p>
            <a:pPr>
              <a:buNone/>
            </a:pPr>
            <a:endParaRPr lang="en-US" dirty="0"/>
          </a:p>
        </p:txBody>
      </p:sp>
      <p:pic>
        <p:nvPicPr>
          <p:cNvPr id="4" name="Picture 3" descr="flu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0" y="3657600"/>
            <a:ext cx="4486902" cy="2524478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Queries</a:t>
            </a:r>
            <a:endParaRPr lang="en-US" sz="36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Pig –  used to analyze the data in Hadoop.</a:t>
            </a:r>
          </a:p>
          <a:p>
            <a:pPr lvl="3"/>
            <a:r>
              <a:rPr lang="en-US" dirty="0" smtClean="0"/>
              <a:t>Provides a platform for building data flow for ETL ( Extract, Transform &amp; Load) – Data Transformation</a:t>
            </a:r>
          </a:p>
          <a:p>
            <a:pPr lvl="3">
              <a:buNone/>
            </a:pPr>
            <a:endParaRPr lang="en-US" dirty="0" smtClean="0"/>
          </a:p>
          <a:p>
            <a:r>
              <a:rPr lang="en-US" dirty="0" smtClean="0"/>
              <a:t>Hive – Reading, Writing &amp; managing large datasets which are in a distributed storage using SQL – Query structured data.</a:t>
            </a:r>
          </a:p>
          <a:p>
            <a:pPr lvl="3"/>
            <a:r>
              <a:rPr lang="en-US" dirty="0" smtClean="0"/>
              <a:t>Provides user defined functions for data mining, document indexing, log processing,.. etc</a:t>
            </a:r>
          </a:p>
          <a:p>
            <a:pPr lvl="3"/>
            <a:endParaRPr lang="en-US" dirty="0" smtClean="0"/>
          </a:p>
          <a:p>
            <a:pPr lvl="3"/>
            <a:endParaRPr 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Apache Spark – Processing – Scala</a:t>
            </a:r>
            <a:endParaRPr lang="en-US" sz="36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Open source distributed computing engine.</a:t>
            </a:r>
          </a:p>
          <a:p>
            <a:r>
              <a:rPr lang="en-US" dirty="0" smtClean="0"/>
              <a:t>Mainly used for Processing and Analyzing huge volumes of real time data like stock market and banking data.</a:t>
            </a:r>
          </a:p>
          <a:p>
            <a:r>
              <a:rPr lang="en-US" dirty="0" smtClean="0"/>
              <a:t>Works 100x faster than Map Reduce.</a:t>
            </a:r>
          </a:p>
          <a:p>
            <a:r>
              <a:rPr lang="en-US" dirty="0" smtClean="0"/>
              <a:t>Provides In-Memory computation of data.</a:t>
            </a:r>
          </a:p>
          <a:p>
            <a:r>
              <a:rPr lang="en-US" dirty="0" smtClean="0"/>
              <a:t>It can also work individually outside of Hadoop eco-system with it’s own YARN.</a:t>
            </a:r>
          </a:p>
          <a:p>
            <a:r>
              <a:rPr lang="en-US" dirty="0" smtClean="0"/>
              <a:t>By using Py-spark it can also access Python Libraries.</a:t>
            </a:r>
            <a:endParaRPr 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Mahout – Machine Learning </a:t>
            </a:r>
            <a:endParaRPr lang="en-US" sz="36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Used to produce free implementations scalable machine learning algorithms focused primarily on linear algebra.</a:t>
            </a:r>
          </a:p>
          <a:p>
            <a:endParaRPr lang="en-US" dirty="0" smtClean="0"/>
          </a:p>
          <a:p>
            <a:endParaRPr lang="en-US" dirty="0"/>
          </a:p>
        </p:txBody>
      </p:sp>
      <p:pic>
        <p:nvPicPr>
          <p:cNvPr id="4" name="Picture 3" descr="mah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3505200"/>
            <a:ext cx="4997217" cy="24384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Management &amp; Monitoring- Apache Ambari</a:t>
            </a:r>
            <a:endParaRPr lang="en-US" sz="36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It is responsible for keep track of running applications and their statuses.</a:t>
            </a:r>
          </a:p>
          <a:p>
            <a:pPr>
              <a:buNone/>
            </a:pPr>
            <a:endParaRPr lang="en-US" dirty="0" smtClean="0"/>
          </a:p>
          <a:p>
            <a:r>
              <a:rPr lang="en-US" dirty="0" smtClean="0"/>
              <a:t>Just like a Body-Guard.</a:t>
            </a:r>
          </a:p>
          <a:p>
            <a:pPr>
              <a:buNone/>
            </a:pPr>
            <a:endParaRPr lang="en-US" dirty="0" smtClean="0"/>
          </a:p>
          <a:p>
            <a:r>
              <a:rPr lang="en-US" dirty="0" smtClean="0"/>
              <a:t>It provides a central management service to start, stop and configure Hadoop services.</a:t>
            </a:r>
            <a:endParaRPr 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Streaming – Kafka – Scala &amp; Java </a:t>
            </a:r>
            <a:endParaRPr lang="en-US" sz="36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Kafka</a:t>
            </a:r>
            <a:r>
              <a:rPr lang="en-US" dirty="0" smtClean="0"/>
              <a:t> – </a:t>
            </a:r>
          </a:p>
          <a:p>
            <a:pPr>
              <a:buNone/>
            </a:pPr>
            <a:endParaRPr lang="en-US" dirty="0" smtClean="0"/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Builds real-time streaming data-pipelines that reliably get data between applications. </a:t>
            </a:r>
          </a:p>
          <a:p>
            <a:pPr lvl="2">
              <a:buFont typeface="Wingdings" pitchFamily="2" charset="2"/>
              <a:buChar char="Ø"/>
            </a:pPr>
            <a:r>
              <a:rPr lang="en-US" dirty="0" smtClean="0"/>
              <a:t>Kafka uses messaging system for transferring data from one application to Another application</a:t>
            </a:r>
          </a:p>
          <a:p>
            <a:pPr lvl="2">
              <a:buNone/>
            </a:pPr>
            <a:endParaRPr lang="en-US" dirty="0" smtClean="0"/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Builds real-time streaming applications  &amp; these applications may transform the data in-to streams.</a:t>
            </a:r>
            <a:endParaRPr lang="en-US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Streaming – Strom -  Clojure</a:t>
            </a:r>
            <a:endParaRPr lang="en-US" sz="36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Storm – 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It is a processing engine that process real-time streaming data at a very high speed.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Hadoop Architecture</a:t>
            </a:r>
            <a:endParaRPr lang="en-US" sz="36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4234" t="21946" r="4123" b="9466"/>
          <a:stretch/>
        </p:blipFill>
        <p:spPr>
          <a:xfrm>
            <a:off x="304800" y="2133600"/>
            <a:ext cx="8326107" cy="3505200"/>
          </a:xfrm>
        </p:spPr>
      </p:pic>
    </p:spTree>
    <p:extLst>
      <p:ext uri="{BB962C8B-B14F-4D97-AF65-F5344CB8AC3E}">
        <p14:creationId xmlns:p14="http://schemas.microsoft.com/office/powerpoint/2010/main" xmlns="" val="3431113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Cluster</a:t>
            </a:r>
            <a:endParaRPr lang="en-US" sz="36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Group of inter-connected computers, servers (nodes), or  any other computing devices that work together as a single unit to perform various tasks.		- Playing Cricket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3" descr="clu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3700" y="3276600"/>
            <a:ext cx="3871684" cy="3115004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Hadoop Clustering</a:t>
            </a:r>
            <a:endParaRPr lang="en-US" sz="36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None/>
            </a:pPr>
            <a:endParaRPr lang="en-US" dirty="0" smtClean="0"/>
          </a:p>
          <a:p>
            <a:r>
              <a:rPr lang="en-US" dirty="0" smtClean="0"/>
              <a:t>Setting and configuring a cluster of computers – Computer Lab. 		</a:t>
            </a:r>
            <a:r>
              <a:rPr lang="en-US" smtClean="0"/>
              <a:t>	</a:t>
            </a: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 lvl="2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Configuring involves several steps to set-up environment correctly for distributed data processing.</a:t>
            </a:r>
          </a:p>
          <a:p>
            <a:pPr lvl="2"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1399032" lvl="3" indent="-457200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1. Hardware requirement – memory, storage, processing power for each node</a:t>
            </a:r>
          </a:p>
          <a:p>
            <a:pPr marL="1399032" lvl="3" indent="-457200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2. Network set-up – Nodes can communicate</a:t>
            </a:r>
          </a:p>
          <a:p>
            <a:pPr marL="1399032" lvl="3" indent="-457200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3. Operating System – Linux, Windows, Mac</a:t>
            </a:r>
          </a:p>
          <a:p>
            <a:pPr marL="1399032" lvl="3" indent="-457200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4. Java Installation –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adoop built using java </a:t>
            </a:r>
          </a:p>
          <a:p>
            <a:pPr marL="1399032" lvl="3" indent="-457200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5. Hadoop Installation – env. variables like  HADOOP_NAME &amp; PATH</a:t>
            </a:r>
          </a:p>
        </p:txBody>
      </p:sp>
    </p:spTree>
    <p:extLst>
      <p:ext uri="{BB962C8B-B14F-4D97-AF65-F5344CB8AC3E}">
        <p14:creationId xmlns:p14="http://schemas.microsoft.com/office/powerpoint/2010/main" xmlns="" val="16447748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Hadoop Clustering - Configuring</a:t>
            </a:r>
            <a:endParaRPr lang="en-US" sz="36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1399032" lvl="3" indent="-457200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6. Configuration files – For any software application we need these files to store settings, preferences &amp; parameters XML, YAML, JSON</a:t>
            </a:r>
          </a:p>
          <a:p>
            <a:pPr marL="1399032" lvl="3" indent="-457200">
              <a:buNone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marL="1399032" lvl="3" indent="-457200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7. SSH Set-Up – </a:t>
            </a:r>
          </a:p>
          <a:p>
            <a:pPr marL="1399032" lvl="3" indent="-457200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Secure Shell or Secure Socket Shell –	</a:t>
            </a:r>
          </a:p>
          <a:p>
            <a:pPr marL="1399032" lvl="3" indent="-457200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it is a Protocol (rules) that enables 2 computers to communicate.</a:t>
            </a:r>
          </a:p>
          <a:p>
            <a:pPr marL="1399032" lvl="3" indent="-457200">
              <a:buNone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marL="1399032" lvl="3" indent="-457200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8. HDFS, YARN, Map-Reduce</a:t>
            </a:r>
          </a:p>
          <a:p>
            <a:pPr marL="1399032" lvl="3" indent="-457200">
              <a:buNone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marL="1399032" lvl="3" indent="-457200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9. Testing</a:t>
            </a:r>
          </a:p>
          <a:p>
            <a:pPr marL="1399032" lvl="3" indent="-457200">
              <a:buNone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marL="1399032" lvl="3" indent="-457200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10. Security Set-up</a:t>
            </a:r>
          </a:p>
          <a:p>
            <a:pPr marL="1399032" lvl="3" indent="-457200">
              <a:buNone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marL="1399032" lvl="3" indent="-457200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11. Monitoring and Optimization</a:t>
            </a:r>
          </a:p>
          <a:p>
            <a:endParaRPr lang="en-US" sz="2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Advantages </a:t>
            </a:r>
            <a:endParaRPr lang="en-US" sz="36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Scalable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Cost Effective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Flexible – can process any data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Fast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Resilient to failure – have back-up option</a:t>
            </a:r>
          </a:p>
        </p:txBody>
      </p:sp>
    </p:spTree>
    <p:extLst>
      <p:ext uri="{BB962C8B-B14F-4D97-AF65-F5344CB8AC3E}">
        <p14:creationId xmlns:p14="http://schemas.microsoft.com/office/powerpoint/2010/main" xmlns="" val="28392298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Hadoop Cluster Architecture</a:t>
            </a:r>
            <a:endParaRPr lang="en-US" sz="36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35480"/>
            <a:ext cx="8229600" cy="1569720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Hadoop Cluster Architecture</a:t>
            </a:r>
          </a:p>
          <a:p>
            <a:pPr lvl="3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HDFS</a:t>
            </a:r>
          </a:p>
          <a:p>
            <a:pPr lvl="3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YARN</a:t>
            </a:r>
          </a:p>
          <a:p>
            <a:pPr lvl="3"/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3"/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3"/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2"/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09600" y="3429000"/>
            <a:ext cx="83820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HDFS – Hadoop Distributed File System</a:t>
            </a:r>
          </a:p>
          <a:p>
            <a:pPr marL="285750" indent="-285750"/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1200150" lvl="2" indent="-285750"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Name Node – Master Node – Contains Meta Data</a:t>
            </a:r>
          </a:p>
          <a:p>
            <a:pPr marL="1200150" lvl="2" indent="-285750"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Secondary Name Node – Buffer to Name Node</a:t>
            </a:r>
          </a:p>
          <a:p>
            <a:pPr marL="1200150" lvl="2" indent="-285750"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Data Node – Slave Node – Store Data </a:t>
            </a:r>
          </a:p>
          <a:p>
            <a:pPr lvl="2"/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418259115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Hadoop Cluster Architecture - HDFC</a:t>
            </a:r>
            <a:endParaRPr lang="en-US" sz="36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676400"/>
            <a:ext cx="8229600" cy="4389120"/>
          </a:xfrm>
        </p:spPr>
        <p:txBody>
          <a:bodyPr>
            <a:noAutofit/>
          </a:bodyPr>
          <a:lstStyle/>
          <a:p>
            <a:pPr marL="342900" indent="-342900"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1. Name Node</a:t>
            </a:r>
          </a:p>
          <a:p>
            <a:pPr marL="800100" lvl="1" indent="-342900">
              <a:buFont typeface="Wingdings" pitchFamily="2" charset="2"/>
              <a:buChar char="ü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Contains meta-data of name node.</a:t>
            </a:r>
          </a:p>
          <a:p>
            <a:pPr marL="800100" lvl="1" indent="-342900">
              <a:buFont typeface="Wingdings" pitchFamily="2" charset="2"/>
              <a:buChar char="ü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Responsible for managing health node.</a:t>
            </a:r>
          </a:p>
          <a:p>
            <a:pPr marL="800100" lvl="1" indent="-342900">
              <a:buFont typeface="Wingdings" pitchFamily="2" charset="2"/>
              <a:buChar char="ü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it always receives heart-beat at a particular interval of time.</a:t>
            </a:r>
          </a:p>
          <a:p>
            <a:pPr marL="800100" lvl="1" indent="-342900">
              <a:buFont typeface="Wingdings" pitchFamily="2" charset="2"/>
              <a:buChar char="ü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if heart-beat fails, name node will assign to other data node.</a:t>
            </a:r>
          </a:p>
          <a:p>
            <a:pPr marL="800100" lvl="1" indent="-342900">
              <a:buFont typeface="Wingdings" pitchFamily="2" charset="2"/>
              <a:buChar char="ü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also receives status update of the task assigned.</a:t>
            </a:r>
          </a:p>
          <a:p>
            <a:pPr marL="800100" lvl="1" indent="-342900"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2. Data Node –</a:t>
            </a:r>
          </a:p>
          <a:p>
            <a:pPr lvl="1">
              <a:buFont typeface="Wingdings" pitchFamily="2" charset="2"/>
              <a:buChar char="ü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Responsible for storing the data.</a:t>
            </a:r>
          </a:p>
          <a:p>
            <a:pPr lvl="1">
              <a:buFont typeface="Wingdings" pitchFamily="2" charset="2"/>
              <a:buChar char="ü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slaves of Name Node.</a:t>
            </a:r>
          </a:p>
          <a:p>
            <a:pPr lvl="1"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3. Secondary Name Node –</a:t>
            </a:r>
          </a:p>
          <a:p>
            <a:pPr lvl="1">
              <a:buFont typeface="Wingdings" pitchFamily="2" charset="2"/>
              <a:buChar char="ü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Supports to primary name node.</a:t>
            </a:r>
          </a:p>
          <a:p>
            <a:pPr lvl="1">
              <a:buFont typeface="Wingdings" pitchFamily="2" charset="2"/>
              <a:buChar char="ü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Acts as a buffer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00549650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Hadoop Cluster Architecture - YARN</a:t>
            </a:r>
            <a:endParaRPr lang="en-US" sz="36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35480"/>
            <a:ext cx="8229600" cy="1722120"/>
          </a:xfrm>
        </p:spPr>
        <p:txBody>
          <a:bodyPr/>
          <a:lstStyle/>
          <a:p>
            <a:r>
              <a:rPr lang="en-US" dirty="0" smtClean="0"/>
              <a:t>YARN – Yet Another Resource Negotiator</a:t>
            </a:r>
          </a:p>
          <a:p>
            <a:pPr lvl="2"/>
            <a:r>
              <a:rPr lang="en-US" dirty="0" smtClean="0"/>
              <a:t>Node Manager</a:t>
            </a:r>
          </a:p>
          <a:p>
            <a:pPr lvl="2"/>
            <a:r>
              <a:rPr lang="en-US" dirty="0" smtClean="0"/>
              <a:t>App Master</a:t>
            </a:r>
          </a:p>
          <a:p>
            <a:pPr lvl="2"/>
            <a:r>
              <a:rPr lang="en-US" dirty="0" smtClean="0"/>
              <a:t>Container 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3492" b="2650"/>
          <a:stretch/>
        </p:blipFill>
        <p:spPr>
          <a:xfrm>
            <a:off x="1828800" y="3594339"/>
            <a:ext cx="4927121" cy="2819401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Hadoop Cluster Architecture - YARN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 smtClean="0">
                <a:solidFill>
                  <a:srgbClr val="00B0F0"/>
                </a:solidFill>
              </a:rPr>
              <a:t>Resource Manager</a:t>
            </a:r>
          </a:p>
          <a:p>
            <a:pPr lvl="2"/>
            <a:r>
              <a:rPr lang="en-US" dirty="0"/>
              <a:t>It manages and allocates cluster resources. </a:t>
            </a:r>
            <a:endParaRPr lang="en-US" dirty="0" smtClean="0"/>
          </a:p>
          <a:p>
            <a:pPr lvl="2"/>
            <a:r>
              <a:rPr lang="en-US" dirty="0" smtClean="0"/>
              <a:t>It </a:t>
            </a:r>
            <a:r>
              <a:rPr lang="en-US" dirty="0"/>
              <a:t>keeps track of available resources and schedules tasks on different </a:t>
            </a:r>
            <a:r>
              <a:rPr lang="en-US" dirty="0" smtClean="0"/>
              <a:t>nodes</a:t>
            </a:r>
          </a:p>
          <a:p>
            <a:pPr marL="667512" lvl="2" indent="0">
              <a:buNone/>
            </a:pPr>
            <a:endParaRPr lang="en-US" dirty="0"/>
          </a:p>
          <a:p>
            <a:pPr lvl="2"/>
            <a:r>
              <a:rPr lang="en-US" b="1" dirty="0">
                <a:solidFill>
                  <a:srgbClr val="0070C0"/>
                </a:solidFill>
              </a:rPr>
              <a:t>Scheduler</a:t>
            </a:r>
            <a:r>
              <a:rPr lang="en-US" dirty="0"/>
              <a:t> </a:t>
            </a:r>
            <a:r>
              <a:rPr lang="en-US" dirty="0" smtClean="0"/>
              <a:t>- </a:t>
            </a:r>
            <a:r>
              <a:rPr lang="en-US" dirty="0"/>
              <a:t> </a:t>
            </a:r>
            <a:r>
              <a:rPr lang="en-US" dirty="0" smtClean="0"/>
              <a:t>Totally </a:t>
            </a:r>
            <a:r>
              <a:rPr lang="en-US" dirty="0"/>
              <a:t>dedicated to </a:t>
            </a:r>
            <a:r>
              <a:rPr lang="en-US" dirty="0" smtClean="0"/>
              <a:t>allocating resources to different applications.</a:t>
            </a:r>
          </a:p>
          <a:p>
            <a:pPr marL="667512" lvl="2" indent="0">
              <a:buNone/>
            </a:pPr>
            <a:endParaRPr lang="en-US" dirty="0" smtClean="0"/>
          </a:p>
          <a:p>
            <a:pPr lvl="2"/>
            <a:r>
              <a:rPr lang="en-US" b="1" dirty="0" smtClean="0">
                <a:solidFill>
                  <a:srgbClr val="0070C0"/>
                </a:solidFill>
              </a:rPr>
              <a:t>Application Master</a:t>
            </a:r>
            <a:r>
              <a:rPr lang="en-US" dirty="0" smtClean="0">
                <a:solidFill>
                  <a:srgbClr val="0070C0"/>
                </a:solidFill>
              </a:rPr>
              <a:t>  - </a:t>
            </a:r>
            <a:r>
              <a:rPr lang="en-US" dirty="0" smtClean="0"/>
              <a:t>Manages </a:t>
            </a:r>
            <a:r>
              <a:rPr lang="en-US" dirty="0"/>
              <a:t>the lifecycle of individual applications, negotiating resources for them and ensuring they run successfully</a:t>
            </a:r>
          </a:p>
        </p:txBody>
      </p:sp>
    </p:spTree>
    <p:extLst>
      <p:ext uri="{BB962C8B-B14F-4D97-AF65-F5344CB8AC3E}">
        <p14:creationId xmlns:p14="http://schemas.microsoft.com/office/powerpoint/2010/main" xmlns="" val="402918238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Hadoop Cluster Architecture - YARN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35480"/>
            <a:ext cx="8382000" cy="4389120"/>
          </a:xfrm>
        </p:spPr>
        <p:txBody>
          <a:bodyPr>
            <a:normAutofit lnSpcReduction="10000"/>
          </a:bodyPr>
          <a:lstStyle/>
          <a:p>
            <a:pPr marL="514350" indent="-514350">
              <a:buNone/>
            </a:pPr>
            <a:r>
              <a:rPr lang="en-US" sz="2000" b="1" dirty="0" smtClean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Node Manager</a:t>
            </a:r>
          </a:p>
          <a:p>
            <a:pPr marL="982980" lvl="2" indent="-342900"/>
            <a:r>
              <a:rPr lang="en-US" sz="2000" dirty="0"/>
              <a:t>Each node in the cluster runs a </a:t>
            </a:r>
            <a:r>
              <a:rPr lang="en-US" sz="2000" dirty="0" smtClean="0"/>
              <a:t>Node Manager</a:t>
            </a:r>
            <a:r>
              <a:rPr lang="en-US" sz="2000" dirty="0"/>
              <a:t>, which is responsible for monitoring resource usage on that node, managing containers, and reporting back to the </a:t>
            </a:r>
            <a:r>
              <a:rPr lang="en-US" sz="2000" dirty="0" smtClean="0"/>
              <a:t>Resource Manager.</a:t>
            </a:r>
          </a:p>
          <a:p>
            <a:pPr marL="982980" lvl="2" indent="-342900"/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514350" indent="-514350">
              <a:buNone/>
            </a:pPr>
            <a:r>
              <a:rPr lang="en-US" sz="2000" b="1" dirty="0" smtClean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App master</a:t>
            </a:r>
          </a:p>
          <a:p>
            <a:pPr marL="982980" lvl="2" indent="-342900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Negotiates the resources between Resource Manager and Node Manager.</a:t>
            </a:r>
          </a:p>
          <a:p>
            <a:pPr marL="640080" lvl="2" indent="0"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514350" indent="-514350">
              <a:buNone/>
            </a:pPr>
            <a:r>
              <a:rPr lang="en-US" sz="2000" b="1" dirty="0" smtClean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Container</a:t>
            </a:r>
          </a:p>
          <a:p>
            <a:pPr marL="982980" lvl="2" indent="-342900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Collection of reserved amount of resources allocated by the Resource Manager and to work with the allocated task by node manager.</a:t>
            </a:r>
          </a:p>
          <a:p>
            <a:pPr marL="514350" indent="-514350">
              <a:buAutoNum type="arabicPeriod"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83204047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Hadoop Cluster Architecture</a:t>
            </a:r>
            <a:endParaRPr lang="en-US" sz="3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52400" y="1981200"/>
            <a:ext cx="5892342" cy="4389437"/>
          </a:xfrm>
        </p:spPr>
      </p:pic>
      <p:sp>
        <p:nvSpPr>
          <p:cNvPr id="3" name="TextBox 2"/>
          <p:cNvSpPr txBox="1"/>
          <p:nvPr/>
        </p:nvSpPr>
        <p:spPr>
          <a:xfrm>
            <a:off x="6400800" y="2590800"/>
            <a:ext cx="22860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Each Rack contain Data Nodes and only 1 rack contain  Name Node.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They communicate each other with help of switch.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88893162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4196" y="304800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Rack Awareness Algorithm</a:t>
            </a:r>
            <a:endParaRPr lang="en-US" sz="3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57200" y="2590009"/>
            <a:ext cx="8229600" cy="3079744"/>
          </a:xfrm>
        </p:spPr>
      </p:pic>
    </p:spTree>
    <p:extLst>
      <p:ext uri="{BB962C8B-B14F-4D97-AF65-F5344CB8AC3E}">
        <p14:creationId xmlns:p14="http://schemas.microsoft.com/office/powerpoint/2010/main" xmlns="" val="134940581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717</TotalTime>
  <Words>1312</Words>
  <Application>Microsoft Office PowerPoint</Application>
  <PresentationFormat>On-screen Show (4:3)</PresentationFormat>
  <Paragraphs>295</Paragraphs>
  <Slides>42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3" baseType="lpstr">
      <vt:lpstr>Flow</vt:lpstr>
      <vt:lpstr>Big Data Analytics And Applications</vt:lpstr>
      <vt:lpstr>What is Big Data ?</vt:lpstr>
      <vt:lpstr>Need of Big Data</vt:lpstr>
      <vt:lpstr>Range of data</vt:lpstr>
      <vt:lpstr>Data Unit Conversions</vt:lpstr>
      <vt:lpstr>Big Data Every Minute</vt:lpstr>
      <vt:lpstr>Big Data Storage (Facebook)</vt:lpstr>
      <vt:lpstr>Types of Data</vt:lpstr>
      <vt:lpstr>Characteristics of Big Data </vt:lpstr>
      <vt:lpstr>Big Data Framework - Hadoop</vt:lpstr>
      <vt:lpstr>Apache &amp; Apache Spark</vt:lpstr>
      <vt:lpstr>Hadoop Eco-System For Big Data</vt:lpstr>
      <vt:lpstr>Data Analytics</vt:lpstr>
      <vt:lpstr>Examples of Analytics</vt:lpstr>
      <vt:lpstr>Examples of Analytics</vt:lpstr>
      <vt:lpstr>Big Data Architecture -  Evolution</vt:lpstr>
      <vt:lpstr>Big Data Architecture - Evolution</vt:lpstr>
      <vt:lpstr>Hadoop Architecture &amp; Hadoop Clustering</vt:lpstr>
      <vt:lpstr>Hadoop Architecture &amp; Components</vt:lpstr>
      <vt:lpstr>Hadoop Architecture &amp; Components</vt:lpstr>
      <vt:lpstr>HDFS – Hadoop Distributed File System</vt:lpstr>
      <vt:lpstr>Map Reduce – Processing the data</vt:lpstr>
      <vt:lpstr>Sqoop - Data Collection – Structured Data </vt:lpstr>
      <vt:lpstr>Flume – Data Collection- Un-Structured Data</vt:lpstr>
      <vt:lpstr>Queries</vt:lpstr>
      <vt:lpstr>Apache Spark – Processing – Scala</vt:lpstr>
      <vt:lpstr>Mahout – Machine Learning </vt:lpstr>
      <vt:lpstr>Management &amp; Monitoring- Apache Ambari</vt:lpstr>
      <vt:lpstr>Streaming – Kafka – Scala &amp; Java </vt:lpstr>
      <vt:lpstr>Streaming – Strom -  Clojure</vt:lpstr>
      <vt:lpstr>Hadoop Architecture</vt:lpstr>
      <vt:lpstr>Cluster</vt:lpstr>
      <vt:lpstr>Hadoop Clustering</vt:lpstr>
      <vt:lpstr>Hadoop Clustering - Configuring</vt:lpstr>
      <vt:lpstr>Advantages </vt:lpstr>
      <vt:lpstr>Hadoop Cluster Architecture</vt:lpstr>
      <vt:lpstr>Hadoop Cluster Architecture - HDFC</vt:lpstr>
      <vt:lpstr>Hadoop Cluster Architecture - YARN</vt:lpstr>
      <vt:lpstr>Hadoop Cluster Architecture - YARN</vt:lpstr>
      <vt:lpstr>Hadoop Cluster Architecture - YARN</vt:lpstr>
      <vt:lpstr>Hadoop Cluster Architecture</vt:lpstr>
      <vt:lpstr>Rack Awareness Algorithm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Big Data Analytics</dc:title>
  <dc:creator>Windows User</dc:creator>
  <cp:lastModifiedBy>Windows User</cp:lastModifiedBy>
  <cp:revision>74</cp:revision>
  <dcterms:created xsi:type="dcterms:W3CDTF">2023-08-16T15:41:09Z</dcterms:created>
  <dcterms:modified xsi:type="dcterms:W3CDTF">2023-09-04T00:35:58Z</dcterms:modified>
</cp:coreProperties>
</file>