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70" r:id="rId4"/>
    <p:sldId id="260" r:id="rId5"/>
    <p:sldId id="258" r:id="rId6"/>
    <p:sldId id="261" r:id="rId7"/>
    <p:sldId id="262" r:id="rId8"/>
    <p:sldId id="263" r:id="rId9"/>
    <p:sldId id="264" r:id="rId10"/>
    <p:sldId id="273" r:id="rId11"/>
    <p:sldId id="274" r:id="rId12"/>
    <p:sldId id="275" r:id="rId13"/>
    <p:sldId id="280" r:id="rId14"/>
    <p:sldId id="276" r:id="rId15"/>
    <p:sldId id="277" r:id="rId16"/>
    <p:sldId id="278" r:id="rId17"/>
    <p:sldId id="279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88" autoAdjust="0"/>
    <p:restoredTop sz="94624" autoAdjust="0"/>
  </p:normalViewPr>
  <p:slideViewPr>
    <p:cSldViewPr>
      <p:cViewPr>
        <p:scale>
          <a:sx n="80" d="100"/>
          <a:sy n="80" d="100"/>
        </p:scale>
        <p:origin x="-1086" y="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2A9A4-997F-4F9C-8BD3-76150CD38B61}" type="datetimeFigureOut">
              <a:rPr lang="en-US" smtClean="0"/>
              <a:pPr/>
              <a:t>8/24/2023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371849-CE50-4492-8335-8FF75E722F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98693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8/24/2023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B15C76D-A775-457A-A4C3-681A74910540}" type="datetimeFigureOut">
              <a:rPr lang="en-US" smtClean="0"/>
              <a:pPr/>
              <a:t>8/24/2023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Big Data Analytics And Applications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r>
              <a:rPr lang="en-US" b="1" dirty="0" smtClean="0"/>
              <a:t>Unit -  1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305800" cy="762000"/>
          </a:xfrm>
        </p:spPr>
        <p:txBody>
          <a:bodyPr>
            <a:noAutofit/>
          </a:bodyPr>
          <a:lstStyle/>
          <a:p>
            <a:r>
              <a:rPr lang="en-US" sz="3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What is Big Data ?</a:t>
            </a:r>
            <a:endParaRPr lang="en-US" sz="3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1676400"/>
            <a:ext cx="853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Collection of data in huge volumes, growing exponentially with time.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b_2.jpg"/>
          <p:cNvPicPr>
            <a:picLocks noChangeAspect="1"/>
          </p:cNvPicPr>
          <p:nvPr/>
        </p:nvPicPr>
        <p:blipFill>
          <a:blip r:embed="rId2"/>
          <a:srcRect r="2998" b="13538"/>
          <a:stretch>
            <a:fillRect/>
          </a:stretch>
        </p:blipFill>
        <p:spPr>
          <a:xfrm>
            <a:off x="1295400" y="2286000"/>
            <a:ext cx="5486400" cy="41317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Need of Big Data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 cannot effectively process or manage the data using traditional data processing tools.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get insights, patterns &amp; trends for huge data, previously it is not possible.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Industries like healthcare, finance and research also rely on big data to improve operational efficiency.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78166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Range of data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1676400"/>
            <a:ext cx="7119257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Small – 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Individual Person data 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Medium – 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Local Supply Chain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Big – 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National Level Retail Store – D-Mart, Reliance Mart 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Vast – 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International Retail Store – Walmart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Social Media – Facebook, Twitter, YouTube, Instagram</a:t>
            </a:r>
          </a:p>
          <a:p>
            <a:pPr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All decisions taken today are data driven decisions only.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 Unit Conversions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2971800"/>
            <a:ext cx="30212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Low Quality image size = 2KB</a:t>
            </a:r>
          </a:p>
          <a:p>
            <a:r>
              <a:rPr lang="en-US" dirty="0" smtClean="0"/>
              <a:t>High Quality image size = 2MB</a:t>
            </a:r>
            <a:endParaRPr lang="en-US" dirty="0"/>
          </a:p>
        </p:txBody>
      </p:sp>
      <p:pic>
        <p:nvPicPr>
          <p:cNvPr id="5" name="Picture 4" descr="b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752600"/>
            <a:ext cx="4538663" cy="48179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Big Data Every Minute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62200" y="1752600"/>
            <a:ext cx="4133715" cy="4715562"/>
          </a:xfrm>
        </p:spPr>
      </p:pic>
    </p:spTree>
    <p:extLst>
      <p:ext uri="{BB962C8B-B14F-4D97-AF65-F5344CB8AC3E}">
        <p14:creationId xmlns:p14="http://schemas.microsoft.com/office/powerpoint/2010/main" xmlns="" val="1753762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Big Data Storage (Facebook)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04800" y="1905000"/>
            <a:ext cx="5854715" cy="4389437"/>
          </a:xfrm>
        </p:spPr>
      </p:pic>
      <p:sp>
        <p:nvSpPr>
          <p:cNvPr id="5" name="TextBox 4"/>
          <p:cNvSpPr txBox="1"/>
          <p:nvPr/>
        </p:nvSpPr>
        <p:spPr>
          <a:xfrm>
            <a:off x="6553200" y="2209800"/>
            <a:ext cx="256217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18 Data Centers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40 Million Sq. Feet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$ 20 Billion </a:t>
            </a:r>
          </a:p>
          <a:p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4 Petabytes / day </a:t>
            </a:r>
          </a:p>
          <a:p>
            <a:r>
              <a:rPr lang="en-US" dirty="0" smtClean="0"/>
              <a:t>(10 lakh GB)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50 crore high quality </a:t>
            </a:r>
          </a:p>
          <a:p>
            <a:r>
              <a:rPr lang="en-US" dirty="0" smtClean="0"/>
              <a:t>images /day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792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Types of Data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2362200"/>
            <a:ext cx="583858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Structured Data 	-  CVS Files, Excel Files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Un-Structured Data 	–  Text, Images, Audio, Video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Semi-Structured Data	- xml, Json files, server logs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04800" y="4038600"/>
            <a:ext cx="3733800" cy="20149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76800" y="3839528"/>
            <a:ext cx="2120484" cy="290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71274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Characteristics of Big Data 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981200"/>
            <a:ext cx="8153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Volume	- How much volume of data is getting generated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Variety	- How many different varieties of data (Structured, 			   Un-Structured &amp; Semi- Structured Example: Emails, photos,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   PDF, images, Audio,     Video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Velocity	- How fast the data is getting generated.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Veracity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	- How much data is reliable (Quality &amp; consistent)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Value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-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How much data is useful that we store, process &amp;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		     analyze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Variability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How fast  the data is changing.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9855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Big Data Framework - Hadoop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Apache Hadoop </a:t>
            </a:r>
          </a:p>
          <a:p>
            <a:pPr lvl="2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HDFS – </a:t>
            </a:r>
          </a:p>
          <a:p>
            <a:pPr marL="1435608" lvl="3" indent="-45720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Hadoop Distributed File System</a:t>
            </a:r>
          </a:p>
          <a:p>
            <a:pPr marL="1435608" lvl="3" indent="-45720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provides data across the cluster (computers that work together)</a:t>
            </a:r>
          </a:p>
          <a:p>
            <a:pPr lvl="3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Map Reduce-</a:t>
            </a:r>
          </a:p>
          <a:p>
            <a:pPr marL="1435608" lvl="3" indent="-45720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process the data in parallel across the cluster.</a:t>
            </a:r>
          </a:p>
          <a:p>
            <a:pPr marL="1435608" lvl="3" indent="-45720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can use Java, Python programming Languages and Framework like Apache Spark.</a:t>
            </a:r>
          </a:p>
          <a:p>
            <a:pPr lvl="3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YARN – Yet Another Resource Negotiator</a:t>
            </a:r>
          </a:p>
          <a:p>
            <a:pPr marL="1435608" lvl="3" indent="-45720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Resource Allocation for  various applications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Apache &amp; Apache Spark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ASF – Apache Software Foundation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supports wide range of open source software projects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Hadoop is also a part of Apache Foundation only.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Apache Spark:-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Developed as an alternative to Map-Reduce used in Hadoop.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Both will be used for data processing only.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can handle real-time processing &amp; offers better performance compared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to Map-Reduce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Also a part of Hadoop eco-system.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Eco-System For Big Data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 descr="Capture2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1898446"/>
            <a:ext cx="6477000" cy="4214933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Data Analytics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Process of analyzing raw data to get insights and find patterns about information by using various techniques and processes.</a:t>
            </a:r>
          </a:p>
          <a:p>
            <a:pPr marL="0" indent="0" algn="just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200" b="1" u="sng" dirty="0" smtClean="0">
                <a:latin typeface="Times New Roman" pitchFamily="18" charset="0"/>
                <a:cs typeface="Times New Roman" pitchFamily="18" charset="0"/>
              </a:rPr>
              <a:t>Types of Data Analytics:-</a:t>
            </a:r>
          </a:p>
          <a:p>
            <a:pPr marL="0" indent="0" algn="just">
              <a:buNone/>
            </a:pPr>
            <a:endParaRPr lang="en-US" sz="22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Descriptive – Just prepare dashboards &amp; track performance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Predictive – Utilizing historical data &amp; predict the future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trends</a:t>
            </a:r>
          </a:p>
          <a:p>
            <a:pPr algn="just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Prescriptive – suggest strategies &amp;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outcomes like Dis-counts, Non-Seasonal items.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32952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Examples of Analytics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Retail and E-Commerce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Market Basket Analysis</a:t>
            </a:r>
          </a:p>
          <a:p>
            <a:pPr lvl="1"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Price Optimization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Healthcare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Predictive Analytics for Patient Outcomes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Fraud Detection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Drug Discovery</a:t>
            </a:r>
          </a:p>
          <a:p>
            <a:pPr lvl="0"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Finance and Banking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Credit Risk Assessment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Algorithmic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Trading – Stock Market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Fraud Prevention</a:t>
            </a:r>
          </a:p>
          <a:p>
            <a:pPr lvl="0"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Manufacturing and Supply Chain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Demand Forecasting</a:t>
            </a:r>
          </a:p>
          <a:p>
            <a:pPr>
              <a:buFont typeface="Wingdings" pitchFamily="2" charset="2"/>
              <a:buChar char="§"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1442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Examples of Analytics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Transportation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Logistics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Route Optimization – OLA, UBER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Vehicle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Telematics – Monitor Vehicle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Performance</a:t>
            </a:r>
          </a:p>
          <a:p>
            <a:pPr lvl="1">
              <a:buFont typeface="Wingdings" pitchFamily="2" charset="2"/>
              <a:buChar char="Ø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Government and Public Services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Crime Analysis - Patterns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Public Health Surveillance-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Diseases</a:t>
            </a:r>
          </a:p>
          <a:p>
            <a:pPr marL="393192" lvl="1" indent="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Marketing and Advertising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Social Media Analytics – Sentiment Analysis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Customer Churn Prediction – Customers Retain</a:t>
            </a:r>
          </a:p>
          <a:p>
            <a:pPr marL="393192" lvl="1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852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Big </a:t>
            </a: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ata Architecture -  Evolution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389120"/>
          </a:xfrm>
        </p:spPr>
        <p:txBody>
          <a:bodyPr>
            <a:normAutofit/>
          </a:bodyPr>
          <a:lstStyle/>
          <a:p>
            <a:pPr marL="2286000" lvl="8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Traditional Databases</a:t>
            </a:r>
          </a:p>
          <a:p>
            <a:pPr marL="2286000" lvl="8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Struggled to handle variety of data generated)</a:t>
            </a:r>
          </a:p>
          <a:p>
            <a:pPr marL="2286000" lvl="8" indent="0"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286000" lvl="8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Data Warehouses</a:t>
            </a:r>
          </a:p>
          <a:p>
            <a:pPr marL="2286000" lvl="8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tore data from various resources)</a:t>
            </a:r>
          </a:p>
          <a:p>
            <a:pPr marL="2286000" lvl="8" indent="0"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2286000" lvl="8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Hadoop and Map Reduce</a:t>
            </a:r>
          </a:p>
          <a:p>
            <a:pPr marL="2286000" lvl="8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(Distributed Storage &amp; Parallel Processing)</a:t>
            </a:r>
          </a:p>
          <a:p>
            <a:pPr marL="2286000" lvl="8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286000" lvl="8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No-SQL Databases</a:t>
            </a:r>
          </a:p>
          <a:p>
            <a:pPr marL="2286000" lvl="8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(for Un-Structured Data- Mongo DB, Cassandra)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203405" y="22860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203405" y="3491023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203405" y="44958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9623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Big </a:t>
            </a: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ata Architecture - Evolution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389120"/>
          </a:xfrm>
        </p:spPr>
        <p:txBody>
          <a:bodyPr>
            <a:normAutofit/>
          </a:bodyPr>
          <a:lstStyle/>
          <a:p>
            <a:pPr marL="2286000" lvl="8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In-Memory Computing</a:t>
            </a:r>
          </a:p>
          <a:p>
            <a:pPr marL="2286000" lvl="8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Faster data processing – Apache Spark)</a:t>
            </a:r>
          </a:p>
          <a:p>
            <a:pPr marL="2286000" lvl="8" indent="0"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286000" lvl="8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Stream Processing)</a:t>
            </a:r>
          </a:p>
          <a:p>
            <a:pPr marL="2286000" lvl="8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Real time data processing – Apache Kafka)</a:t>
            </a:r>
          </a:p>
          <a:p>
            <a:pPr marL="2286000" lvl="8" indent="0"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2286000" lvl="8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Serverless Computing and Cloud Services</a:t>
            </a:r>
          </a:p>
          <a:p>
            <a:pPr marL="2286000" lvl="8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(AWS, GCP, Azure – Scalable Infrastructure )</a:t>
            </a:r>
          </a:p>
          <a:p>
            <a:pPr marL="2286000" lvl="8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286000" lvl="8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AI &amp; ML Integration</a:t>
            </a:r>
          </a:p>
          <a:p>
            <a:pPr marL="2286000" lvl="8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(Frameworks like Tensor flow and Py-Torch are incorporated)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203405" y="22860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203405" y="3491023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203405" y="44958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2760765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713</TotalTime>
  <Words>491</Words>
  <Application>Microsoft Office PowerPoint</Application>
  <PresentationFormat>On-screen Show (4:3)</PresentationFormat>
  <Paragraphs>143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Flow</vt:lpstr>
      <vt:lpstr>Big Data Analytics And Applications</vt:lpstr>
      <vt:lpstr>What is Big Data ?</vt:lpstr>
      <vt:lpstr>Need of Big Data</vt:lpstr>
      <vt:lpstr>Range of data</vt:lpstr>
      <vt:lpstr>Data Unit Conversions</vt:lpstr>
      <vt:lpstr>Big Data Every Minute</vt:lpstr>
      <vt:lpstr>Big Data Storage (Facebook)</vt:lpstr>
      <vt:lpstr>Types of Data</vt:lpstr>
      <vt:lpstr>Characteristics of Big Data </vt:lpstr>
      <vt:lpstr>Big Data Framework - Hadoop</vt:lpstr>
      <vt:lpstr>Apache &amp; Apache Spark</vt:lpstr>
      <vt:lpstr>Hadoop Eco-System For Big Data</vt:lpstr>
      <vt:lpstr>Data Analytics</vt:lpstr>
      <vt:lpstr>Examples of Analytics</vt:lpstr>
      <vt:lpstr>Examples of Analytics</vt:lpstr>
      <vt:lpstr>Big Data Architecture -  Evolution</vt:lpstr>
      <vt:lpstr>Big Data Architecture - Evolution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Analytics</dc:title>
  <dc:creator>Windows User</dc:creator>
  <cp:lastModifiedBy>Windows User</cp:lastModifiedBy>
  <cp:revision>71</cp:revision>
  <dcterms:created xsi:type="dcterms:W3CDTF">2023-08-16T15:41:09Z</dcterms:created>
  <dcterms:modified xsi:type="dcterms:W3CDTF">2023-08-24T01:55:19Z</dcterms:modified>
</cp:coreProperties>
</file>