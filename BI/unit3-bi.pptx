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5" r:id="rId8"/>
    <p:sldId id="262" r:id="rId9"/>
    <p:sldId id="264" r:id="rId10"/>
    <p:sldId id="263" r:id="rId11"/>
    <p:sldId id="265" r:id="rId12"/>
    <p:sldId id="266" r:id="rId13"/>
    <p:sldId id="267" r:id="rId14"/>
    <p:sldId id="268" r:id="rId15"/>
    <p:sldId id="269" r:id="rId16"/>
    <p:sldId id="270" r:id="rId17"/>
    <p:sldId id="271" r:id="rId18"/>
    <p:sldId id="272" r:id="rId19"/>
    <p:sldId id="273" r:id="rId20"/>
    <p:sldId id="274"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2/28/2024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158314"/>
            <a:ext cx="7766936" cy="823783"/>
          </a:xfrm>
        </p:spPr>
        <p:txBody>
          <a:bodyPr/>
          <a:lstStyle/>
          <a:p>
            <a:r>
              <a:rPr lang="en-US" dirty="0" smtClean="0"/>
              <a:t>Unit-3</a:t>
            </a:r>
            <a:endParaRPr lang="en-IN" dirty="0"/>
          </a:p>
        </p:txBody>
      </p:sp>
      <p:sp>
        <p:nvSpPr>
          <p:cNvPr id="3" name="Subtitle 2"/>
          <p:cNvSpPr>
            <a:spLocks noGrp="1"/>
          </p:cNvSpPr>
          <p:nvPr>
            <p:ph type="subTitle" idx="1"/>
          </p:nvPr>
        </p:nvSpPr>
        <p:spPr>
          <a:xfrm>
            <a:off x="1507067" y="2982097"/>
            <a:ext cx="7766936" cy="2165636"/>
          </a:xfrm>
        </p:spPr>
        <p:txBody>
          <a:bodyPr>
            <a:normAutofit/>
          </a:bodyPr>
          <a:lstStyle/>
          <a:p>
            <a:r>
              <a:rPr lang="en-US" dirty="0"/>
              <a:t>UNIT–III</a:t>
            </a:r>
          </a:p>
          <a:p>
            <a:r>
              <a:rPr lang="en-US" dirty="0"/>
              <a:t>BI Implementation - Key Drivers, Key Performance Indicators and Performance Metrics, BI Architecture/Framework, Best Practices, Business Decision Making, Styles of BI-vent-Driven alerts-A cyclic process of Intelligence Creation. The value of Business intelligence -Value driven and Information use.</a:t>
            </a:r>
            <a:endParaRPr lang="en-IN" dirty="0"/>
          </a:p>
        </p:txBody>
      </p:sp>
    </p:spTree>
    <p:extLst>
      <p:ext uri="{BB962C8B-B14F-4D97-AF65-F5344CB8AC3E}">
        <p14:creationId xmlns:p14="http://schemas.microsoft.com/office/powerpoint/2010/main" val="2240468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Drivers of Business Intelligence</a:t>
            </a:r>
            <a:endParaRPr lang="en-IN" dirty="0"/>
          </a:p>
        </p:txBody>
      </p:sp>
      <p:sp>
        <p:nvSpPr>
          <p:cNvPr id="3" name="Content Placeholder 2"/>
          <p:cNvSpPr>
            <a:spLocks noGrp="1"/>
          </p:cNvSpPr>
          <p:nvPr>
            <p:ph idx="1"/>
          </p:nvPr>
        </p:nvSpPr>
        <p:spPr/>
        <p:txBody>
          <a:bodyPr>
            <a:normAutofit fontScale="92500" lnSpcReduction="10000"/>
          </a:bodyPr>
          <a:lstStyle/>
          <a:p>
            <a:r>
              <a:rPr lang="en-IN" dirty="0"/>
              <a:t>Tech </a:t>
            </a:r>
            <a:r>
              <a:rPr lang="en-IN" dirty="0" smtClean="0"/>
              <a:t>Drivers</a:t>
            </a:r>
          </a:p>
          <a:p>
            <a:r>
              <a:rPr lang="en-IN" dirty="0"/>
              <a:t>Business Drivers </a:t>
            </a:r>
            <a:endParaRPr lang="en-IN" dirty="0" smtClean="0"/>
          </a:p>
          <a:p>
            <a:r>
              <a:rPr lang="en-IN" dirty="0"/>
              <a:t>Bottom Line </a:t>
            </a:r>
            <a:endParaRPr lang="en-IN" dirty="0" smtClean="0"/>
          </a:p>
          <a:p>
            <a:r>
              <a:rPr lang="en-US" dirty="0"/>
              <a:t>The survey found that the top three drivers underpinning the decision to implement a BI solution are:</a:t>
            </a:r>
          </a:p>
          <a:p>
            <a:endParaRPr lang="en-US" dirty="0"/>
          </a:p>
          <a:p>
            <a:r>
              <a:rPr lang="en-US" dirty="0"/>
              <a:t>The ability of a BI solution to help produce better business decisions via timely, accurate and more comprehensive analysis of available corporate information assets</a:t>
            </a:r>
          </a:p>
          <a:p>
            <a:r>
              <a:rPr lang="en-US" dirty="0"/>
              <a:t>The ability of BI to identify growth opportunities</a:t>
            </a:r>
          </a:p>
          <a:p>
            <a:r>
              <a:rPr lang="en-US" dirty="0"/>
              <a:t>The ability of BI to reduce costs and wastage by identifying areas of high expenditure, operational inefficiencies and analyzing transactional records</a:t>
            </a:r>
            <a:endParaRPr lang="en-IN" dirty="0"/>
          </a:p>
        </p:txBody>
      </p:sp>
    </p:spTree>
    <p:extLst>
      <p:ext uri="{BB962C8B-B14F-4D97-AF65-F5344CB8AC3E}">
        <p14:creationId xmlns:p14="http://schemas.microsoft.com/office/powerpoint/2010/main" val="1668009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Underpin strategic adjustments in real-time (or near real-time)</a:t>
            </a:r>
          </a:p>
          <a:p>
            <a:r>
              <a:rPr lang="en-US" dirty="0"/>
              <a:t>Identify risks and threats</a:t>
            </a:r>
          </a:p>
          <a:p>
            <a:r>
              <a:rPr lang="en-US" dirty="0"/>
              <a:t>Increase customer profitability</a:t>
            </a:r>
          </a:p>
          <a:p>
            <a:r>
              <a:rPr lang="en-US" dirty="0"/>
              <a:t>Improve and measure workplace productivity by employee, department or function</a:t>
            </a:r>
          </a:p>
          <a:p>
            <a:r>
              <a:rPr lang="en-US" dirty="0"/>
              <a:t>Improve operational and supply chain efficiencies</a:t>
            </a:r>
            <a:endParaRPr lang="en-IN" dirty="0"/>
          </a:p>
        </p:txBody>
      </p:sp>
    </p:spTree>
    <p:extLst>
      <p:ext uri="{BB962C8B-B14F-4D97-AF65-F5344CB8AC3E}">
        <p14:creationId xmlns:p14="http://schemas.microsoft.com/office/powerpoint/2010/main" val="273969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Performance Indicators and Performance Metrics</a:t>
            </a:r>
            <a:endParaRPr lang="en-IN" dirty="0"/>
          </a:p>
        </p:txBody>
      </p:sp>
      <p:pic>
        <p:nvPicPr>
          <p:cNvPr id="4" name="Content Placeholder 3"/>
          <p:cNvPicPr>
            <a:picLocks noGrp="1" noChangeAspect="1"/>
          </p:cNvPicPr>
          <p:nvPr>
            <p:ph idx="1"/>
          </p:nvPr>
        </p:nvPicPr>
        <p:blipFill>
          <a:blip r:embed="rId2"/>
          <a:stretch>
            <a:fillRect/>
          </a:stretch>
        </p:blipFill>
        <p:spPr>
          <a:xfrm>
            <a:off x="2064941" y="2160588"/>
            <a:ext cx="5822155" cy="3881437"/>
          </a:xfrm>
          <a:prstGeom prst="rect">
            <a:avLst/>
          </a:prstGeom>
        </p:spPr>
      </p:pic>
    </p:spTree>
    <p:extLst>
      <p:ext uri="{BB962C8B-B14F-4D97-AF65-F5344CB8AC3E}">
        <p14:creationId xmlns:p14="http://schemas.microsoft.com/office/powerpoint/2010/main" val="2640737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Key performance indicators (KPIs) measure a company's success vs. a set of targets, objectives, or industry peers. KPIs can be financial, including net profit (or the bottom line, net income), revenues minus certain expenses, or the current </a:t>
            </a:r>
            <a:r>
              <a:rPr lang="en-US" dirty="0" smtClean="0"/>
              <a:t>ratio </a:t>
            </a:r>
            <a:r>
              <a:rPr lang="en-US" dirty="0"/>
              <a:t>(liquidity and cash availability</a:t>
            </a:r>
            <a:r>
              <a:rPr lang="en-US" dirty="0" smtClean="0"/>
              <a:t>).</a:t>
            </a:r>
          </a:p>
          <a:p>
            <a:r>
              <a:rPr lang="en-US" dirty="0"/>
              <a:t>What are Key Performance Indicators and metrics?</a:t>
            </a:r>
          </a:p>
          <a:p>
            <a:r>
              <a:rPr lang="en-US" dirty="0"/>
              <a:t>Key performance indicators are data that show you just how good you are at attaining your business goals. Meanwhile, metrics track the status of your business processes. With KPIs, you will know if you're hitting your overall business targets, while metrics focus on the performance of specific business processes.</a:t>
            </a:r>
            <a:endParaRPr lang="en-IN" dirty="0"/>
          </a:p>
        </p:txBody>
      </p:sp>
    </p:spTree>
    <p:extLst>
      <p:ext uri="{BB962C8B-B14F-4D97-AF65-F5344CB8AC3E}">
        <p14:creationId xmlns:p14="http://schemas.microsoft.com/office/powerpoint/2010/main" val="2617592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84886"/>
          </a:xfrm>
        </p:spPr>
        <p:txBody>
          <a:bodyPr>
            <a:normAutofit fontScale="90000"/>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095632" y="1540476"/>
            <a:ext cx="7743568" cy="4501549"/>
          </a:xfrm>
          <a:prstGeom prst="rect">
            <a:avLst/>
          </a:prstGeom>
        </p:spPr>
      </p:pic>
    </p:spTree>
    <p:extLst>
      <p:ext uri="{BB962C8B-B14F-4D97-AF65-F5344CB8AC3E}">
        <p14:creationId xmlns:p14="http://schemas.microsoft.com/office/powerpoint/2010/main" val="350384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18519" y="2601119"/>
            <a:ext cx="5715000" cy="3000375"/>
          </a:xfrm>
          <a:prstGeom prst="rect">
            <a:avLst/>
          </a:prstGeom>
        </p:spPr>
      </p:pic>
    </p:spTree>
    <p:extLst>
      <p:ext uri="{BB962C8B-B14F-4D97-AF65-F5344CB8AC3E}">
        <p14:creationId xmlns:p14="http://schemas.microsoft.com/office/powerpoint/2010/main" val="1932128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BI – Explain Key Performance Indicators (KPIs) dashboards</a:t>
            </a:r>
            <a:endParaRPr lang="en-IN" dirty="0"/>
          </a:p>
        </p:txBody>
      </p:sp>
      <p:sp>
        <p:nvSpPr>
          <p:cNvPr id="3" name="Content Placeholder 2"/>
          <p:cNvSpPr>
            <a:spLocks noGrp="1"/>
          </p:cNvSpPr>
          <p:nvPr>
            <p:ph idx="1"/>
          </p:nvPr>
        </p:nvSpPr>
        <p:spPr/>
        <p:txBody>
          <a:bodyPr/>
          <a:lstStyle/>
          <a:p>
            <a:r>
              <a:rPr lang="en-US" dirty="0"/>
              <a:t>The KPIs evaluate an association’s performance in different areas by assessing quantifiable measure values. In businesses, KPIs play an essential part as visual cues that indicate growth by assessing values and measurable pretensions. A KPI always has a base value or measure which is estimated against a target value. That is, comparing the factual performance with the target set. You can estimate the performances in an analysis just by seeing the KPIs.</a:t>
            </a:r>
            <a:endParaRPr lang="en-IN" dirty="0"/>
          </a:p>
        </p:txBody>
      </p:sp>
    </p:spTree>
    <p:extLst>
      <p:ext uri="{BB962C8B-B14F-4D97-AF65-F5344CB8AC3E}">
        <p14:creationId xmlns:p14="http://schemas.microsoft.com/office/powerpoint/2010/main" val="729776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Key Performance Indicators (KPI) Visualization</a:t>
            </a:r>
            <a:endParaRPr lang="en-IN" dirty="0"/>
          </a:p>
        </p:txBody>
      </p:sp>
      <p:sp>
        <p:nvSpPr>
          <p:cNvPr id="3" name="Content Placeholder 2"/>
          <p:cNvSpPr>
            <a:spLocks noGrp="1"/>
          </p:cNvSpPr>
          <p:nvPr>
            <p:ph idx="1"/>
          </p:nvPr>
        </p:nvSpPr>
        <p:spPr/>
        <p:txBody>
          <a:bodyPr/>
          <a:lstStyle/>
          <a:p>
            <a:r>
              <a:rPr lang="en-US" dirty="0"/>
              <a:t>To Demonstrate KPI we will import an excel sheet to power BI, following steps are to be followed, The dataset used for the visualization is here. Below is the screenshot of the dataset:</a:t>
            </a:r>
          </a:p>
          <a:p>
            <a:endParaRPr lang="en-US" dirty="0"/>
          </a:p>
          <a:p>
            <a:endParaRPr lang="en-IN" dirty="0"/>
          </a:p>
        </p:txBody>
      </p:sp>
      <p:pic>
        <p:nvPicPr>
          <p:cNvPr id="4" name="Picture 3"/>
          <p:cNvPicPr>
            <a:picLocks noChangeAspect="1"/>
          </p:cNvPicPr>
          <p:nvPr/>
        </p:nvPicPr>
        <p:blipFill>
          <a:blip r:embed="rId2"/>
          <a:stretch>
            <a:fillRect/>
          </a:stretch>
        </p:blipFill>
        <p:spPr>
          <a:xfrm>
            <a:off x="3219321" y="3147351"/>
            <a:ext cx="3743325" cy="3124200"/>
          </a:xfrm>
          <a:prstGeom prst="rect">
            <a:avLst/>
          </a:prstGeom>
        </p:spPr>
      </p:pic>
    </p:spTree>
    <p:extLst>
      <p:ext uri="{BB962C8B-B14F-4D97-AF65-F5344CB8AC3E}">
        <p14:creationId xmlns:p14="http://schemas.microsoft.com/office/powerpoint/2010/main" val="45814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1: Under the Home, Tab Click on Get data.</a:t>
            </a:r>
            <a:br>
              <a:rPr lang="en-US" dirty="0"/>
            </a:b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3085306" y="2929731"/>
            <a:ext cx="3781425" cy="2343150"/>
          </a:xfrm>
          <a:prstGeom prst="rect">
            <a:avLst/>
          </a:prstGeom>
        </p:spPr>
      </p:pic>
    </p:spTree>
    <p:extLst>
      <p:ext uri="{BB962C8B-B14F-4D97-AF65-F5344CB8AC3E}">
        <p14:creationId xmlns:p14="http://schemas.microsoft.com/office/powerpoint/2010/main" val="3861950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Click on Excel Workbook.</a:t>
            </a:r>
            <a:endParaRPr lang="en-IN" dirty="0"/>
          </a:p>
        </p:txBody>
      </p:sp>
      <p:pic>
        <p:nvPicPr>
          <p:cNvPr id="4" name="Content Placeholder 3"/>
          <p:cNvPicPr>
            <a:picLocks noGrp="1" noChangeAspect="1"/>
          </p:cNvPicPr>
          <p:nvPr>
            <p:ph idx="1"/>
          </p:nvPr>
        </p:nvPicPr>
        <p:blipFill>
          <a:blip r:embed="rId2"/>
          <a:stretch>
            <a:fillRect/>
          </a:stretch>
        </p:blipFill>
        <p:spPr>
          <a:xfrm>
            <a:off x="885031" y="2615406"/>
            <a:ext cx="8181975" cy="2971800"/>
          </a:xfrm>
          <a:prstGeom prst="rect">
            <a:avLst/>
          </a:prstGeom>
        </p:spPr>
      </p:pic>
    </p:spTree>
    <p:extLst>
      <p:ext uri="{BB962C8B-B14F-4D97-AF65-F5344CB8AC3E}">
        <p14:creationId xmlns:p14="http://schemas.microsoft.com/office/powerpoint/2010/main" val="2456913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3: Import the data from your machine and select the check boxes shown below.</a:t>
            </a:r>
            <a:br>
              <a:rPr lang="en-US" dirty="0"/>
            </a:br>
            <a:r>
              <a:rPr lang="en-US" dirty="0"/>
              <a:t/>
            </a:r>
            <a:br>
              <a:rPr lang="en-US" dirty="0"/>
            </a:br>
            <a:endParaRPr lang="en-IN" dirty="0"/>
          </a:p>
        </p:txBody>
      </p:sp>
      <p:pic>
        <p:nvPicPr>
          <p:cNvPr id="4" name="Content Placeholder 3"/>
          <p:cNvPicPr>
            <a:picLocks noGrp="1" noChangeAspect="1"/>
          </p:cNvPicPr>
          <p:nvPr>
            <p:ph idx="1"/>
          </p:nvPr>
        </p:nvPicPr>
        <p:blipFill>
          <a:blip r:embed="rId2"/>
          <a:stretch>
            <a:fillRect/>
          </a:stretch>
        </p:blipFill>
        <p:spPr>
          <a:xfrm>
            <a:off x="2000029" y="2160588"/>
            <a:ext cx="5951980" cy="3881437"/>
          </a:xfrm>
          <a:prstGeom prst="rect">
            <a:avLst/>
          </a:prstGeom>
        </p:spPr>
      </p:pic>
    </p:spTree>
    <p:extLst>
      <p:ext uri="{BB962C8B-B14F-4D97-AF65-F5344CB8AC3E}">
        <p14:creationId xmlns:p14="http://schemas.microsoft.com/office/powerpoint/2010/main" val="1281316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Step 4: Under the visualization Tab. Select Build Visuals.</a:t>
            </a:r>
            <a:br>
              <a:rPr lang="en-US" dirty="0"/>
            </a:br>
            <a:r>
              <a:rPr lang="en-US" dirty="0"/>
              <a:t/>
            </a:r>
            <a:br>
              <a:rPr lang="en-US" dirty="0"/>
            </a:br>
            <a:endParaRPr lang="en-IN" dirty="0"/>
          </a:p>
        </p:txBody>
      </p:sp>
      <p:sp>
        <p:nvSpPr>
          <p:cNvPr id="3" name="Content Placeholder 2"/>
          <p:cNvSpPr>
            <a:spLocks noGrp="1"/>
          </p:cNvSpPr>
          <p:nvPr>
            <p:ph idx="1"/>
          </p:nvPr>
        </p:nvSpPr>
        <p:spPr/>
        <p:txBody>
          <a:bodyPr/>
          <a:lstStyle/>
          <a:p>
            <a:r>
              <a:rPr lang="en-US" dirty="0"/>
              <a:t>Step 4: Under the visualization Tab. Select Build Visuals.</a:t>
            </a:r>
          </a:p>
          <a:p>
            <a:endParaRPr lang="en-US" dirty="0"/>
          </a:p>
          <a:p>
            <a:endParaRPr lang="en-IN" dirty="0"/>
          </a:p>
        </p:txBody>
      </p:sp>
      <p:pic>
        <p:nvPicPr>
          <p:cNvPr id="4" name="Picture 3"/>
          <p:cNvPicPr>
            <a:picLocks noChangeAspect="1"/>
          </p:cNvPicPr>
          <p:nvPr/>
        </p:nvPicPr>
        <p:blipFill>
          <a:blip r:embed="rId2"/>
          <a:stretch>
            <a:fillRect/>
          </a:stretch>
        </p:blipFill>
        <p:spPr>
          <a:xfrm>
            <a:off x="2591572" y="2691275"/>
            <a:ext cx="2609850" cy="1409700"/>
          </a:xfrm>
          <a:prstGeom prst="rect">
            <a:avLst/>
          </a:prstGeom>
        </p:spPr>
      </p:pic>
    </p:spTree>
    <p:extLst>
      <p:ext uri="{BB962C8B-B14F-4D97-AF65-F5344CB8AC3E}">
        <p14:creationId xmlns:p14="http://schemas.microsoft.com/office/powerpoint/2010/main" val="1728814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5: Now select the KPI icon as shown below.</a:t>
            </a:r>
            <a:endParaRPr lang="en-IN" dirty="0"/>
          </a:p>
        </p:txBody>
      </p:sp>
      <p:sp>
        <p:nvSpPr>
          <p:cNvPr id="3" name="Content Placeholder 2"/>
          <p:cNvSpPr>
            <a:spLocks noGrp="1"/>
          </p:cNvSpPr>
          <p:nvPr>
            <p:ph idx="1"/>
          </p:nvPr>
        </p:nvSpPr>
        <p:spPr/>
        <p:txBody>
          <a:bodyPr/>
          <a:lstStyle/>
          <a:p>
            <a:r>
              <a:rPr lang="en-US" dirty="0"/>
              <a:t>KPI has 3 fields which are Values, Trend Axis and Target Goal.</a:t>
            </a:r>
          </a:p>
          <a:p>
            <a:endParaRPr lang="en-US" dirty="0"/>
          </a:p>
          <a:p>
            <a:r>
              <a:rPr lang="en-US" dirty="0"/>
              <a:t>Values: It is the actual values against targeted values.</a:t>
            </a:r>
          </a:p>
          <a:p>
            <a:r>
              <a:rPr lang="en-US" dirty="0"/>
              <a:t>Trend Axis: It will be the month name or number axis line.</a:t>
            </a:r>
          </a:p>
          <a:p>
            <a:r>
              <a:rPr lang="en-US" dirty="0"/>
              <a:t>Target Goal: target to be achieved.</a:t>
            </a:r>
            <a:endParaRPr lang="en-IN" dirty="0"/>
          </a:p>
        </p:txBody>
      </p:sp>
    </p:spTree>
    <p:extLst>
      <p:ext uri="{BB962C8B-B14F-4D97-AF65-F5344CB8AC3E}">
        <p14:creationId xmlns:p14="http://schemas.microsoft.com/office/powerpoint/2010/main" val="3425649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163603" y="2160588"/>
            <a:ext cx="7624831" cy="3881437"/>
          </a:xfrm>
          <a:prstGeom prst="rect">
            <a:avLst/>
          </a:prstGeom>
        </p:spPr>
      </p:pic>
    </p:spTree>
    <p:extLst>
      <p:ext uri="{BB962C8B-B14F-4D97-AF65-F5344CB8AC3E}">
        <p14:creationId xmlns:p14="http://schemas.microsoft.com/office/powerpoint/2010/main" val="1197270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KPI has 3 fields which are Values, Trend Axis and Target Goal.</a:t>
            </a:r>
          </a:p>
          <a:p>
            <a:endParaRPr lang="en-US" dirty="0"/>
          </a:p>
          <a:p>
            <a:r>
              <a:rPr lang="en-US" dirty="0"/>
              <a:t>Values: It is the actual values against targeted values.</a:t>
            </a:r>
          </a:p>
          <a:p>
            <a:r>
              <a:rPr lang="en-US" dirty="0"/>
              <a:t>Trend Axis: It will be the month name or number axis line.</a:t>
            </a:r>
          </a:p>
          <a:p>
            <a:r>
              <a:rPr lang="en-US" dirty="0"/>
              <a:t>Target Goal: target to be achieved.</a:t>
            </a:r>
            <a:endParaRPr lang="en-IN" dirty="0"/>
          </a:p>
        </p:txBody>
      </p:sp>
    </p:spTree>
    <p:extLst>
      <p:ext uri="{BB962C8B-B14F-4D97-AF65-F5344CB8AC3E}">
        <p14:creationId xmlns:p14="http://schemas.microsoft.com/office/powerpoint/2010/main" val="1235931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1960605" y="2160588"/>
            <a:ext cx="5523379" cy="3881437"/>
          </a:xfrm>
          <a:prstGeom prst="rect">
            <a:avLst/>
          </a:prstGeom>
        </p:spPr>
      </p:pic>
    </p:spTree>
    <p:extLst>
      <p:ext uri="{BB962C8B-B14F-4D97-AF65-F5344CB8AC3E}">
        <p14:creationId xmlns:p14="http://schemas.microsoft.com/office/powerpoint/2010/main" val="3135495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6: Drag and Drop the fields in the respective row as shown below.</a:t>
            </a:r>
            <a:endParaRPr lang="en-IN" dirty="0"/>
          </a:p>
        </p:txBody>
      </p:sp>
      <p:pic>
        <p:nvPicPr>
          <p:cNvPr id="4" name="Content Placeholder 3"/>
          <p:cNvPicPr>
            <a:picLocks noGrp="1" noChangeAspect="1"/>
          </p:cNvPicPr>
          <p:nvPr>
            <p:ph idx="1"/>
          </p:nvPr>
        </p:nvPicPr>
        <p:blipFill>
          <a:blip r:embed="rId2"/>
          <a:stretch>
            <a:fillRect/>
          </a:stretch>
        </p:blipFill>
        <p:spPr>
          <a:xfrm>
            <a:off x="3543647" y="2160588"/>
            <a:ext cx="2864744" cy="3881437"/>
          </a:xfrm>
          <a:prstGeom prst="rect">
            <a:avLst/>
          </a:prstGeom>
        </p:spPr>
      </p:pic>
    </p:spTree>
    <p:extLst>
      <p:ext uri="{BB962C8B-B14F-4D97-AF65-F5344CB8AC3E}">
        <p14:creationId xmlns:p14="http://schemas.microsoft.com/office/powerpoint/2010/main" val="29350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7: Now the Dashboard of Power BI looks like this.</a:t>
            </a: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677334" y="2160589"/>
            <a:ext cx="9525000" cy="4629150"/>
          </a:xfrm>
          <a:prstGeom prst="rect">
            <a:avLst/>
          </a:prstGeom>
        </p:spPr>
      </p:pic>
    </p:spTree>
    <p:extLst>
      <p:ext uri="{BB962C8B-B14F-4D97-AF65-F5344CB8AC3E}">
        <p14:creationId xmlns:p14="http://schemas.microsoft.com/office/powerpoint/2010/main" val="832920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1405"/>
          </a:xfrm>
        </p:spPr>
        <p:txBody>
          <a:bodyPr>
            <a:normAutofit fontScale="90000"/>
          </a:bodyPr>
          <a:lstStyle/>
          <a:p>
            <a:r>
              <a:rPr lang="en-IN" dirty="0"/>
              <a:t>KPI Advantages</a:t>
            </a:r>
            <a:br>
              <a:rPr lang="en-IN" dirty="0"/>
            </a:br>
            <a:endParaRPr lang="en-IN" dirty="0"/>
          </a:p>
        </p:txBody>
      </p:sp>
      <p:sp>
        <p:nvSpPr>
          <p:cNvPr id="3" name="Content Placeholder 2"/>
          <p:cNvSpPr>
            <a:spLocks noGrp="1"/>
          </p:cNvSpPr>
          <p:nvPr>
            <p:ph idx="1"/>
          </p:nvPr>
        </p:nvSpPr>
        <p:spPr>
          <a:xfrm>
            <a:off x="677334" y="1655805"/>
            <a:ext cx="8596668" cy="4385557"/>
          </a:xfrm>
        </p:spPr>
        <p:txBody>
          <a:bodyPr>
            <a:normAutofit fontScale="70000" lnSpcReduction="20000"/>
          </a:bodyPr>
          <a:lstStyle/>
          <a:p>
            <a:r>
              <a:rPr lang="en-US" dirty="0"/>
              <a:t>KPI Advantages</a:t>
            </a:r>
          </a:p>
          <a:p>
            <a:r>
              <a:rPr lang="en-US" dirty="0"/>
              <a:t>Monitoring the target: This KPI helps the organization to monitor their performance in a visuals manner </a:t>
            </a:r>
          </a:p>
          <a:p>
            <a:r>
              <a:rPr lang="en-US" dirty="0"/>
              <a:t>Timely reports: With This KPI the organization will be able to check whether they are able to execute their plan or not</a:t>
            </a:r>
          </a:p>
          <a:p>
            <a:r>
              <a:rPr lang="en-US" dirty="0"/>
              <a:t>Simplify Process: Modern businesses can use KPIs for their advancement of profit</a:t>
            </a:r>
          </a:p>
          <a:p>
            <a:endParaRPr lang="en-US" dirty="0" smtClean="0"/>
          </a:p>
          <a:p>
            <a:r>
              <a:rPr lang="en-US" dirty="0" smtClean="0"/>
              <a:t>KPI </a:t>
            </a:r>
            <a:r>
              <a:rPr lang="en-US" dirty="0"/>
              <a:t>Disadvantages</a:t>
            </a:r>
          </a:p>
          <a:p>
            <a:r>
              <a:rPr lang="en-US" dirty="0"/>
              <a:t>Time Taking: It does not offer information on which action can be taken immediately</a:t>
            </a:r>
          </a:p>
          <a:p>
            <a:r>
              <a:rPr lang="en-US" dirty="0"/>
              <a:t>Implementation: Do not try to overload with more than one data, always start with simple implementation</a:t>
            </a:r>
          </a:p>
          <a:p>
            <a:r>
              <a:rPr lang="en-US" dirty="0"/>
              <a:t>Uses of KPI</a:t>
            </a:r>
          </a:p>
          <a:p>
            <a:r>
              <a:rPr lang="en-US" dirty="0"/>
              <a:t>Working with KPIs is easy and you can use them to display inversely complex information. The two main reasons why you should use KPIs in your Power BI are </a:t>
            </a:r>
          </a:p>
          <a:p>
            <a:endParaRPr lang="en-US" dirty="0"/>
          </a:p>
          <a:p>
            <a:r>
              <a:rPr lang="en-US" dirty="0"/>
              <a:t>We use KPIs to measure progress i.e., positive or negative change over time. For illustration – whether you’re getting correct results or not, meeting targets or lagging before. </a:t>
            </a:r>
          </a:p>
          <a:p>
            <a:r>
              <a:rPr lang="en-US" dirty="0"/>
              <a:t>We also use KPIs to measure the distance to a target or a thing. In this case, you dissect how far behind you’re in meeting your target.</a:t>
            </a:r>
            <a:endParaRPr lang="en-IN" dirty="0"/>
          </a:p>
        </p:txBody>
      </p:sp>
    </p:spTree>
    <p:extLst>
      <p:ext uri="{BB962C8B-B14F-4D97-AF65-F5344CB8AC3E}">
        <p14:creationId xmlns:p14="http://schemas.microsoft.com/office/powerpoint/2010/main" val="2622859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388394" y="2160588"/>
            <a:ext cx="5175249" cy="3881437"/>
          </a:xfrm>
          <a:prstGeom prst="rect">
            <a:avLst/>
          </a:prstGeom>
        </p:spPr>
      </p:pic>
    </p:spTree>
    <p:extLst>
      <p:ext uri="{BB962C8B-B14F-4D97-AF65-F5344CB8AC3E}">
        <p14:creationId xmlns:p14="http://schemas.microsoft.com/office/powerpoint/2010/main" val="6592320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50</TotalTime>
  <Words>808</Words>
  <Application>Microsoft Office PowerPoint</Application>
  <PresentationFormat>Widescreen</PresentationFormat>
  <Paragraphs>57</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Trebuchet MS</vt:lpstr>
      <vt:lpstr>Wingdings 3</vt:lpstr>
      <vt:lpstr>Facet</vt:lpstr>
      <vt:lpstr>Unit-3</vt:lpstr>
      <vt:lpstr>Key Drivers of Business Intelligence</vt:lpstr>
      <vt:lpstr>PowerPoint Presentation</vt:lpstr>
      <vt:lpstr>Key Performance Indicators and Performance Metrics</vt:lpstr>
      <vt:lpstr>PowerPoint Presentation</vt:lpstr>
      <vt:lpstr>PowerPoint Presentation</vt:lpstr>
      <vt:lpstr>PowerPoint Presentation</vt:lpstr>
      <vt:lpstr>Power BI – Explain Key Performance Indicators (KPIs) dashboards</vt:lpstr>
      <vt:lpstr>Creating Key Performance Indicators (KPI) Visualization</vt:lpstr>
      <vt:lpstr>Step 1: Under the Home, Tab Click on Get data.  </vt:lpstr>
      <vt:lpstr>Step 2: Click on Excel Workbook.</vt:lpstr>
      <vt:lpstr>Step 3: Import the data from your machine and select the check boxes shown below.  </vt:lpstr>
      <vt:lpstr>Step 4: Under the visualization Tab. Select Build Visuals.  </vt:lpstr>
      <vt:lpstr>Step 5: Now select the KPI icon as shown below.</vt:lpstr>
      <vt:lpstr>PowerPoint Presentation</vt:lpstr>
      <vt:lpstr>PowerPoint Presentation</vt:lpstr>
      <vt:lpstr>PowerPoint Presentation</vt:lpstr>
      <vt:lpstr>Step 6: Drag and Drop the fields in the respective row as shown below.</vt:lpstr>
      <vt:lpstr>Step 7: Now the Dashboard of Power BI looks like this.</vt:lpstr>
      <vt:lpstr>KPI Advantages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18</cp:revision>
  <dcterms:created xsi:type="dcterms:W3CDTF">2024-02-28T04:16:08Z</dcterms:created>
  <dcterms:modified xsi:type="dcterms:W3CDTF">2024-02-28T05:06:58Z</dcterms:modified>
</cp:coreProperties>
</file>