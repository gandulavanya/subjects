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75" r:id="rId8"/>
    <p:sldId id="262" r:id="rId9"/>
    <p:sldId id="264" r:id="rId10"/>
    <p:sldId id="263" r:id="rId11"/>
    <p:sldId id="265" r:id="rId12"/>
    <p:sldId id="266" r:id="rId13"/>
    <p:sldId id="267" r:id="rId14"/>
    <p:sldId id="268" r:id="rId15"/>
    <p:sldId id="269" r:id="rId16"/>
    <p:sldId id="270" r:id="rId17"/>
    <p:sldId id="271" r:id="rId18"/>
    <p:sldId id="272" r:id="rId19"/>
    <p:sldId id="273" r:id="rId20"/>
    <p:sldId id="274" r:id="rId21"/>
    <p:sldId id="276" r:id="rId22"/>
    <p:sldId id="277" r:id="rId23"/>
    <p:sldId id="286" r:id="rId24"/>
    <p:sldId id="285" r:id="rId25"/>
    <p:sldId id="287" r:id="rId26"/>
    <p:sldId id="288" r:id="rId27"/>
    <p:sldId id="278" r:id="rId28"/>
    <p:sldId id="279" r:id="rId29"/>
    <p:sldId id="280" r:id="rId30"/>
    <p:sldId id="281" r:id="rId31"/>
    <p:sldId id="282" r:id="rId32"/>
    <p:sldId id="283" r:id="rId33"/>
    <p:sldId id="284" r:id="rId34"/>
    <p:sldId id="289" r:id="rId35"/>
    <p:sldId id="294" r:id="rId36"/>
    <p:sldId id="295" r:id="rId37"/>
    <p:sldId id="296" r:id="rId38"/>
    <p:sldId id="297" r:id="rId39"/>
    <p:sldId id="298" r:id="rId40"/>
    <p:sldId id="299" r:id="rId41"/>
    <p:sldId id="300" r:id="rId42"/>
    <p:sldId id="301" r:id="rId43"/>
    <p:sldId id="302"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13" autoAdjust="0"/>
    <p:restoredTop sz="94660"/>
  </p:normalViewPr>
  <p:slideViewPr>
    <p:cSldViewPr snapToGrid="0">
      <p:cViewPr varScale="1">
        <p:scale>
          <a:sx n="116" d="100"/>
          <a:sy n="116" d="100"/>
        </p:scale>
        <p:origin x="36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4/16/2024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4/16/2024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4/16/2024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2158314"/>
            <a:ext cx="7766936" cy="823783"/>
          </a:xfrm>
        </p:spPr>
        <p:txBody>
          <a:bodyPr/>
          <a:lstStyle/>
          <a:p>
            <a:r>
              <a:rPr lang="en-US" dirty="0" smtClean="0"/>
              <a:t>Unit-3</a:t>
            </a:r>
            <a:endParaRPr lang="en-IN" dirty="0"/>
          </a:p>
        </p:txBody>
      </p:sp>
      <p:sp>
        <p:nvSpPr>
          <p:cNvPr id="3" name="Subtitle 2"/>
          <p:cNvSpPr>
            <a:spLocks noGrp="1"/>
          </p:cNvSpPr>
          <p:nvPr>
            <p:ph type="subTitle" idx="1"/>
          </p:nvPr>
        </p:nvSpPr>
        <p:spPr>
          <a:xfrm>
            <a:off x="1507067" y="2982097"/>
            <a:ext cx="7766936" cy="2165636"/>
          </a:xfrm>
        </p:spPr>
        <p:txBody>
          <a:bodyPr>
            <a:normAutofit/>
          </a:bodyPr>
          <a:lstStyle/>
          <a:p>
            <a:r>
              <a:rPr lang="en-US" dirty="0"/>
              <a:t>UNIT–III</a:t>
            </a:r>
          </a:p>
          <a:p>
            <a:r>
              <a:rPr lang="en-US" dirty="0"/>
              <a:t>BI Implementation - Key Drivers, Key Performance Indicators and Performance Metrics, BI Architecture/Framework, Best Practices, Business Decision Making, Styles of </a:t>
            </a:r>
            <a:r>
              <a:rPr lang="en-US" dirty="0" smtClean="0"/>
              <a:t>BI-Event-Driven </a:t>
            </a:r>
            <a:r>
              <a:rPr lang="en-US" dirty="0"/>
              <a:t>alerts-A cyclic process of Intelligence Creation. The value of Business intelligence -Value driven and Information use.</a:t>
            </a:r>
            <a:endParaRPr lang="en-IN" dirty="0"/>
          </a:p>
        </p:txBody>
      </p:sp>
    </p:spTree>
    <p:extLst>
      <p:ext uri="{BB962C8B-B14F-4D97-AF65-F5344CB8AC3E}">
        <p14:creationId xmlns:p14="http://schemas.microsoft.com/office/powerpoint/2010/main" val="2240468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Drivers of Business Intelligence</a:t>
            </a:r>
            <a:endParaRPr lang="en-IN" dirty="0"/>
          </a:p>
        </p:txBody>
      </p:sp>
      <p:sp>
        <p:nvSpPr>
          <p:cNvPr id="3" name="Content Placeholder 2"/>
          <p:cNvSpPr>
            <a:spLocks noGrp="1"/>
          </p:cNvSpPr>
          <p:nvPr>
            <p:ph idx="1"/>
          </p:nvPr>
        </p:nvSpPr>
        <p:spPr/>
        <p:txBody>
          <a:bodyPr>
            <a:normAutofit fontScale="92500" lnSpcReduction="10000"/>
          </a:bodyPr>
          <a:lstStyle/>
          <a:p>
            <a:r>
              <a:rPr lang="en-IN" dirty="0"/>
              <a:t>Tech </a:t>
            </a:r>
            <a:r>
              <a:rPr lang="en-IN" dirty="0" smtClean="0"/>
              <a:t>Drivers</a:t>
            </a:r>
          </a:p>
          <a:p>
            <a:r>
              <a:rPr lang="en-IN" dirty="0"/>
              <a:t>Business Drivers </a:t>
            </a:r>
            <a:endParaRPr lang="en-IN" dirty="0" smtClean="0"/>
          </a:p>
          <a:p>
            <a:r>
              <a:rPr lang="en-IN" dirty="0"/>
              <a:t>Bottom Line </a:t>
            </a:r>
            <a:endParaRPr lang="en-IN" dirty="0" smtClean="0"/>
          </a:p>
          <a:p>
            <a:r>
              <a:rPr lang="en-US" dirty="0"/>
              <a:t>The survey found that the top three drivers underpinning the decision to implement a BI solution are:</a:t>
            </a:r>
          </a:p>
          <a:p>
            <a:endParaRPr lang="en-US" dirty="0"/>
          </a:p>
          <a:p>
            <a:r>
              <a:rPr lang="en-US" dirty="0"/>
              <a:t>The ability of a BI solution to help produce better business decisions via timely, accurate and more comprehensive analysis of available corporate information assets</a:t>
            </a:r>
          </a:p>
          <a:p>
            <a:r>
              <a:rPr lang="en-US" dirty="0"/>
              <a:t>The ability of BI to identify growth opportunities</a:t>
            </a:r>
          </a:p>
          <a:p>
            <a:r>
              <a:rPr lang="en-US" dirty="0"/>
              <a:t>The ability of BI to reduce costs and wastage by identifying areas of high expenditure, operational inefficiencies and analyzing transactional records</a:t>
            </a:r>
            <a:endParaRPr lang="en-IN" dirty="0"/>
          </a:p>
        </p:txBody>
      </p:sp>
    </p:spTree>
    <p:extLst>
      <p:ext uri="{BB962C8B-B14F-4D97-AF65-F5344CB8AC3E}">
        <p14:creationId xmlns:p14="http://schemas.microsoft.com/office/powerpoint/2010/main" val="1668009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Underpin strategic adjustments in real-time (or near real-time)</a:t>
            </a:r>
          </a:p>
          <a:p>
            <a:r>
              <a:rPr lang="en-US" dirty="0"/>
              <a:t>Identify risks and threats</a:t>
            </a:r>
          </a:p>
          <a:p>
            <a:r>
              <a:rPr lang="en-US" dirty="0"/>
              <a:t>Increase customer profitability</a:t>
            </a:r>
          </a:p>
          <a:p>
            <a:r>
              <a:rPr lang="en-US" dirty="0"/>
              <a:t>Improve and measure workplace productivity by employee, department or function</a:t>
            </a:r>
          </a:p>
          <a:p>
            <a:r>
              <a:rPr lang="en-US" dirty="0"/>
              <a:t>Improve operational and supply chain efficiencies</a:t>
            </a:r>
            <a:endParaRPr lang="en-IN" dirty="0"/>
          </a:p>
        </p:txBody>
      </p:sp>
    </p:spTree>
    <p:extLst>
      <p:ext uri="{BB962C8B-B14F-4D97-AF65-F5344CB8AC3E}">
        <p14:creationId xmlns:p14="http://schemas.microsoft.com/office/powerpoint/2010/main" val="2739698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Performance Indicators and Performance Metrics</a:t>
            </a:r>
            <a:endParaRPr lang="en-IN" dirty="0"/>
          </a:p>
        </p:txBody>
      </p:sp>
      <p:pic>
        <p:nvPicPr>
          <p:cNvPr id="4" name="Content Placeholder 3"/>
          <p:cNvPicPr>
            <a:picLocks noGrp="1" noChangeAspect="1"/>
          </p:cNvPicPr>
          <p:nvPr>
            <p:ph idx="1"/>
          </p:nvPr>
        </p:nvPicPr>
        <p:blipFill>
          <a:blip r:embed="rId2"/>
          <a:stretch>
            <a:fillRect/>
          </a:stretch>
        </p:blipFill>
        <p:spPr>
          <a:xfrm>
            <a:off x="2064941" y="2160588"/>
            <a:ext cx="5822155" cy="3881437"/>
          </a:xfrm>
          <a:prstGeom prst="rect">
            <a:avLst/>
          </a:prstGeom>
        </p:spPr>
      </p:pic>
    </p:spTree>
    <p:extLst>
      <p:ext uri="{BB962C8B-B14F-4D97-AF65-F5344CB8AC3E}">
        <p14:creationId xmlns:p14="http://schemas.microsoft.com/office/powerpoint/2010/main" val="2640737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06162"/>
          </a:xfrm>
        </p:spPr>
        <p:txBody>
          <a:bodyPr/>
          <a:lstStyle/>
          <a:p>
            <a:r>
              <a:rPr lang="en-US" dirty="0" smtClean="0"/>
              <a:t>KPI </a:t>
            </a:r>
            <a:endParaRPr lang="en-IN" dirty="0"/>
          </a:p>
        </p:txBody>
      </p:sp>
      <p:sp>
        <p:nvSpPr>
          <p:cNvPr id="3" name="Content Placeholder 2"/>
          <p:cNvSpPr>
            <a:spLocks noGrp="1"/>
          </p:cNvSpPr>
          <p:nvPr>
            <p:ph idx="1"/>
          </p:nvPr>
        </p:nvSpPr>
        <p:spPr/>
        <p:txBody>
          <a:bodyPr/>
          <a:lstStyle/>
          <a:p>
            <a:r>
              <a:rPr lang="en-US" dirty="0"/>
              <a:t>Key performance indicators (KPIs) measure a company's success vs. a set of targets, objectives, or industry peers. KPIs can be financial, including net profit (or the bottom line, net income), revenues minus certain expenses, or the current </a:t>
            </a:r>
            <a:r>
              <a:rPr lang="en-US" dirty="0" smtClean="0"/>
              <a:t>ratio </a:t>
            </a:r>
            <a:r>
              <a:rPr lang="en-US" dirty="0"/>
              <a:t>(liquidity and cash availability</a:t>
            </a:r>
            <a:r>
              <a:rPr lang="en-US" dirty="0" smtClean="0"/>
              <a:t>).</a:t>
            </a:r>
          </a:p>
          <a:p>
            <a:r>
              <a:rPr lang="en-US" dirty="0"/>
              <a:t>What are Key Performance Indicators and metrics?</a:t>
            </a:r>
          </a:p>
          <a:p>
            <a:r>
              <a:rPr lang="en-US" dirty="0"/>
              <a:t>Key performance indicators are data that show you just how good you are at attaining your business goals. Meanwhile, metrics track the status of your business processes. With KPIs, you will know if you're hitting your overall business targets, while metrics focus on the performance of specific business processes.</a:t>
            </a:r>
            <a:endParaRPr lang="en-IN" dirty="0"/>
          </a:p>
        </p:txBody>
      </p:sp>
    </p:spTree>
    <p:extLst>
      <p:ext uri="{BB962C8B-B14F-4D97-AF65-F5344CB8AC3E}">
        <p14:creationId xmlns:p14="http://schemas.microsoft.com/office/powerpoint/2010/main" val="2617592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84886"/>
          </a:xfrm>
        </p:spPr>
        <p:txBody>
          <a:bodyPr>
            <a:normAutofit fontScale="90000"/>
          </a:bodyPr>
          <a:lstStyle/>
          <a:p>
            <a:r>
              <a:rPr lang="en-US" dirty="0" smtClean="0"/>
              <a:t>KPI AND METRICS</a:t>
            </a:r>
            <a:endParaRPr lang="en-IN" dirty="0"/>
          </a:p>
        </p:txBody>
      </p:sp>
      <p:pic>
        <p:nvPicPr>
          <p:cNvPr id="4" name="Content Placeholder 3"/>
          <p:cNvPicPr>
            <a:picLocks noGrp="1" noChangeAspect="1"/>
          </p:cNvPicPr>
          <p:nvPr>
            <p:ph idx="1"/>
          </p:nvPr>
        </p:nvPicPr>
        <p:blipFill>
          <a:blip r:embed="rId2"/>
          <a:stretch>
            <a:fillRect/>
          </a:stretch>
        </p:blipFill>
        <p:spPr>
          <a:xfrm>
            <a:off x="1095632" y="1540476"/>
            <a:ext cx="7743568" cy="4501549"/>
          </a:xfrm>
          <a:prstGeom prst="rect">
            <a:avLst/>
          </a:prstGeom>
        </p:spPr>
      </p:pic>
    </p:spTree>
    <p:extLst>
      <p:ext uri="{BB962C8B-B14F-4D97-AF65-F5344CB8AC3E}">
        <p14:creationId xmlns:p14="http://schemas.microsoft.com/office/powerpoint/2010/main" val="3503846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KPI AND METRICS</a:t>
            </a:r>
            <a:endParaRPr lang="en-IN" dirty="0"/>
          </a:p>
        </p:txBody>
      </p:sp>
      <p:pic>
        <p:nvPicPr>
          <p:cNvPr id="4" name="Content Placeholder 3"/>
          <p:cNvPicPr>
            <a:picLocks noGrp="1" noChangeAspect="1"/>
          </p:cNvPicPr>
          <p:nvPr>
            <p:ph idx="1"/>
          </p:nvPr>
        </p:nvPicPr>
        <p:blipFill>
          <a:blip r:embed="rId2"/>
          <a:stretch>
            <a:fillRect/>
          </a:stretch>
        </p:blipFill>
        <p:spPr>
          <a:xfrm>
            <a:off x="2118519" y="2601119"/>
            <a:ext cx="5715000" cy="3000375"/>
          </a:xfrm>
          <a:prstGeom prst="rect">
            <a:avLst/>
          </a:prstGeom>
        </p:spPr>
      </p:pic>
    </p:spTree>
    <p:extLst>
      <p:ext uri="{BB962C8B-B14F-4D97-AF65-F5344CB8AC3E}">
        <p14:creationId xmlns:p14="http://schemas.microsoft.com/office/powerpoint/2010/main" val="1932128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BI – Explain Key Performance Indicators (KPIs) dashboards</a:t>
            </a:r>
            <a:endParaRPr lang="en-IN" dirty="0"/>
          </a:p>
        </p:txBody>
      </p:sp>
      <p:sp>
        <p:nvSpPr>
          <p:cNvPr id="3" name="Content Placeholder 2"/>
          <p:cNvSpPr>
            <a:spLocks noGrp="1"/>
          </p:cNvSpPr>
          <p:nvPr>
            <p:ph idx="1"/>
          </p:nvPr>
        </p:nvSpPr>
        <p:spPr/>
        <p:txBody>
          <a:bodyPr/>
          <a:lstStyle/>
          <a:p>
            <a:r>
              <a:rPr lang="en-US" dirty="0"/>
              <a:t>The KPIs evaluate an association’s performance in different areas by assessing quantifiable measure values. In businesses, KPIs play an essential part as visual cues that indicate growth by assessing values and measurable pretensions. A KPI always has a base value or measure which is estimated against a target value. That is, comparing the factual performance with the target set. You can estimate the performances in an analysis just by seeing the KPIs.</a:t>
            </a:r>
            <a:endParaRPr lang="en-IN" dirty="0"/>
          </a:p>
        </p:txBody>
      </p:sp>
    </p:spTree>
    <p:extLst>
      <p:ext uri="{BB962C8B-B14F-4D97-AF65-F5344CB8AC3E}">
        <p14:creationId xmlns:p14="http://schemas.microsoft.com/office/powerpoint/2010/main" val="729776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Key Performance Indicators (KPI) Visualization</a:t>
            </a:r>
            <a:endParaRPr lang="en-IN" dirty="0"/>
          </a:p>
        </p:txBody>
      </p:sp>
      <p:sp>
        <p:nvSpPr>
          <p:cNvPr id="3" name="Content Placeholder 2"/>
          <p:cNvSpPr>
            <a:spLocks noGrp="1"/>
          </p:cNvSpPr>
          <p:nvPr>
            <p:ph idx="1"/>
          </p:nvPr>
        </p:nvSpPr>
        <p:spPr/>
        <p:txBody>
          <a:bodyPr/>
          <a:lstStyle/>
          <a:p>
            <a:r>
              <a:rPr lang="en-US" dirty="0"/>
              <a:t>To Demonstrate KPI we will import an excel sheet to power BI, following steps are to be followed, The dataset used for the visualization is here. Below is the screenshot of the dataset:</a:t>
            </a:r>
          </a:p>
          <a:p>
            <a:endParaRPr lang="en-US" dirty="0"/>
          </a:p>
          <a:p>
            <a:endParaRPr lang="en-IN" dirty="0"/>
          </a:p>
        </p:txBody>
      </p:sp>
      <p:pic>
        <p:nvPicPr>
          <p:cNvPr id="4" name="Picture 3"/>
          <p:cNvPicPr>
            <a:picLocks noChangeAspect="1"/>
          </p:cNvPicPr>
          <p:nvPr/>
        </p:nvPicPr>
        <p:blipFill>
          <a:blip r:embed="rId2"/>
          <a:stretch>
            <a:fillRect/>
          </a:stretch>
        </p:blipFill>
        <p:spPr>
          <a:xfrm>
            <a:off x="3219321" y="3147351"/>
            <a:ext cx="3743325" cy="3124200"/>
          </a:xfrm>
          <a:prstGeom prst="rect">
            <a:avLst/>
          </a:prstGeom>
        </p:spPr>
      </p:pic>
    </p:spTree>
    <p:extLst>
      <p:ext uri="{BB962C8B-B14F-4D97-AF65-F5344CB8AC3E}">
        <p14:creationId xmlns:p14="http://schemas.microsoft.com/office/powerpoint/2010/main" val="458144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1: Under the Home, Tab Click on Get data.</a:t>
            </a:r>
            <a:br>
              <a:rPr lang="en-US" dirty="0"/>
            </a:br>
            <a:r>
              <a:rPr lang="en-US" dirty="0"/>
              <a:t/>
            </a:r>
            <a:br>
              <a:rPr lang="en-US" dirty="0"/>
            </a:br>
            <a:endParaRPr lang="en-IN" dirty="0"/>
          </a:p>
        </p:txBody>
      </p:sp>
      <p:pic>
        <p:nvPicPr>
          <p:cNvPr id="4" name="Content Placeholder 3"/>
          <p:cNvPicPr>
            <a:picLocks noGrp="1" noChangeAspect="1"/>
          </p:cNvPicPr>
          <p:nvPr>
            <p:ph idx="1"/>
          </p:nvPr>
        </p:nvPicPr>
        <p:blipFill>
          <a:blip r:embed="rId2"/>
          <a:stretch>
            <a:fillRect/>
          </a:stretch>
        </p:blipFill>
        <p:spPr>
          <a:xfrm>
            <a:off x="3085306" y="2929731"/>
            <a:ext cx="3781425" cy="2343150"/>
          </a:xfrm>
          <a:prstGeom prst="rect">
            <a:avLst/>
          </a:prstGeom>
        </p:spPr>
      </p:pic>
    </p:spTree>
    <p:extLst>
      <p:ext uri="{BB962C8B-B14F-4D97-AF65-F5344CB8AC3E}">
        <p14:creationId xmlns:p14="http://schemas.microsoft.com/office/powerpoint/2010/main" val="3861950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Click on Excel Workbook.</a:t>
            </a:r>
            <a:endParaRPr lang="en-IN" dirty="0"/>
          </a:p>
        </p:txBody>
      </p:sp>
      <p:pic>
        <p:nvPicPr>
          <p:cNvPr id="4" name="Content Placeholder 3"/>
          <p:cNvPicPr>
            <a:picLocks noGrp="1" noChangeAspect="1"/>
          </p:cNvPicPr>
          <p:nvPr>
            <p:ph idx="1"/>
          </p:nvPr>
        </p:nvPicPr>
        <p:blipFill>
          <a:blip r:embed="rId2"/>
          <a:stretch>
            <a:fillRect/>
          </a:stretch>
        </p:blipFill>
        <p:spPr>
          <a:xfrm>
            <a:off x="885031" y="2615406"/>
            <a:ext cx="8181975" cy="2971800"/>
          </a:xfrm>
          <a:prstGeom prst="rect">
            <a:avLst/>
          </a:prstGeom>
        </p:spPr>
      </p:pic>
    </p:spTree>
    <p:extLst>
      <p:ext uri="{BB962C8B-B14F-4D97-AF65-F5344CB8AC3E}">
        <p14:creationId xmlns:p14="http://schemas.microsoft.com/office/powerpoint/2010/main" val="2456913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3: Import the data from your machine and select the check boxes shown below.</a:t>
            </a:r>
            <a:br>
              <a:rPr lang="en-US" dirty="0"/>
            </a:br>
            <a:r>
              <a:rPr lang="en-US" dirty="0"/>
              <a:t/>
            </a:r>
            <a:br>
              <a:rPr lang="en-US" dirty="0"/>
            </a:br>
            <a:endParaRPr lang="en-IN" dirty="0"/>
          </a:p>
        </p:txBody>
      </p:sp>
      <p:pic>
        <p:nvPicPr>
          <p:cNvPr id="4" name="Content Placeholder 3"/>
          <p:cNvPicPr>
            <a:picLocks noGrp="1" noChangeAspect="1"/>
          </p:cNvPicPr>
          <p:nvPr>
            <p:ph idx="1"/>
          </p:nvPr>
        </p:nvPicPr>
        <p:blipFill>
          <a:blip r:embed="rId2"/>
          <a:stretch>
            <a:fillRect/>
          </a:stretch>
        </p:blipFill>
        <p:spPr>
          <a:xfrm>
            <a:off x="2000029" y="2160588"/>
            <a:ext cx="5951980" cy="3881437"/>
          </a:xfrm>
          <a:prstGeom prst="rect">
            <a:avLst/>
          </a:prstGeom>
        </p:spPr>
      </p:pic>
    </p:spTree>
    <p:extLst>
      <p:ext uri="{BB962C8B-B14F-4D97-AF65-F5344CB8AC3E}">
        <p14:creationId xmlns:p14="http://schemas.microsoft.com/office/powerpoint/2010/main" val="1281316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4: Under the visualization Tab. Select Build Visuals.</a:t>
            </a:r>
            <a:br>
              <a:rPr lang="en-US" dirty="0"/>
            </a:br>
            <a:r>
              <a:rPr lang="en-US" dirty="0"/>
              <a:t/>
            </a:r>
            <a:br>
              <a:rPr lang="en-US" dirty="0"/>
            </a:br>
            <a:endParaRPr lang="en-IN" dirty="0"/>
          </a:p>
        </p:txBody>
      </p:sp>
      <p:sp>
        <p:nvSpPr>
          <p:cNvPr id="3" name="Content Placeholder 2"/>
          <p:cNvSpPr>
            <a:spLocks noGrp="1"/>
          </p:cNvSpPr>
          <p:nvPr>
            <p:ph idx="1"/>
          </p:nvPr>
        </p:nvSpPr>
        <p:spPr/>
        <p:txBody>
          <a:bodyPr/>
          <a:lstStyle/>
          <a:p>
            <a:r>
              <a:rPr lang="en-US" dirty="0"/>
              <a:t>Step 4: Under the visualization Tab. Select Build Visuals.</a:t>
            </a:r>
          </a:p>
          <a:p>
            <a:endParaRPr lang="en-US" dirty="0"/>
          </a:p>
          <a:p>
            <a:endParaRPr lang="en-IN" dirty="0"/>
          </a:p>
        </p:txBody>
      </p:sp>
      <p:pic>
        <p:nvPicPr>
          <p:cNvPr id="4" name="Picture 3"/>
          <p:cNvPicPr>
            <a:picLocks noChangeAspect="1"/>
          </p:cNvPicPr>
          <p:nvPr/>
        </p:nvPicPr>
        <p:blipFill>
          <a:blip r:embed="rId2"/>
          <a:stretch>
            <a:fillRect/>
          </a:stretch>
        </p:blipFill>
        <p:spPr>
          <a:xfrm>
            <a:off x="2591572" y="2691275"/>
            <a:ext cx="2609850" cy="1409700"/>
          </a:xfrm>
          <a:prstGeom prst="rect">
            <a:avLst/>
          </a:prstGeom>
        </p:spPr>
      </p:pic>
    </p:spTree>
    <p:extLst>
      <p:ext uri="{BB962C8B-B14F-4D97-AF65-F5344CB8AC3E}">
        <p14:creationId xmlns:p14="http://schemas.microsoft.com/office/powerpoint/2010/main" val="1728814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5: Now select the KPI icon as shown below.</a:t>
            </a:r>
            <a:endParaRPr lang="en-IN" dirty="0"/>
          </a:p>
        </p:txBody>
      </p:sp>
      <p:sp>
        <p:nvSpPr>
          <p:cNvPr id="3" name="Content Placeholder 2"/>
          <p:cNvSpPr>
            <a:spLocks noGrp="1"/>
          </p:cNvSpPr>
          <p:nvPr>
            <p:ph idx="1"/>
          </p:nvPr>
        </p:nvSpPr>
        <p:spPr/>
        <p:txBody>
          <a:bodyPr/>
          <a:lstStyle/>
          <a:p>
            <a:r>
              <a:rPr lang="en-US" dirty="0"/>
              <a:t>KPI has 3 fields which are Values, Trend Axis and Target Goal.</a:t>
            </a:r>
          </a:p>
          <a:p>
            <a:endParaRPr lang="en-US" dirty="0"/>
          </a:p>
          <a:p>
            <a:r>
              <a:rPr lang="en-US" dirty="0"/>
              <a:t>Values: It is the actual values against targeted values.</a:t>
            </a:r>
          </a:p>
          <a:p>
            <a:r>
              <a:rPr lang="en-US" dirty="0"/>
              <a:t>Trend Axis: It will be the month name or number axis line.</a:t>
            </a:r>
          </a:p>
          <a:p>
            <a:r>
              <a:rPr lang="en-US" dirty="0"/>
              <a:t>Target Goal: target to be achieved.</a:t>
            </a:r>
            <a:endParaRPr lang="en-IN" dirty="0"/>
          </a:p>
        </p:txBody>
      </p:sp>
    </p:spTree>
    <p:extLst>
      <p:ext uri="{BB962C8B-B14F-4D97-AF65-F5344CB8AC3E}">
        <p14:creationId xmlns:p14="http://schemas.microsoft.com/office/powerpoint/2010/main" val="3425649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1163603" y="2160588"/>
            <a:ext cx="7624831" cy="3881437"/>
          </a:xfrm>
          <a:prstGeom prst="rect">
            <a:avLst/>
          </a:prstGeom>
        </p:spPr>
      </p:pic>
    </p:spTree>
    <p:extLst>
      <p:ext uri="{BB962C8B-B14F-4D97-AF65-F5344CB8AC3E}">
        <p14:creationId xmlns:p14="http://schemas.microsoft.com/office/powerpoint/2010/main" val="1197270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KPI has 3 fields which are Values, Trend Axis and Target Goal.</a:t>
            </a:r>
          </a:p>
          <a:p>
            <a:endParaRPr lang="en-US" dirty="0"/>
          </a:p>
          <a:p>
            <a:r>
              <a:rPr lang="en-US" dirty="0"/>
              <a:t>Values: It is the actual values against targeted values.</a:t>
            </a:r>
          </a:p>
          <a:p>
            <a:r>
              <a:rPr lang="en-US" dirty="0"/>
              <a:t>Trend Axis: It will be the month name or number axis line.</a:t>
            </a:r>
          </a:p>
          <a:p>
            <a:r>
              <a:rPr lang="en-US" dirty="0"/>
              <a:t>Target Goal: target to be achieved.</a:t>
            </a:r>
            <a:endParaRPr lang="en-IN" dirty="0"/>
          </a:p>
        </p:txBody>
      </p:sp>
    </p:spTree>
    <p:extLst>
      <p:ext uri="{BB962C8B-B14F-4D97-AF65-F5344CB8AC3E}">
        <p14:creationId xmlns:p14="http://schemas.microsoft.com/office/powerpoint/2010/main" val="1235931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1960605" y="2160588"/>
            <a:ext cx="5523379" cy="3881437"/>
          </a:xfrm>
          <a:prstGeom prst="rect">
            <a:avLst/>
          </a:prstGeom>
        </p:spPr>
      </p:pic>
    </p:spTree>
    <p:extLst>
      <p:ext uri="{BB962C8B-B14F-4D97-AF65-F5344CB8AC3E}">
        <p14:creationId xmlns:p14="http://schemas.microsoft.com/office/powerpoint/2010/main" val="3135495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6: Drag and Drop the fields in the respective row as shown below.</a:t>
            </a:r>
            <a:endParaRPr lang="en-IN" dirty="0"/>
          </a:p>
        </p:txBody>
      </p:sp>
      <p:pic>
        <p:nvPicPr>
          <p:cNvPr id="4" name="Content Placeholder 3"/>
          <p:cNvPicPr>
            <a:picLocks noGrp="1" noChangeAspect="1"/>
          </p:cNvPicPr>
          <p:nvPr>
            <p:ph idx="1"/>
          </p:nvPr>
        </p:nvPicPr>
        <p:blipFill>
          <a:blip r:embed="rId2"/>
          <a:stretch>
            <a:fillRect/>
          </a:stretch>
        </p:blipFill>
        <p:spPr>
          <a:xfrm>
            <a:off x="3543647" y="2160588"/>
            <a:ext cx="2864744" cy="3881437"/>
          </a:xfrm>
          <a:prstGeom prst="rect">
            <a:avLst/>
          </a:prstGeom>
        </p:spPr>
      </p:pic>
    </p:spTree>
    <p:extLst>
      <p:ext uri="{BB962C8B-B14F-4D97-AF65-F5344CB8AC3E}">
        <p14:creationId xmlns:p14="http://schemas.microsoft.com/office/powerpoint/2010/main" val="293500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7: Now the Dashboard of Power BI looks like this.</a:t>
            </a:r>
            <a:endParaRPr lang="en-IN" dirty="0"/>
          </a:p>
        </p:txBody>
      </p:sp>
      <p:sp>
        <p:nvSpPr>
          <p:cNvPr id="3" name="Content Placeholder 2"/>
          <p:cNvSpPr>
            <a:spLocks noGrp="1"/>
          </p:cNvSpPr>
          <p:nvPr>
            <p:ph idx="1"/>
          </p:nvPr>
        </p:nvSpPr>
        <p:spPr/>
        <p:txBody>
          <a:bodyPr/>
          <a:lstStyle/>
          <a:p>
            <a:endParaRPr lang="en-IN" dirty="0"/>
          </a:p>
        </p:txBody>
      </p:sp>
      <p:pic>
        <p:nvPicPr>
          <p:cNvPr id="4" name="Picture 3"/>
          <p:cNvPicPr>
            <a:picLocks noChangeAspect="1"/>
          </p:cNvPicPr>
          <p:nvPr/>
        </p:nvPicPr>
        <p:blipFill>
          <a:blip r:embed="rId2"/>
          <a:stretch>
            <a:fillRect/>
          </a:stretch>
        </p:blipFill>
        <p:spPr>
          <a:xfrm>
            <a:off x="677334" y="2160589"/>
            <a:ext cx="9525000" cy="4629150"/>
          </a:xfrm>
          <a:prstGeom prst="rect">
            <a:avLst/>
          </a:prstGeom>
        </p:spPr>
      </p:pic>
    </p:spTree>
    <p:extLst>
      <p:ext uri="{BB962C8B-B14F-4D97-AF65-F5344CB8AC3E}">
        <p14:creationId xmlns:p14="http://schemas.microsoft.com/office/powerpoint/2010/main" val="832920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41405"/>
          </a:xfrm>
        </p:spPr>
        <p:txBody>
          <a:bodyPr>
            <a:normAutofit fontScale="90000"/>
          </a:bodyPr>
          <a:lstStyle/>
          <a:p>
            <a:r>
              <a:rPr lang="en-IN" dirty="0"/>
              <a:t>KPI Advantages</a:t>
            </a:r>
            <a:br>
              <a:rPr lang="en-IN" dirty="0"/>
            </a:br>
            <a:endParaRPr lang="en-IN" dirty="0"/>
          </a:p>
        </p:txBody>
      </p:sp>
      <p:sp>
        <p:nvSpPr>
          <p:cNvPr id="3" name="Content Placeholder 2"/>
          <p:cNvSpPr>
            <a:spLocks noGrp="1"/>
          </p:cNvSpPr>
          <p:nvPr>
            <p:ph idx="1"/>
          </p:nvPr>
        </p:nvSpPr>
        <p:spPr>
          <a:xfrm>
            <a:off x="677334" y="1655805"/>
            <a:ext cx="8596668" cy="4385557"/>
          </a:xfrm>
        </p:spPr>
        <p:txBody>
          <a:bodyPr>
            <a:normAutofit fontScale="70000" lnSpcReduction="20000"/>
          </a:bodyPr>
          <a:lstStyle/>
          <a:p>
            <a:r>
              <a:rPr lang="en-US" dirty="0"/>
              <a:t>KPI Advantages</a:t>
            </a:r>
          </a:p>
          <a:p>
            <a:r>
              <a:rPr lang="en-US" dirty="0"/>
              <a:t>Monitoring the target: This KPI helps the organization to monitor their performance in a visuals manner </a:t>
            </a:r>
          </a:p>
          <a:p>
            <a:r>
              <a:rPr lang="en-US" dirty="0"/>
              <a:t>Timely reports: With This KPI the organization will be able to check whether they are able to execute their plan or not</a:t>
            </a:r>
          </a:p>
          <a:p>
            <a:r>
              <a:rPr lang="en-US" dirty="0"/>
              <a:t>Simplify Process: Modern businesses can use KPIs for their advancement of profit</a:t>
            </a:r>
          </a:p>
          <a:p>
            <a:endParaRPr lang="en-US" dirty="0" smtClean="0"/>
          </a:p>
          <a:p>
            <a:r>
              <a:rPr lang="en-US" dirty="0" smtClean="0"/>
              <a:t>KPI </a:t>
            </a:r>
            <a:r>
              <a:rPr lang="en-US" dirty="0"/>
              <a:t>Disadvantages</a:t>
            </a:r>
          </a:p>
          <a:p>
            <a:r>
              <a:rPr lang="en-US" dirty="0"/>
              <a:t>Time Taking: It does not offer information on which action can be taken immediately</a:t>
            </a:r>
          </a:p>
          <a:p>
            <a:r>
              <a:rPr lang="en-US" dirty="0"/>
              <a:t>Implementation: Do not try to overload with more than one data, always start with simple implementation</a:t>
            </a:r>
          </a:p>
          <a:p>
            <a:r>
              <a:rPr lang="en-US" dirty="0"/>
              <a:t>Uses of KPI</a:t>
            </a:r>
          </a:p>
          <a:p>
            <a:r>
              <a:rPr lang="en-US" dirty="0"/>
              <a:t>Working with KPIs is easy and you can use them to display inversely complex information. The two main reasons why you should use KPIs in your Power BI are </a:t>
            </a:r>
          </a:p>
          <a:p>
            <a:endParaRPr lang="en-US" dirty="0"/>
          </a:p>
          <a:p>
            <a:r>
              <a:rPr lang="en-US" dirty="0"/>
              <a:t>We use KPIs to measure progress i.e., positive or negative change over time. For illustration – whether you’re getting correct results or not, meeting targets or lagging before. </a:t>
            </a:r>
          </a:p>
          <a:p>
            <a:r>
              <a:rPr lang="en-US" dirty="0"/>
              <a:t>We also use KPIs to measure the distance to a target or a thing. In this case, you dissect how far behind you’re in meeting your target.</a:t>
            </a:r>
            <a:endParaRPr lang="en-IN" dirty="0"/>
          </a:p>
        </p:txBody>
      </p:sp>
    </p:spTree>
    <p:extLst>
      <p:ext uri="{BB962C8B-B14F-4D97-AF65-F5344CB8AC3E}">
        <p14:creationId xmlns:p14="http://schemas.microsoft.com/office/powerpoint/2010/main" val="26228596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388394" y="2160588"/>
            <a:ext cx="5175249" cy="3881437"/>
          </a:xfrm>
          <a:prstGeom prst="rect">
            <a:avLst/>
          </a:prstGeom>
        </p:spPr>
      </p:pic>
    </p:spTree>
    <p:extLst>
      <p:ext uri="{BB962C8B-B14F-4D97-AF65-F5344CB8AC3E}">
        <p14:creationId xmlns:p14="http://schemas.microsoft.com/office/powerpoint/2010/main" val="659232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 Architecture/Framework</a:t>
            </a:r>
          </a:p>
        </p:txBody>
      </p:sp>
      <p:pic>
        <p:nvPicPr>
          <p:cNvPr id="4" name="Content Placeholder 3"/>
          <p:cNvPicPr>
            <a:picLocks noGrp="1" noChangeAspect="1"/>
          </p:cNvPicPr>
          <p:nvPr>
            <p:ph idx="1"/>
          </p:nvPr>
        </p:nvPicPr>
        <p:blipFill>
          <a:blip r:embed="rId2"/>
          <a:stretch>
            <a:fillRect/>
          </a:stretch>
        </p:blipFill>
        <p:spPr>
          <a:xfrm>
            <a:off x="677863" y="1194486"/>
            <a:ext cx="8596312" cy="5049795"/>
          </a:xfrm>
          <a:prstGeom prst="rect">
            <a:avLst/>
          </a:prstGeom>
        </p:spPr>
      </p:pic>
    </p:spTree>
    <p:extLst>
      <p:ext uri="{BB962C8B-B14F-4D97-AF65-F5344CB8AC3E}">
        <p14:creationId xmlns:p14="http://schemas.microsoft.com/office/powerpoint/2010/main" val="2466218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922638" y="2160588"/>
            <a:ext cx="6575721" cy="3881437"/>
          </a:xfrm>
          <a:prstGeom prst="rect">
            <a:avLst/>
          </a:prstGeom>
        </p:spPr>
      </p:pic>
    </p:spTree>
    <p:extLst>
      <p:ext uri="{BB962C8B-B14F-4D97-AF65-F5344CB8AC3E}">
        <p14:creationId xmlns:p14="http://schemas.microsoft.com/office/powerpoint/2010/main" val="3774963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Business Intelligence Best Practice</a:t>
            </a:r>
          </a:p>
        </p:txBody>
      </p:sp>
      <p:sp>
        <p:nvSpPr>
          <p:cNvPr id="3" name="Content Placeholder 2"/>
          <p:cNvSpPr>
            <a:spLocks noGrp="1"/>
          </p:cNvSpPr>
          <p:nvPr>
            <p:ph idx="1"/>
          </p:nvPr>
        </p:nvSpPr>
        <p:spPr>
          <a:xfrm>
            <a:off x="677334" y="1458097"/>
            <a:ext cx="8596668" cy="4583265"/>
          </a:xfrm>
        </p:spPr>
        <p:txBody>
          <a:bodyPr/>
          <a:lstStyle/>
          <a:p>
            <a:r>
              <a:rPr lang="en-US" dirty="0" smtClean="0"/>
              <a:t>1 Business </a:t>
            </a:r>
            <a:r>
              <a:rPr lang="en-US" dirty="0"/>
              <a:t>Buy-in, Collaboration, and Ownership</a:t>
            </a:r>
          </a:p>
          <a:p>
            <a:r>
              <a:rPr lang="en-US" dirty="0"/>
              <a:t>2. BI Implementation </a:t>
            </a:r>
            <a:r>
              <a:rPr lang="en-US" dirty="0" smtClean="0"/>
              <a:t>Strategy</a:t>
            </a:r>
          </a:p>
          <a:p>
            <a:r>
              <a:rPr lang="en-US" dirty="0"/>
              <a:t>3. Monitor, Learn and Adjust the </a:t>
            </a:r>
            <a:r>
              <a:rPr lang="en-US" dirty="0" smtClean="0"/>
              <a:t>process</a:t>
            </a:r>
          </a:p>
          <a:p>
            <a:r>
              <a:rPr lang="en-US" dirty="0"/>
              <a:t>4. Data Validation for Certainty and </a:t>
            </a:r>
            <a:r>
              <a:rPr lang="en-US" dirty="0" smtClean="0"/>
              <a:t>Accuracy</a:t>
            </a:r>
          </a:p>
          <a:p>
            <a:r>
              <a:rPr lang="en-US" dirty="0"/>
              <a:t>5. Business Challenge comes first and then the </a:t>
            </a:r>
            <a:r>
              <a:rPr lang="en-US" dirty="0" smtClean="0"/>
              <a:t>Query</a:t>
            </a:r>
          </a:p>
          <a:p>
            <a:r>
              <a:rPr lang="en-US" dirty="0"/>
              <a:t>6. </a:t>
            </a:r>
            <a:r>
              <a:rPr lang="en-US" dirty="0" smtClean="0"/>
              <a:t>Design </a:t>
            </a:r>
            <a:r>
              <a:rPr lang="en-US" dirty="0"/>
              <a:t>your Business Intelligence dashboard informative and </a:t>
            </a:r>
            <a:r>
              <a:rPr lang="en-US" dirty="0" smtClean="0"/>
              <a:t>impactful</a:t>
            </a:r>
          </a:p>
          <a:p>
            <a:r>
              <a:rPr lang="en-US" dirty="0"/>
              <a:t>7. </a:t>
            </a:r>
            <a:r>
              <a:rPr lang="en-US" dirty="0" smtClean="0"/>
              <a:t>Up skill </a:t>
            </a:r>
            <a:r>
              <a:rPr lang="en-US" dirty="0"/>
              <a:t>the business users</a:t>
            </a:r>
            <a:endParaRPr lang="en-IN" dirty="0"/>
          </a:p>
        </p:txBody>
      </p:sp>
    </p:spTree>
    <p:extLst>
      <p:ext uri="{BB962C8B-B14F-4D97-AF65-F5344CB8AC3E}">
        <p14:creationId xmlns:p14="http://schemas.microsoft.com/office/powerpoint/2010/main" val="10017577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BEST PRACTICES</a:t>
            </a:r>
            <a:endParaRPr lang="en-IN" dirty="0"/>
          </a:p>
        </p:txBody>
      </p:sp>
      <p:pic>
        <p:nvPicPr>
          <p:cNvPr id="4" name="Content Placeholder 3"/>
          <p:cNvPicPr>
            <a:picLocks noGrp="1" noChangeAspect="1"/>
          </p:cNvPicPr>
          <p:nvPr>
            <p:ph idx="1"/>
          </p:nvPr>
        </p:nvPicPr>
        <p:blipFill>
          <a:blip r:embed="rId2"/>
          <a:stretch>
            <a:fillRect/>
          </a:stretch>
        </p:blipFill>
        <p:spPr>
          <a:xfrm>
            <a:off x="848498" y="1993558"/>
            <a:ext cx="6919922" cy="4563762"/>
          </a:xfrm>
          <a:prstGeom prst="rect">
            <a:avLst/>
          </a:prstGeom>
        </p:spPr>
      </p:pic>
    </p:spTree>
    <p:extLst>
      <p:ext uri="{BB962C8B-B14F-4D97-AF65-F5344CB8AC3E}">
        <p14:creationId xmlns:p14="http://schemas.microsoft.com/office/powerpoint/2010/main" val="1613749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34314"/>
          </a:xfrm>
        </p:spPr>
        <p:txBody>
          <a:bodyPr>
            <a:normAutofit fontScale="90000"/>
          </a:bodyPr>
          <a:lstStyle/>
          <a:p>
            <a:r>
              <a:rPr lang="en-US" dirty="0" smtClean="0"/>
              <a:t>BI BEST PRACTICES</a:t>
            </a:r>
            <a:endParaRPr lang="en-IN" dirty="0"/>
          </a:p>
        </p:txBody>
      </p:sp>
      <p:pic>
        <p:nvPicPr>
          <p:cNvPr id="4" name="Content Placeholder 3"/>
          <p:cNvPicPr>
            <a:picLocks noGrp="1" noChangeAspect="1"/>
          </p:cNvPicPr>
          <p:nvPr>
            <p:ph idx="1"/>
          </p:nvPr>
        </p:nvPicPr>
        <p:blipFill>
          <a:blip r:embed="rId2"/>
          <a:stretch>
            <a:fillRect/>
          </a:stretch>
        </p:blipFill>
        <p:spPr>
          <a:xfrm>
            <a:off x="1525853" y="1243914"/>
            <a:ext cx="6900332" cy="4798111"/>
          </a:xfrm>
          <a:prstGeom prst="rect">
            <a:avLst/>
          </a:prstGeom>
        </p:spPr>
      </p:pic>
    </p:spTree>
    <p:extLst>
      <p:ext uri="{BB962C8B-B14F-4D97-AF65-F5344CB8AC3E}">
        <p14:creationId xmlns:p14="http://schemas.microsoft.com/office/powerpoint/2010/main" val="6006212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Business Intelligence Best Practices</a:t>
            </a:r>
            <a:br>
              <a:rPr lang="en-IN" dirty="0"/>
            </a:br>
            <a:endParaRPr lang="en-IN" dirty="0"/>
          </a:p>
        </p:txBody>
      </p:sp>
      <p:sp>
        <p:nvSpPr>
          <p:cNvPr id="3" name="Content Placeholder 2"/>
          <p:cNvSpPr>
            <a:spLocks noGrp="1"/>
          </p:cNvSpPr>
          <p:nvPr>
            <p:ph idx="1"/>
          </p:nvPr>
        </p:nvSpPr>
        <p:spPr/>
        <p:txBody>
          <a:bodyPr/>
          <a:lstStyle/>
          <a:p>
            <a:r>
              <a:rPr lang="en-US" dirty="0"/>
              <a:t>Business Intelligence Best Practices</a:t>
            </a:r>
          </a:p>
          <a:p>
            <a:r>
              <a:rPr lang="en-US" dirty="0"/>
              <a:t>Business Buy-in, Collaboration, and Ownership</a:t>
            </a:r>
          </a:p>
          <a:p>
            <a:r>
              <a:rPr lang="en-US" dirty="0"/>
              <a:t>Aim for complete buy-in from the executive board and take the help of technology heads to explain the benefits and processes. Form an internal network of contributors to enrich the data environment continuously. This network should consist of personnel from every team including Marketing, Sales, Logistics, Finance, Delivery, Management, and Customer Service. The business units must not depend on IT to generate reports and insight.</a:t>
            </a:r>
          </a:p>
          <a:p>
            <a:endParaRPr lang="en-IN" dirty="0"/>
          </a:p>
        </p:txBody>
      </p:sp>
    </p:spTree>
    <p:extLst>
      <p:ext uri="{BB962C8B-B14F-4D97-AF65-F5344CB8AC3E}">
        <p14:creationId xmlns:p14="http://schemas.microsoft.com/office/powerpoint/2010/main" val="3786205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BI Implementation Strategy</a:t>
            </a:r>
          </a:p>
          <a:p>
            <a:r>
              <a:rPr lang="en-US" dirty="0"/>
              <a:t>A couple of years ago, a Forbes article by a </a:t>
            </a:r>
            <a:r>
              <a:rPr lang="en-US" dirty="0" err="1"/>
              <a:t>fintech</a:t>
            </a:r>
            <a:r>
              <a:rPr lang="en-US" dirty="0"/>
              <a:t> leader predicted that more than 150 </a:t>
            </a:r>
            <a:r>
              <a:rPr lang="en-US" dirty="0" err="1"/>
              <a:t>zettabytes</a:t>
            </a:r>
            <a:r>
              <a:rPr lang="en-US" dirty="0"/>
              <a:t> of real-time data will need analysis by 2025. The complete potential of data is yet to be discovered. We are dealing with massive loads of data and without a practical Business Intelligence implementation strategy, your ROI might not live up to the TCO (Total Cost of Ownership).</a:t>
            </a:r>
          </a:p>
          <a:p>
            <a:endParaRPr lang="en-IN" dirty="0"/>
          </a:p>
        </p:txBody>
      </p:sp>
    </p:spTree>
    <p:extLst>
      <p:ext uri="{BB962C8B-B14F-4D97-AF65-F5344CB8AC3E}">
        <p14:creationId xmlns:p14="http://schemas.microsoft.com/office/powerpoint/2010/main" val="34147685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a:t>
            </a:r>
            <a:endParaRPr lang="en-IN" dirty="0"/>
          </a:p>
        </p:txBody>
      </p:sp>
      <p:sp>
        <p:nvSpPr>
          <p:cNvPr id="3" name="Content Placeholder 2"/>
          <p:cNvSpPr>
            <a:spLocks noGrp="1"/>
          </p:cNvSpPr>
          <p:nvPr>
            <p:ph idx="1"/>
          </p:nvPr>
        </p:nvSpPr>
        <p:spPr/>
        <p:txBody>
          <a:bodyPr/>
          <a:lstStyle/>
          <a:p>
            <a:r>
              <a:rPr lang="en-US" dirty="0"/>
              <a:t>Monitor, Learn and Adjust the process</a:t>
            </a:r>
          </a:p>
          <a:p>
            <a:r>
              <a:rPr lang="en-US" dirty="0"/>
              <a:t>Unless you have a seasoned team of Data Scientists, you will most likely find some roadblocks at the initial phase of your Data Management and Business Intelligence creation. Don’t let a few hiccups dull your motive, rather take the IT team's help to establish continuous monitoring systems, access your data sources, understand the underlying conditions, and adjust the elements to align your BI strategy to your business goals.</a:t>
            </a:r>
          </a:p>
          <a:p>
            <a:endParaRPr lang="en-IN" dirty="0"/>
          </a:p>
        </p:txBody>
      </p:sp>
    </p:spTree>
    <p:extLst>
      <p:ext uri="{BB962C8B-B14F-4D97-AF65-F5344CB8AC3E}">
        <p14:creationId xmlns:p14="http://schemas.microsoft.com/office/powerpoint/2010/main" val="19130772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Data Validation for Certainty and </a:t>
            </a:r>
            <a:r>
              <a:rPr lang="en-US" dirty="0" smtClean="0"/>
              <a:t>Accuracy</a:t>
            </a:r>
          </a:p>
          <a:p>
            <a:r>
              <a:rPr lang="en-US" dirty="0"/>
              <a:t>A ‘Vote in’ doesn’t directly imply trust over the process. A few business units, their leaders, or some of the key contributors may have a lot of questions about how accurate are the insights that are being produced from the so-called Business Intelligence practices. Organizations need strong Data Validation processes in place to gain true trust from every business user. Design the validation process to be able to detect and prevent problematic data, avert faulty insights, and add agility.</a:t>
            </a:r>
            <a:endParaRPr lang="en-IN" dirty="0"/>
          </a:p>
        </p:txBody>
      </p:sp>
    </p:spTree>
    <p:extLst>
      <p:ext uri="{BB962C8B-B14F-4D97-AF65-F5344CB8AC3E}">
        <p14:creationId xmlns:p14="http://schemas.microsoft.com/office/powerpoint/2010/main" val="4101011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dirty="0"/>
              <a:t>Business Challenge comes first and then the Query</a:t>
            </a:r>
          </a:p>
          <a:p>
            <a:r>
              <a:rPr lang="en-US" dirty="0"/>
              <a:t>Just because you’ve built a data repository don’t expect the business users to dive right in with queries. Business Intelligence sure is a magic wand that can bring you insight with few clicks but step one is always dissecting the business challenge. First, have a clear list of metrics you want to track and analyze, and then place your query for Insights.</a:t>
            </a:r>
          </a:p>
          <a:p>
            <a:endParaRPr lang="en-IN" dirty="0"/>
          </a:p>
        </p:txBody>
      </p:sp>
    </p:spTree>
    <p:extLst>
      <p:ext uri="{BB962C8B-B14F-4D97-AF65-F5344CB8AC3E}">
        <p14:creationId xmlns:p14="http://schemas.microsoft.com/office/powerpoint/2010/main" val="17632664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Design your Business Intelligence dashboard informative and impactful</a:t>
            </a:r>
          </a:p>
          <a:p>
            <a:r>
              <a:rPr lang="en-US" dirty="0"/>
              <a:t>The BI dashboard is one of the most important aspects of your BI reporting. Data Visualization is not only for aesthetic purposes, but also to add simplicity, readability, clarity, and let the users effortlessly find the information. Opt for a dashboard design that presents detailed analysis as needed in a downward flow. Modern Data Architectures emphasize regulations and access control. Take advantage of the access information to display the relevant KPIs and Metrics at the top of each log-in.</a:t>
            </a:r>
          </a:p>
          <a:p>
            <a:endParaRPr lang="en-IN" dirty="0"/>
          </a:p>
        </p:txBody>
      </p:sp>
    </p:spTree>
    <p:extLst>
      <p:ext uri="{BB962C8B-B14F-4D97-AF65-F5344CB8AC3E}">
        <p14:creationId xmlns:p14="http://schemas.microsoft.com/office/powerpoint/2010/main" val="6537201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 skill the business users</a:t>
            </a:r>
            <a:br>
              <a:rPr lang="en-US" dirty="0"/>
            </a:br>
            <a:endParaRPr lang="en-IN" dirty="0"/>
          </a:p>
        </p:txBody>
      </p:sp>
      <p:sp>
        <p:nvSpPr>
          <p:cNvPr id="3" name="Content Placeholder 2"/>
          <p:cNvSpPr>
            <a:spLocks noGrp="1"/>
          </p:cNvSpPr>
          <p:nvPr>
            <p:ph idx="1"/>
          </p:nvPr>
        </p:nvSpPr>
        <p:spPr/>
        <p:txBody>
          <a:bodyPr/>
          <a:lstStyle/>
          <a:p>
            <a:r>
              <a:rPr lang="en-US" dirty="0" smtClean="0"/>
              <a:t>Up skill </a:t>
            </a:r>
            <a:r>
              <a:rPr lang="en-US" dirty="0"/>
              <a:t>the business users</a:t>
            </a:r>
          </a:p>
          <a:p>
            <a:r>
              <a:rPr lang="en-US" dirty="0"/>
              <a:t>The scarcity of top-notch data scientists is real. But you can turn the most inquisitive employees of your workforce into information analysts. Because they already know the business domain, understand their respective business units, and know what questions to ask. All they need is some training to handle the platforms and </a:t>
            </a:r>
            <a:r>
              <a:rPr lang="en-US" dirty="0" smtClean="0"/>
              <a:t>unmolded </a:t>
            </a:r>
            <a:r>
              <a:rPr lang="en-US" dirty="0"/>
              <a:t>data sets. This could be your first step towards self-service Business Intelligence</a:t>
            </a:r>
          </a:p>
          <a:p>
            <a:endParaRPr lang="en-IN" dirty="0"/>
          </a:p>
        </p:txBody>
      </p:sp>
    </p:spTree>
    <p:extLst>
      <p:ext uri="{BB962C8B-B14F-4D97-AF65-F5344CB8AC3E}">
        <p14:creationId xmlns:p14="http://schemas.microsoft.com/office/powerpoint/2010/main" val="31846274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Business </a:t>
            </a:r>
            <a:r>
              <a:rPr lang="en-IN" dirty="0"/>
              <a:t>Decision Making</a:t>
            </a:r>
          </a:p>
        </p:txBody>
      </p:sp>
      <p:sp>
        <p:nvSpPr>
          <p:cNvPr id="3" name="Content Placeholder 2"/>
          <p:cNvSpPr>
            <a:spLocks noGrp="1"/>
          </p:cNvSpPr>
          <p:nvPr>
            <p:ph idx="1"/>
          </p:nvPr>
        </p:nvSpPr>
        <p:spPr/>
        <p:txBody>
          <a:bodyPr/>
          <a:lstStyle/>
          <a:p>
            <a:r>
              <a:rPr lang="en-IN" dirty="0"/>
              <a:t>Business decision </a:t>
            </a:r>
            <a:r>
              <a:rPr lang="en-IN" dirty="0" smtClean="0"/>
              <a:t>making</a:t>
            </a:r>
          </a:p>
          <a:p>
            <a:r>
              <a:rPr lang="en-US" dirty="0"/>
              <a:t>The 7 steps of the decision making process </a:t>
            </a:r>
          </a:p>
          <a:p>
            <a:r>
              <a:rPr lang="en-US" dirty="0"/>
              <a:t>Identify the decision, problem, challenge, or opportunity.</a:t>
            </a:r>
          </a:p>
          <a:p>
            <a:r>
              <a:rPr lang="en-US" dirty="0"/>
              <a:t>Create a set of potential solutions or responses.</a:t>
            </a:r>
          </a:p>
          <a:p>
            <a:r>
              <a:rPr lang="en-US" dirty="0"/>
              <a:t>Gather relevant information and data.</a:t>
            </a:r>
          </a:p>
          <a:p>
            <a:r>
              <a:rPr lang="en-US" dirty="0"/>
              <a:t>Evaluate each option and weigh the evidence.</a:t>
            </a:r>
          </a:p>
          <a:p>
            <a:r>
              <a:rPr lang="en-US" dirty="0"/>
              <a:t>Choose a solution or response that best fits the situation.</a:t>
            </a:r>
          </a:p>
          <a:p>
            <a:r>
              <a:rPr lang="en-US" dirty="0"/>
              <a:t>Take action and implement the chosen solution or response.</a:t>
            </a:r>
          </a:p>
          <a:p>
            <a:r>
              <a:rPr lang="en-US" dirty="0"/>
              <a:t>Review your decision and its impact, and course correct if needed.</a:t>
            </a:r>
            <a:endParaRPr lang="en-IN" dirty="0"/>
          </a:p>
        </p:txBody>
      </p:sp>
    </p:spTree>
    <p:extLst>
      <p:ext uri="{BB962C8B-B14F-4D97-AF65-F5344CB8AC3E}">
        <p14:creationId xmlns:p14="http://schemas.microsoft.com/office/powerpoint/2010/main" val="3233897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3879" y="617837"/>
            <a:ext cx="8596668" cy="1320800"/>
          </a:xfrm>
        </p:spPr>
        <p:txBody>
          <a:bodyPr/>
          <a:lstStyle/>
          <a:p>
            <a:r>
              <a:rPr lang="en-US" dirty="0"/>
              <a:t>Examples of event-driven alerts in BI include:</a:t>
            </a:r>
            <a:endParaRPr lang="en-IN" dirty="0"/>
          </a:p>
        </p:txBody>
      </p:sp>
      <p:sp>
        <p:nvSpPr>
          <p:cNvPr id="3" name="Content Placeholder 2"/>
          <p:cNvSpPr>
            <a:spLocks noGrp="1"/>
          </p:cNvSpPr>
          <p:nvPr>
            <p:ph idx="1"/>
          </p:nvPr>
        </p:nvSpPr>
        <p:spPr/>
        <p:txBody>
          <a:bodyPr/>
          <a:lstStyle/>
          <a:p>
            <a:r>
              <a:rPr lang="en-US" dirty="0">
                <a:solidFill>
                  <a:srgbClr val="FF0000"/>
                </a:solidFill>
              </a:rPr>
              <a:t>Sales Alert</a:t>
            </a:r>
            <a:r>
              <a:rPr lang="en-US" dirty="0"/>
              <a:t>: An alert triggered when sales revenue exceeds a predefined threshold or when a specific product's sales volume declines suddenly.</a:t>
            </a:r>
          </a:p>
          <a:p>
            <a:r>
              <a:rPr lang="en-US" dirty="0">
                <a:solidFill>
                  <a:srgbClr val="FF0000"/>
                </a:solidFill>
              </a:rPr>
              <a:t>Performance Alert</a:t>
            </a:r>
            <a:r>
              <a:rPr lang="en-US" dirty="0"/>
              <a:t>: An alert generated when a key performance metric, such as website response time or customer satisfaction score, falls outside the acceptable range.</a:t>
            </a:r>
          </a:p>
          <a:p>
            <a:r>
              <a:rPr lang="en-US" dirty="0">
                <a:solidFill>
                  <a:srgbClr val="FF0000"/>
                </a:solidFill>
              </a:rPr>
              <a:t>Compliance Alert</a:t>
            </a:r>
            <a:r>
              <a:rPr lang="en-US" dirty="0"/>
              <a:t>: An alert triggered when a regulatory or compliance requirement is violated, such as exceeding a certain level of unauthorized access attempts or data breaches.</a:t>
            </a:r>
          </a:p>
          <a:p>
            <a:r>
              <a:rPr lang="en-US" dirty="0">
                <a:solidFill>
                  <a:srgbClr val="FF0000"/>
                </a:solidFill>
              </a:rPr>
              <a:t>Supply Chain Alert</a:t>
            </a:r>
            <a:r>
              <a:rPr lang="en-US" dirty="0"/>
              <a:t>: An alert generated when inventory levels drop below a certain threshold or when a delay in the supply chain disrupts production.</a:t>
            </a:r>
          </a:p>
          <a:p>
            <a:endParaRPr lang="en-IN" dirty="0"/>
          </a:p>
        </p:txBody>
      </p:sp>
    </p:spTree>
    <p:extLst>
      <p:ext uri="{BB962C8B-B14F-4D97-AF65-F5344CB8AC3E}">
        <p14:creationId xmlns:p14="http://schemas.microsoft.com/office/powerpoint/2010/main" val="37291165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styles</a:t>
            </a:r>
            <a:endParaRPr lang="en-IN" dirty="0"/>
          </a:p>
        </p:txBody>
      </p:sp>
      <p:sp>
        <p:nvSpPr>
          <p:cNvPr id="3" name="Content Placeholder 2"/>
          <p:cNvSpPr>
            <a:spLocks noGrp="1"/>
          </p:cNvSpPr>
          <p:nvPr>
            <p:ph idx="1"/>
          </p:nvPr>
        </p:nvSpPr>
        <p:spPr>
          <a:xfrm>
            <a:off x="677334" y="1589903"/>
            <a:ext cx="8596668" cy="4451460"/>
          </a:xfrm>
        </p:spPr>
        <p:txBody>
          <a:bodyPr>
            <a:normAutofit fontScale="77500" lnSpcReduction="20000"/>
          </a:bodyPr>
          <a:lstStyle/>
          <a:p>
            <a:r>
              <a:rPr lang="en-US" dirty="0"/>
              <a:t>These 5 Styles of BI are:</a:t>
            </a:r>
          </a:p>
          <a:p>
            <a:r>
              <a:rPr lang="en-US" dirty="0"/>
              <a:t>1</a:t>
            </a:r>
            <a:r>
              <a:rPr lang="en-US" dirty="0">
                <a:solidFill>
                  <a:srgbClr val="FF0000"/>
                </a:solidFill>
              </a:rPr>
              <a:t>. Enterprise Reporting </a:t>
            </a:r>
            <a:r>
              <a:rPr lang="en-US" dirty="0"/>
              <a:t>– Broadly deployed pixel-perfect report formats for operational reporting</a:t>
            </a:r>
          </a:p>
          <a:p>
            <a:r>
              <a:rPr lang="en-US" dirty="0"/>
              <a:t>and scorecards/dashboards targeted at information consumers and executives.</a:t>
            </a:r>
          </a:p>
          <a:p>
            <a:r>
              <a:rPr lang="en-US" dirty="0"/>
              <a:t>2. </a:t>
            </a:r>
            <a:r>
              <a:rPr lang="en-US" dirty="0">
                <a:solidFill>
                  <a:srgbClr val="FF0000"/>
                </a:solidFill>
              </a:rPr>
              <a:t>Cube Analysis </a:t>
            </a:r>
            <a:r>
              <a:rPr lang="en-US" dirty="0"/>
              <a:t>– OLAP slice-and-dice analysis of limited data sets, targeted at managers and </a:t>
            </a:r>
            <a:r>
              <a:rPr lang="en-US" dirty="0" err="1"/>
              <a:t>others</a:t>
            </a:r>
            <a:r>
              <a:rPr lang="en-US" dirty="0"/>
              <a:t> who need a safe and simple environment for basic data exploration within a limited range of data.</a:t>
            </a:r>
          </a:p>
          <a:p>
            <a:r>
              <a:rPr lang="en-US" dirty="0"/>
              <a:t>3. </a:t>
            </a:r>
            <a:r>
              <a:rPr lang="en-US" dirty="0">
                <a:solidFill>
                  <a:srgbClr val="FF0000"/>
                </a:solidFill>
              </a:rPr>
              <a:t>Ad Hoc Query and Analysis </a:t>
            </a:r>
            <a:r>
              <a:rPr lang="en-US" dirty="0"/>
              <a:t>– Full investigative query into all data, as well as automated </a:t>
            </a:r>
            <a:r>
              <a:rPr lang="en-US" dirty="0" err="1"/>
              <a:t>sliceand-dice</a:t>
            </a:r>
            <a:r>
              <a:rPr lang="en-US" dirty="0"/>
              <a:t> OLAP analysis of the entire database – down to the transaction level of detail if necessary.</a:t>
            </a:r>
          </a:p>
          <a:p>
            <a:r>
              <a:rPr lang="en-US" dirty="0"/>
              <a:t>Targeted at information explorers and power users. </a:t>
            </a:r>
          </a:p>
          <a:p>
            <a:r>
              <a:rPr lang="en-US" dirty="0"/>
              <a:t>4. </a:t>
            </a:r>
            <a:r>
              <a:rPr lang="en-US" dirty="0">
                <a:solidFill>
                  <a:srgbClr val="FF0000"/>
                </a:solidFill>
              </a:rPr>
              <a:t>Statistical Analysis and Data Mining </a:t>
            </a:r>
            <a:r>
              <a:rPr lang="en-US" dirty="0"/>
              <a:t>– Full mathematical, financial, and statistical treatment </a:t>
            </a:r>
          </a:p>
          <a:p>
            <a:r>
              <a:rPr lang="en-US" dirty="0"/>
              <a:t>of data for purposes of correlation analysis, trend analysis, financial analysis and projections. </a:t>
            </a:r>
          </a:p>
          <a:p>
            <a:r>
              <a:rPr lang="en-US" dirty="0"/>
              <a:t>Targeted at the professional information analysts.</a:t>
            </a:r>
          </a:p>
          <a:p>
            <a:r>
              <a:rPr lang="en-US" dirty="0"/>
              <a:t>5. </a:t>
            </a:r>
            <a:r>
              <a:rPr lang="en-US" dirty="0">
                <a:solidFill>
                  <a:srgbClr val="FF0000"/>
                </a:solidFill>
              </a:rPr>
              <a:t>Alerting and Report Delivery </a:t>
            </a:r>
            <a:r>
              <a:rPr lang="en-US" dirty="0"/>
              <a:t>– Proactive report delivery and alerting to very large populations</a:t>
            </a:r>
          </a:p>
          <a:p>
            <a:r>
              <a:rPr lang="en-US" dirty="0"/>
              <a:t>based on schedules or event triggers in the database. Targeted at very large user populations of</a:t>
            </a:r>
          </a:p>
          <a:p>
            <a:r>
              <a:rPr lang="en-US" dirty="0"/>
              <a:t>information consumers, both internal and external to the enterprise</a:t>
            </a:r>
            <a:endParaRPr lang="en-IN" dirty="0"/>
          </a:p>
        </p:txBody>
      </p:sp>
    </p:spTree>
    <p:extLst>
      <p:ext uri="{BB962C8B-B14F-4D97-AF65-F5344CB8AC3E}">
        <p14:creationId xmlns:p14="http://schemas.microsoft.com/office/powerpoint/2010/main" val="16294218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1771135" y="2607657"/>
            <a:ext cx="5972708" cy="2987299"/>
          </a:xfrm>
          <a:prstGeom prst="rect">
            <a:avLst/>
          </a:prstGeom>
        </p:spPr>
      </p:pic>
    </p:spTree>
    <p:extLst>
      <p:ext uri="{BB962C8B-B14F-4D97-AF65-F5344CB8AC3E}">
        <p14:creationId xmlns:p14="http://schemas.microsoft.com/office/powerpoint/2010/main" val="40664264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Event-driven alerts in Business Intelligence (BI)</a:t>
            </a:r>
            <a:endParaRPr lang="en-IN" dirty="0"/>
          </a:p>
        </p:txBody>
      </p:sp>
      <p:sp>
        <p:nvSpPr>
          <p:cNvPr id="3" name="Content Placeholder 2"/>
          <p:cNvSpPr>
            <a:spLocks noGrp="1"/>
          </p:cNvSpPr>
          <p:nvPr>
            <p:ph idx="1"/>
          </p:nvPr>
        </p:nvSpPr>
        <p:spPr/>
        <p:txBody>
          <a:bodyPr/>
          <a:lstStyle/>
          <a:p>
            <a:r>
              <a:rPr lang="en-US" dirty="0"/>
              <a:t>Event-driven </a:t>
            </a:r>
            <a:r>
              <a:rPr lang="en-US" dirty="0" smtClean="0"/>
              <a:t>alerts Event-Driven </a:t>
            </a:r>
            <a:r>
              <a:rPr lang="en-US" dirty="0"/>
              <a:t>Alerts  which is a warning or action that is activated when a predefined or unusual event occurs. For example, credit card companies have built extensive predictive analysis models to identify cases of possible fraud and automatically alert credit card customers for verification of transactions when unusual activity is noted (e.g. large purchase in an or foreign location when the customer does not have a history of such transactions). If a customer makes a large deposit, the bank may make an offer of a higher interest rate Certificate of Deposit (CD) or investment </a:t>
            </a:r>
            <a:r>
              <a:rPr lang="en-US" dirty="0" smtClean="0"/>
              <a:t>automatically. Such </a:t>
            </a:r>
            <a:r>
              <a:rPr lang="en-US" dirty="0"/>
              <a:t>alerts are also used in generating promotions based on completion of other  in Business Intelligence (BI)</a:t>
            </a:r>
            <a:endParaRPr lang="en-IN" dirty="0"/>
          </a:p>
        </p:txBody>
      </p:sp>
    </p:spTree>
    <p:extLst>
      <p:ext uri="{BB962C8B-B14F-4D97-AF65-F5344CB8AC3E}">
        <p14:creationId xmlns:p14="http://schemas.microsoft.com/office/powerpoint/2010/main" val="13050326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driven</a:t>
            </a:r>
            <a:endParaRPr lang="en-IN" dirty="0"/>
          </a:p>
        </p:txBody>
      </p:sp>
      <p:sp>
        <p:nvSpPr>
          <p:cNvPr id="3" name="Content Placeholder 2"/>
          <p:cNvSpPr>
            <a:spLocks noGrp="1"/>
          </p:cNvSpPr>
          <p:nvPr>
            <p:ph idx="1"/>
          </p:nvPr>
        </p:nvSpPr>
        <p:spPr/>
        <p:txBody>
          <a:bodyPr/>
          <a:lstStyle/>
          <a:p>
            <a:r>
              <a:rPr lang="en-US" dirty="0"/>
              <a:t> Event-driven alerts in Business Intelligence (BI) refer to notifications or triggers that are generated based on specific events or conditions detected in the data. These alerts are designed to inform users or stakeholders about significant changes, anomalies, or predefined thresholds being met or exceeded.</a:t>
            </a:r>
            <a:endParaRPr lang="en-IN" dirty="0"/>
          </a:p>
        </p:txBody>
      </p:sp>
    </p:spTree>
    <p:extLst>
      <p:ext uri="{BB962C8B-B14F-4D97-AF65-F5344CB8AC3E}">
        <p14:creationId xmlns:p14="http://schemas.microsoft.com/office/powerpoint/2010/main" val="27204773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Events and Triggers</a:t>
            </a:r>
            <a:endParaRPr lang="en-IN" dirty="0"/>
          </a:p>
        </p:txBody>
      </p:sp>
      <p:sp>
        <p:nvSpPr>
          <p:cNvPr id="3" name="Content Placeholder 2"/>
          <p:cNvSpPr>
            <a:spLocks noGrp="1"/>
          </p:cNvSpPr>
          <p:nvPr>
            <p:ph idx="1"/>
          </p:nvPr>
        </p:nvSpPr>
        <p:spPr/>
        <p:txBody>
          <a:bodyPr/>
          <a:lstStyle/>
          <a:p>
            <a:r>
              <a:rPr lang="en-US" dirty="0"/>
              <a:t>Definition of Events and Triggers: Organizations identify the events or conditions that are relevant to their business operations and performance. These events can be predefined thresholds, deviations from expected values, changes in patterns, or specific data conditions. Triggers are set to detect when these events occur or conditions are met.</a:t>
            </a:r>
            <a:endParaRPr lang="en-IN" dirty="0"/>
          </a:p>
        </p:txBody>
      </p:sp>
    </p:spTree>
    <p:extLst>
      <p:ext uri="{BB962C8B-B14F-4D97-AF65-F5344CB8AC3E}">
        <p14:creationId xmlns:p14="http://schemas.microsoft.com/office/powerpoint/2010/main" val="25283774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cyclic process of Intelligence Creation</a:t>
            </a:r>
            <a:br>
              <a:rPr lang="en-US" dirty="0"/>
            </a:br>
            <a:endParaRPr lang="en-IN" dirty="0"/>
          </a:p>
        </p:txBody>
      </p:sp>
      <p:sp>
        <p:nvSpPr>
          <p:cNvPr id="3" name="Content Placeholder 2"/>
          <p:cNvSpPr>
            <a:spLocks noGrp="1"/>
          </p:cNvSpPr>
          <p:nvPr>
            <p:ph idx="1"/>
          </p:nvPr>
        </p:nvSpPr>
        <p:spPr/>
        <p:txBody>
          <a:bodyPr/>
          <a:lstStyle/>
          <a:p>
            <a:r>
              <a:rPr lang="en-US" dirty="0" smtClean="0"/>
              <a:t>In </a:t>
            </a:r>
            <a:r>
              <a:rPr lang="en-US" dirty="0"/>
              <a:t>business intelligence (BI), the process of intelligence creation is often a cyclic or iterative process. It involves several key steps that are repeated to continuously generate intelligence and improve decision-making. Here's an overview of the cyclic process of intelligence creation in BI:</a:t>
            </a:r>
          </a:p>
          <a:p>
            <a:endParaRPr lang="en-IN" dirty="0"/>
          </a:p>
        </p:txBody>
      </p:sp>
      <p:pic>
        <p:nvPicPr>
          <p:cNvPr id="4" name="Picture 3"/>
          <p:cNvPicPr>
            <a:picLocks noChangeAspect="1"/>
          </p:cNvPicPr>
          <p:nvPr/>
        </p:nvPicPr>
        <p:blipFill>
          <a:blip r:embed="rId2"/>
          <a:stretch>
            <a:fillRect/>
          </a:stretch>
        </p:blipFill>
        <p:spPr>
          <a:xfrm>
            <a:off x="2123363" y="3689483"/>
            <a:ext cx="4304149" cy="1835055"/>
          </a:xfrm>
          <a:prstGeom prst="rect">
            <a:avLst/>
          </a:prstGeom>
        </p:spPr>
      </p:pic>
    </p:spTree>
    <p:extLst>
      <p:ext uri="{BB962C8B-B14F-4D97-AF65-F5344CB8AC3E}">
        <p14:creationId xmlns:p14="http://schemas.microsoft.com/office/powerpoint/2010/main" val="26461357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3008244" y="2160588"/>
            <a:ext cx="3935550" cy="3881437"/>
          </a:xfrm>
          <a:prstGeom prst="rect">
            <a:avLst/>
          </a:prstGeom>
        </p:spPr>
      </p:pic>
    </p:spTree>
    <p:extLst>
      <p:ext uri="{BB962C8B-B14F-4D97-AF65-F5344CB8AC3E}">
        <p14:creationId xmlns:p14="http://schemas.microsoft.com/office/powerpoint/2010/main" val="38265326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Planning and Requirements</a:t>
            </a:r>
          </a:p>
        </p:txBody>
      </p:sp>
    </p:spTree>
    <p:extLst>
      <p:ext uri="{BB962C8B-B14F-4D97-AF65-F5344CB8AC3E}">
        <p14:creationId xmlns:p14="http://schemas.microsoft.com/office/powerpoint/2010/main" val="80613056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171</TotalTime>
  <Words>2169</Words>
  <Application>Microsoft Office PowerPoint</Application>
  <PresentationFormat>Widescreen</PresentationFormat>
  <Paragraphs>126</Paragraphs>
  <Slides>43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Trebuchet MS</vt:lpstr>
      <vt:lpstr>Wingdings 3</vt:lpstr>
      <vt:lpstr>Facet</vt:lpstr>
      <vt:lpstr>Unit-3</vt:lpstr>
      <vt:lpstr>Key Drivers of Business Intelligence</vt:lpstr>
      <vt:lpstr>PowerPoint Presentation</vt:lpstr>
      <vt:lpstr>Key Performance Indicators and Performance Metrics</vt:lpstr>
      <vt:lpstr>KPI </vt:lpstr>
      <vt:lpstr>KPI AND METRICS</vt:lpstr>
      <vt:lpstr>KPI AND METRICS</vt:lpstr>
      <vt:lpstr>Power BI – Explain Key Performance Indicators (KPIs) dashboards</vt:lpstr>
      <vt:lpstr>Creating Key Performance Indicators (KPI) Visualization</vt:lpstr>
      <vt:lpstr>Step 1: Under the Home, Tab Click on Get data.  </vt:lpstr>
      <vt:lpstr>Step 2: Click on Excel Workbook.</vt:lpstr>
      <vt:lpstr>Step 3: Import the data from your machine and select the check boxes shown below.  </vt:lpstr>
      <vt:lpstr>Step 4: Under the visualization Tab. Select Build Visuals.  </vt:lpstr>
      <vt:lpstr>Step 5: Now select the KPI icon as shown below.</vt:lpstr>
      <vt:lpstr>PowerPoint Presentation</vt:lpstr>
      <vt:lpstr>PowerPoint Presentation</vt:lpstr>
      <vt:lpstr>PowerPoint Presentation</vt:lpstr>
      <vt:lpstr>Step 6: Drag and Drop the fields in the respective row as shown below.</vt:lpstr>
      <vt:lpstr>Step 7: Now the Dashboard of Power BI looks like this.</vt:lpstr>
      <vt:lpstr>KPI Advantages </vt:lpstr>
      <vt:lpstr>PowerPoint Presentation</vt:lpstr>
      <vt:lpstr>BI Architecture/Framework</vt:lpstr>
      <vt:lpstr>PowerPoint Presentation</vt:lpstr>
      <vt:lpstr>Business Intelligence Best Practice</vt:lpstr>
      <vt:lpstr>BEST PRACTICES</vt:lpstr>
      <vt:lpstr>BI BEST PRACTICES</vt:lpstr>
      <vt:lpstr>Business Intelligence Best Practices </vt:lpstr>
      <vt:lpstr>PowerPoint Presentation</vt:lpstr>
      <vt:lpstr>BI</vt:lpstr>
      <vt:lpstr>PowerPoint Presentation</vt:lpstr>
      <vt:lpstr>PowerPoint Presentation</vt:lpstr>
      <vt:lpstr>PowerPoint Presentation</vt:lpstr>
      <vt:lpstr>Up skill the business users </vt:lpstr>
      <vt:lpstr>Business Decision Making</vt:lpstr>
      <vt:lpstr>Examples of event-driven alerts in BI include:</vt:lpstr>
      <vt:lpstr>styles</vt:lpstr>
      <vt:lpstr>PowerPoint Presentation</vt:lpstr>
      <vt:lpstr>Event-driven alerts in Business Intelligence (BI)</vt:lpstr>
      <vt:lpstr>Event driven</vt:lpstr>
      <vt:lpstr>Definition of Events and Triggers</vt:lpstr>
      <vt:lpstr>A cyclic process of Intelligence Creation </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dc:creator>
  <cp:lastModifiedBy>STUDENT</cp:lastModifiedBy>
  <cp:revision>43</cp:revision>
  <dcterms:created xsi:type="dcterms:W3CDTF">2024-02-28T04:16:08Z</dcterms:created>
  <dcterms:modified xsi:type="dcterms:W3CDTF">2024-04-16T04:30:14Z</dcterms:modified>
</cp:coreProperties>
</file>